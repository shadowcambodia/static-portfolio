
<file path=[Content_Types].xml><?xml version="1.0" encoding="utf-8"?>
<Types xmlns="http://schemas.openxmlformats.org/package/2006/content-types">
  <Default Extension="png" ContentType="image/png"/>
  <Default Extension="emf" ContentType="image/x-emf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customXml/itemProps4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docMetadata/LabelInfo.xml" ContentType="application/vnd.ms-office.classificationlabels+xml"/>
  <Override PartName="/ppt/authors.xml" ContentType="application/vnd.ms-powerpoint.author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6" Type="http://schemas.microsoft.com/office/2020/02/relationships/classificationlabels" Target="docMetadata/LabelInfo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75" r:id="rId5"/>
  </p:sldMasterIdLst>
  <p:notesMasterIdLst>
    <p:notesMasterId r:id="rId46"/>
  </p:notesMasterIdLst>
  <p:sldIdLst>
    <p:sldId id="256" r:id="rId6"/>
    <p:sldId id="486" r:id="rId7"/>
    <p:sldId id="4160" r:id="rId8"/>
    <p:sldId id="4136" r:id="rId9"/>
    <p:sldId id="4117" r:id="rId10"/>
    <p:sldId id="4118" r:id="rId11"/>
    <p:sldId id="4145" r:id="rId12"/>
    <p:sldId id="4144" r:id="rId13"/>
    <p:sldId id="4159" r:id="rId14"/>
    <p:sldId id="4161" r:id="rId15"/>
    <p:sldId id="4119" r:id="rId16"/>
    <p:sldId id="4146" r:id="rId17"/>
    <p:sldId id="4148" r:id="rId18"/>
    <p:sldId id="4150" r:id="rId19"/>
    <p:sldId id="4128" r:id="rId20"/>
    <p:sldId id="4134" r:id="rId21"/>
    <p:sldId id="4129" r:id="rId22"/>
    <p:sldId id="4130" r:id="rId23"/>
    <p:sldId id="4135" r:id="rId24"/>
    <p:sldId id="4131" r:id="rId25"/>
    <p:sldId id="4132" r:id="rId26"/>
    <p:sldId id="4156" r:id="rId27"/>
    <p:sldId id="4157" r:id="rId28"/>
    <p:sldId id="4158" r:id="rId29"/>
    <p:sldId id="4133" r:id="rId30"/>
    <p:sldId id="4138" r:id="rId31"/>
    <p:sldId id="4137" r:id="rId32"/>
    <p:sldId id="4142" r:id="rId33"/>
    <p:sldId id="4140" r:id="rId34"/>
    <p:sldId id="4139" r:id="rId35"/>
    <p:sldId id="4141" r:id="rId36"/>
    <p:sldId id="4143" r:id="rId37"/>
    <p:sldId id="4151" r:id="rId38"/>
    <p:sldId id="4152" r:id="rId39"/>
    <p:sldId id="4153" r:id="rId40"/>
    <p:sldId id="4154" r:id="rId41"/>
    <p:sldId id="4155" r:id="rId42"/>
    <p:sldId id="4147" r:id="rId43"/>
    <p:sldId id="4149" r:id="rId44"/>
    <p:sldId id="2696" r:id="rId45"/>
  </p:sldIdLst>
  <p:sldSz cx="12192000" cy="6858000"/>
  <p:notesSz cx="6858000" cy="9144000"/>
  <p:defaultTextStyle>
    <a:defPPr>
      <a:defRPr lang="en-A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authors.xml><?xml version="1.0" encoding="utf-8"?>
<p188:authorLst xmlns:a="http://schemas.openxmlformats.org/drawingml/2006/main" xmlns:r="http://schemas.openxmlformats.org/officeDocument/2006/relationships" xmlns:p188="http://schemas.microsoft.com/office/powerpoint/2018/8/main">
  <p188:author id="{B5438311-07E3-3E9F-7C53-C1E75CE4AE9B}" name="Kimnavy Thach" initials="KT" userId="S::kimnavy.thach@wingbank.com.kh::de598be6-4919-415c-90f1-2ae6456810ed" providerId="AD"/>
  <p188:author id="{C7C618E9-D14F-46A3-744F-756478B6F874}" name="Bunhak Neak" initials="BN" userId="S::bunhak.neak@wingmoney.com::db27cb99-0386-40a6-ba57-bd92d3387930" providerId="AD"/>
</p188: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77FF"/>
    <a:srgbClr val="0099DB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BF895737-4F59-23DD-4918-C10958F2FDA5}" v="1" dt="2025-07-29T02:12:00.893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93296810-A885-4BE3-A3E7-6D5BEEA58F35}" styleName="Medium Style 2 - Accent 6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6">
              <a:tint val="20000"/>
            </a:schemeClr>
          </a:solidFill>
        </a:fill>
      </a:tcStyle>
    </a:wholeTbl>
    <a:band1H>
      <a:tcStyle>
        <a:tcBdr/>
        <a:fill>
          <a:solidFill>
            <a:schemeClr val="accent6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6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6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6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108" d="100"/>
          <a:sy n="108" d="100"/>
        </p:scale>
        <p:origin x="678" y="10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8.xml"/><Relationship Id="rId18" Type="http://schemas.openxmlformats.org/officeDocument/2006/relationships/slide" Target="slides/slide13.xml"/><Relationship Id="rId26" Type="http://schemas.openxmlformats.org/officeDocument/2006/relationships/slide" Target="slides/slide21.xml"/><Relationship Id="rId39" Type="http://schemas.openxmlformats.org/officeDocument/2006/relationships/slide" Target="slides/slide34.xml"/><Relationship Id="rId21" Type="http://schemas.openxmlformats.org/officeDocument/2006/relationships/slide" Target="slides/slide16.xml"/><Relationship Id="rId34" Type="http://schemas.openxmlformats.org/officeDocument/2006/relationships/slide" Target="slides/slide29.xml"/><Relationship Id="rId42" Type="http://schemas.openxmlformats.org/officeDocument/2006/relationships/slide" Target="slides/slide37.xml"/><Relationship Id="rId47" Type="http://schemas.openxmlformats.org/officeDocument/2006/relationships/presProps" Target="presProps.xml"/><Relationship Id="rId50" Type="http://schemas.openxmlformats.org/officeDocument/2006/relationships/tableStyles" Target="tableStyles.xml"/><Relationship Id="rId112" Type="http://schemas.microsoft.com/office/2018/10/relationships/authors" Target="authors.xml"/><Relationship Id="rId7" Type="http://schemas.openxmlformats.org/officeDocument/2006/relationships/slide" Target="slides/slide2.xml"/><Relationship Id="rId2" Type="http://schemas.openxmlformats.org/officeDocument/2006/relationships/customXml" Target="../customXml/item2.xml"/><Relationship Id="rId16" Type="http://schemas.openxmlformats.org/officeDocument/2006/relationships/slide" Target="slides/slide11.xml"/><Relationship Id="rId29" Type="http://schemas.openxmlformats.org/officeDocument/2006/relationships/slide" Target="slides/slide24.xml"/><Relationship Id="rId11" Type="http://schemas.openxmlformats.org/officeDocument/2006/relationships/slide" Target="slides/slide6.xml"/><Relationship Id="rId24" Type="http://schemas.openxmlformats.org/officeDocument/2006/relationships/slide" Target="slides/slide19.xml"/><Relationship Id="rId32" Type="http://schemas.openxmlformats.org/officeDocument/2006/relationships/slide" Target="slides/slide27.xml"/><Relationship Id="rId37" Type="http://schemas.openxmlformats.org/officeDocument/2006/relationships/slide" Target="slides/slide32.xml"/><Relationship Id="rId40" Type="http://schemas.openxmlformats.org/officeDocument/2006/relationships/slide" Target="slides/slide35.xml"/><Relationship Id="rId45" Type="http://schemas.openxmlformats.org/officeDocument/2006/relationships/slide" Target="slides/slide40.xml"/><Relationship Id="rId5" Type="http://schemas.openxmlformats.org/officeDocument/2006/relationships/slideMaster" Target="slideMasters/slideMaster1.xml"/><Relationship Id="rId10" Type="http://schemas.openxmlformats.org/officeDocument/2006/relationships/slide" Target="slides/slide5.xml"/><Relationship Id="rId19" Type="http://schemas.openxmlformats.org/officeDocument/2006/relationships/slide" Target="slides/slide14.xml"/><Relationship Id="rId31" Type="http://schemas.openxmlformats.org/officeDocument/2006/relationships/slide" Target="slides/slide26.xml"/><Relationship Id="rId44" Type="http://schemas.openxmlformats.org/officeDocument/2006/relationships/slide" Target="slides/slide39.xml"/><Relationship Id="rId52" Type="http://schemas.microsoft.com/office/2015/10/relationships/revisionInfo" Target="revisionInfo.xml"/><Relationship Id="rId4" Type="http://schemas.openxmlformats.org/officeDocument/2006/relationships/customXml" Target="../customXml/item4.xml"/><Relationship Id="rId9" Type="http://schemas.openxmlformats.org/officeDocument/2006/relationships/slide" Target="slides/slide4.xml"/><Relationship Id="rId14" Type="http://schemas.openxmlformats.org/officeDocument/2006/relationships/slide" Target="slides/slide9.xml"/><Relationship Id="rId22" Type="http://schemas.openxmlformats.org/officeDocument/2006/relationships/slide" Target="slides/slide17.xml"/><Relationship Id="rId27" Type="http://schemas.openxmlformats.org/officeDocument/2006/relationships/slide" Target="slides/slide22.xml"/><Relationship Id="rId30" Type="http://schemas.openxmlformats.org/officeDocument/2006/relationships/slide" Target="slides/slide25.xml"/><Relationship Id="rId35" Type="http://schemas.openxmlformats.org/officeDocument/2006/relationships/slide" Target="slides/slide30.xml"/><Relationship Id="rId43" Type="http://schemas.openxmlformats.org/officeDocument/2006/relationships/slide" Target="slides/slide38.xml"/><Relationship Id="rId48" Type="http://schemas.openxmlformats.org/officeDocument/2006/relationships/viewProps" Target="viewProps.xml"/><Relationship Id="rId8" Type="http://schemas.openxmlformats.org/officeDocument/2006/relationships/slide" Target="slides/slide3.xml"/><Relationship Id="rId51" Type="http://schemas.microsoft.com/office/2016/11/relationships/changesInfo" Target="changesInfos/changesInfo1.xml"/><Relationship Id="rId3" Type="http://schemas.openxmlformats.org/officeDocument/2006/relationships/customXml" Target="../customXml/item3.xml"/><Relationship Id="rId12" Type="http://schemas.openxmlformats.org/officeDocument/2006/relationships/slide" Target="slides/slide7.xml"/><Relationship Id="rId17" Type="http://schemas.openxmlformats.org/officeDocument/2006/relationships/slide" Target="slides/slide12.xml"/><Relationship Id="rId25" Type="http://schemas.openxmlformats.org/officeDocument/2006/relationships/slide" Target="slides/slide20.xml"/><Relationship Id="rId33" Type="http://schemas.openxmlformats.org/officeDocument/2006/relationships/slide" Target="slides/slide28.xml"/><Relationship Id="rId38" Type="http://schemas.openxmlformats.org/officeDocument/2006/relationships/slide" Target="slides/slide33.xml"/><Relationship Id="rId46" Type="http://schemas.openxmlformats.org/officeDocument/2006/relationships/notesMaster" Target="notesMasters/notesMaster1.xml"/><Relationship Id="rId20" Type="http://schemas.openxmlformats.org/officeDocument/2006/relationships/slide" Target="slides/slide15.xml"/><Relationship Id="rId41" Type="http://schemas.openxmlformats.org/officeDocument/2006/relationships/slide" Target="slides/slide36.xml"/><Relationship Id="rId1" Type="http://schemas.openxmlformats.org/officeDocument/2006/relationships/customXml" Target="../customXml/item1.xml"/><Relationship Id="rId6" Type="http://schemas.openxmlformats.org/officeDocument/2006/relationships/slide" Target="slides/slide1.xml"/><Relationship Id="rId15" Type="http://schemas.openxmlformats.org/officeDocument/2006/relationships/slide" Target="slides/slide10.xml"/><Relationship Id="rId23" Type="http://schemas.openxmlformats.org/officeDocument/2006/relationships/slide" Target="slides/slide18.xml"/><Relationship Id="rId28" Type="http://schemas.openxmlformats.org/officeDocument/2006/relationships/slide" Target="slides/slide23.xml"/><Relationship Id="rId36" Type="http://schemas.openxmlformats.org/officeDocument/2006/relationships/slide" Target="slides/slide31.xml"/><Relationship Id="rId49" Type="http://schemas.openxmlformats.org/officeDocument/2006/relationships/theme" Target="theme/theme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Sopheaktra Eang" userId="S::sopheaktra.eang@wingbank.com.kh::52585afd-fb39-47c0-838e-58775c99dc39" providerId="AD" clId="Web-{BF895737-4F59-23DD-4918-C10958F2FDA5}"/>
    <pc:docChg chg="modSld">
      <pc:chgData name="Sopheaktra Eang" userId="S::sopheaktra.eang@wingbank.com.kh::52585afd-fb39-47c0-838e-58775c99dc39" providerId="AD" clId="Web-{BF895737-4F59-23DD-4918-C10958F2FDA5}" dt="2025-07-29T02:12:00.893" v="0" actId="1076"/>
      <pc:docMkLst>
        <pc:docMk/>
      </pc:docMkLst>
      <pc:sldChg chg="modSp">
        <pc:chgData name="Sopheaktra Eang" userId="S::sopheaktra.eang@wingbank.com.kh::52585afd-fb39-47c0-838e-58775c99dc39" providerId="AD" clId="Web-{BF895737-4F59-23DD-4918-C10958F2FDA5}" dt="2025-07-29T02:12:00.893" v="0" actId="1076"/>
        <pc:sldMkLst>
          <pc:docMk/>
          <pc:sldMk cId="1195360257" sldId="306"/>
        </pc:sldMkLst>
        <pc:picChg chg="mod">
          <ac:chgData name="Sopheaktra Eang" userId="S::sopheaktra.eang@wingbank.com.kh::52585afd-fb39-47c0-838e-58775c99dc39" providerId="AD" clId="Web-{BF895737-4F59-23DD-4918-C10958F2FDA5}" dt="2025-07-29T02:12:00.893" v="0" actId="1076"/>
          <ac:picMkLst>
            <pc:docMk/>
            <pc:sldMk cId="1195360257" sldId="306"/>
            <ac:picMk id="5" creationId="{00000000-0000-0000-0000-000000000000}"/>
          </ac:picMkLst>
        </pc:pic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9E7EAB4A-52EC-4FA3-8EA6-CA09A2C966B3}" type="datetimeFigureOut">
              <a:rPr lang="en-US" smtClean="0"/>
              <a:t>8/29/2025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A6B6953-33D4-468F-A58D-3A1B6B1618E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8194149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A6B6953-33D4-468F-A58D-3A1B6B1618EC}" type="slidenum">
              <a:rPr lang="en-US" smtClean="0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83923725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A6B6953-33D4-468F-A58D-3A1B6B1618EC}" type="slidenum">
              <a:rPr lang="en-US" smtClean="0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60359116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emf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emf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emf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emf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Topic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15A8192C-D1EB-E0F7-C4E6-B89CF2B86804}"/>
              </a:ext>
            </a:extLst>
          </p:cNvPr>
          <p:cNvSpPr/>
          <p:nvPr userDrawn="1"/>
        </p:nvSpPr>
        <p:spPr>
          <a:xfrm>
            <a:off x="0" y="1786"/>
            <a:ext cx="12192000" cy="6856214"/>
          </a:xfrm>
          <a:prstGeom prst="rect">
            <a:avLst/>
          </a:prstGeom>
          <a:solidFill>
            <a:srgbClr val="A4C637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900"/>
          </a:p>
        </p:txBody>
      </p:sp>
      <p:pic>
        <p:nvPicPr>
          <p:cNvPr id="2" name="Picture 1" descr="A white birds flying in the air&#10;&#10;Description automatically generated">
            <a:extLst>
              <a:ext uri="{FF2B5EF4-FFF2-40B4-BE49-F238E27FC236}">
                <a16:creationId xmlns:a16="http://schemas.microsoft.com/office/drawing/2014/main" id="{2C2F123A-765A-D23D-0451-6B9EBD888532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alphaModFix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893"/>
            <a:ext cx="12192000" cy="6856214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D48B34A1-BC9F-2A33-F984-221C33D3FDB4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905451" y="647700"/>
            <a:ext cx="4856898" cy="1409700"/>
          </a:xfrm>
          <a:prstGeom prst="rect">
            <a:avLst/>
          </a:prstGeom>
        </p:spPr>
      </p:pic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A1675074-415D-651C-B826-6EB4BF8EE4D8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B4263C4-8ED8-C60A-1FCA-D6C313699718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29654299"/>
      </p:ext>
    </p:extLst>
  </p:cSld>
  <p:clrMapOvr>
    <a:masterClrMapping/>
  </p:clrMapOvr>
  <p:transition spd="slow">
    <p:push/>
  </p:transition>
  <p:extLst>
    <p:ext uri="{DCECCB84-F9BA-43D5-87BE-67443E8EF086}">
      <p15:sldGuideLst xmlns:p15="http://schemas.microsoft.com/office/powerpoint/2012/main">
        <p15:guide id="1" orient="horz" pos="4320">
          <p15:clr>
            <a:srgbClr val="FBAE40"/>
          </p15:clr>
        </p15:guide>
        <p15:guide id="2" pos="7678">
          <p15:clr>
            <a:srgbClr val="FBAE40"/>
          </p15:clr>
        </p15:guide>
      </p15:sldGuideLst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Image Righ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D21B5754-C98F-2850-504C-7DC557042B62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7142030" y="0"/>
            <a:ext cx="5028922" cy="6858000"/>
          </a:xfrm>
          <a:prstGeom prst="rect">
            <a:avLst/>
          </a:prstGeom>
        </p:spPr>
        <p:txBody>
          <a:bodyPr/>
          <a:lstStyle/>
          <a:p>
            <a:endParaRPr lang="ru-RU"/>
          </a:p>
        </p:txBody>
      </p:sp>
      <p:pic>
        <p:nvPicPr>
          <p:cNvPr id="6" name="Picture 5" descr="A white birds flying in the air&#10;&#10;Description automatically generated">
            <a:extLst>
              <a:ext uri="{FF2B5EF4-FFF2-40B4-BE49-F238E27FC236}">
                <a16:creationId xmlns:a16="http://schemas.microsoft.com/office/drawing/2014/main" id="{7DAB3374-A2DC-E046-9F25-D64DB2A14115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alphaModFix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25026"/>
          <a:stretch/>
        </p:blipFill>
        <p:spPr>
          <a:xfrm>
            <a:off x="0" y="1485900"/>
            <a:ext cx="7159801" cy="5370314"/>
          </a:xfrm>
          <a:prstGeom prst="rect">
            <a:avLst/>
          </a:prstGeom>
        </p:spPr>
      </p:pic>
      <p:sp>
        <p:nvSpPr>
          <p:cNvPr id="7" name="Slide Number Placeholder 5">
            <a:extLst>
              <a:ext uri="{FF2B5EF4-FFF2-40B4-BE49-F238E27FC236}">
                <a16:creationId xmlns:a16="http://schemas.microsoft.com/office/drawing/2014/main" id="{CC633C9E-E1D6-95B3-B9E5-CAA026D5BE95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>
          <a:xfrm>
            <a:off x="7964102" y="89780"/>
            <a:ext cx="2743200" cy="365125"/>
          </a:xfrm>
        </p:spPr>
        <p:txBody>
          <a:bodyPr/>
          <a:lstStyle/>
          <a:p>
            <a:fld id="{48F63A3B-78C7-47BE-AE5E-E10140E04643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27299254"/>
      </p:ext>
    </p:extLst>
  </p:cSld>
  <p:clrMapOvr>
    <a:masterClrMapping/>
  </p:clrMapOvr>
  <p:transition spd="slow">
    <p:push/>
  </p:transition>
  <p:extLst>
    <p:ext uri="{DCECCB84-F9BA-43D5-87BE-67443E8EF086}">
      <p15:sldGuideLst xmlns:p15="http://schemas.microsoft.com/office/powerpoint/2012/main">
        <p15:guide id="1" orient="horz" pos="4320">
          <p15:clr>
            <a:srgbClr val="FBAE40"/>
          </p15:clr>
        </p15:guide>
        <p15:guide id="2" pos="7678">
          <p15:clr>
            <a:srgbClr val="FBAE40"/>
          </p15:clr>
        </p15:guide>
      </p15:sldGuideLst>
    </p:ext>
  </p:extLs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3 Horizontal Image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A white birds flying in the air&#10;&#10;Description automatically generated">
            <a:extLst>
              <a:ext uri="{FF2B5EF4-FFF2-40B4-BE49-F238E27FC236}">
                <a16:creationId xmlns:a16="http://schemas.microsoft.com/office/drawing/2014/main" id="{62B9A04F-F80E-52C5-DAA6-1FFDEBBEF811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alphaModFix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25026"/>
          <a:stretch/>
        </p:blipFill>
        <p:spPr>
          <a:xfrm>
            <a:off x="0" y="1485900"/>
            <a:ext cx="7159801" cy="5370314"/>
          </a:xfrm>
          <a:prstGeom prst="rect">
            <a:avLst/>
          </a:prstGeom>
        </p:spPr>
      </p:pic>
      <p:sp>
        <p:nvSpPr>
          <p:cNvPr id="6" name="Picture Placeholder 5">
            <a:extLst>
              <a:ext uri="{FF2B5EF4-FFF2-40B4-BE49-F238E27FC236}">
                <a16:creationId xmlns:a16="http://schemas.microsoft.com/office/drawing/2014/main" id="{EE32186E-6B88-45A4-87C0-E3FA12D5FE31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1282241" y="2260600"/>
            <a:ext cx="2312796" cy="2311400"/>
          </a:xfrm>
          <a:prstGeom prst="ellipse">
            <a:avLst/>
          </a:prstGeom>
        </p:spPr>
        <p:txBody>
          <a:bodyPr/>
          <a:lstStyle/>
          <a:p>
            <a:endParaRPr lang="ru-RU"/>
          </a:p>
        </p:txBody>
      </p:sp>
      <p:sp>
        <p:nvSpPr>
          <p:cNvPr id="7" name="Picture Placeholder 5">
            <a:extLst>
              <a:ext uri="{FF2B5EF4-FFF2-40B4-BE49-F238E27FC236}">
                <a16:creationId xmlns:a16="http://schemas.microsoft.com/office/drawing/2014/main" id="{B19C562A-02EA-4C12-90FC-34F7973F07A1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>
            <a:off x="4710322" y="2260600"/>
            <a:ext cx="2312796" cy="2311400"/>
          </a:xfrm>
          <a:prstGeom prst="ellipse">
            <a:avLst/>
          </a:prstGeom>
        </p:spPr>
        <p:txBody>
          <a:bodyPr/>
          <a:lstStyle/>
          <a:p>
            <a:endParaRPr lang="ru-RU"/>
          </a:p>
        </p:txBody>
      </p:sp>
      <p:sp>
        <p:nvSpPr>
          <p:cNvPr id="8" name="Picture Placeholder 5">
            <a:extLst>
              <a:ext uri="{FF2B5EF4-FFF2-40B4-BE49-F238E27FC236}">
                <a16:creationId xmlns:a16="http://schemas.microsoft.com/office/drawing/2014/main" id="{8C6B754A-A35F-4735-8BD6-9013CE31AFC6}"/>
              </a:ext>
            </a:extLst>
          </p:cNvPr>
          <p:cNvSpPr>
            <a:spLocks noGrp="1"/>
          </p:cNvSpPr>
          <p:nvPr>
            <p:ph type="pic" sz="quarter" idx="12"/>
          </p:nvPr>
        </p:nvSpPr>
        <p:spPr>
          <a:xfrm>
            <a:off x="8147368" y="2260600"/>
            <a:ext cx="2312796" cy="2311400"/>
          </a:xfrm>
          <a:prstGeom prst="ellipse">
            <a:avLst/>
          </a:prstGeom>
        </p:spPr>
        <p:txBody>
          <a:bodyPr/>
          <a:lstStyle/>
          <a:p>
            <a:endParaRPr lang="ru-RU"/>
          </a:p>
        </p:txBody>
      </p:sp>
      <p:sp>
        <p:nvSpPr>
          <p:cNvPr id="9" name="Slide Number Placeholder 5">
            <a:extLst>
              <a:ext uri="{FF2B5EF4-FFF2-40B4-BE49-F238E27FC236}">
                <a16:creationId xmlns:a16="http://schemas.microsoft.com/office/drawing/2014/main" id="{83CFF3C2-310A-E802-4A02-B8D4C893B448}"/>
              </a:ext>
            </a:extLst>
          </p:cNvPr>
          <p:cNvSpPr>
            <a:spLocks noGrp="1"/>
          </p:cNvSpPr>
          <p:nvPr>
            <p:ph type="sldNum" sz="quarter" idx="13"/>
          </p:nvPr>
        </p:nvSpPr>
        <p:spPr>
          <a:xfrm>
            <a:off x="7964102" y="89780"/>
            <a:ext cx="2743200" cy="365125"/>
          </a:xfrm>
        </p:spPr>
        <p:txBody>
          <a:bodyPr/>
          <a:lstStyle/>
          <a:p>
            <a:fld id="{48F63A3B-78C7-47BE-AE5E-E10140E04643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15830760"/>
      </p:ext>
    </p:extLst>
  </p:cSld>
  <p:clrMapOvr>
    <a:masterClrMapping/>
  </p:clrMapOvr>
  <p:transition spd="slow">
    <p:push/>
  </p:transition>
  <p:extLst>
    <p:ext uri="{DCECCB84-F9BA-43D5-87BE-67443E8EF086}">
      <p15:sldGuideLst xmlns:p15="http://schemas.microsoft.com/office/powerpoint/2012/main">
        <p15:guide id="1" orient="horz" pos="4320">
          <p15:clr>
            <a:srgbClr val="FBAE40"/>
          </p15:clr>
        </p15:guide>
        <p15:guide id="2" pos="7678">
          <p15:clr>
            <a:srgbClr val="FBAE40"/>
          </p15:clr>
        </p15:guide>
      </p15:sldGuideLst>
    </p:ext>
  </p:extLs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Image Intersec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A white birds flying in the air&#10;&#10;Description automatically generated">
            <a:extLst>
              <a:ext uri="{FF2B5EF4-FFF2-40B4-BE49-F238E27FC236}">
                <a16:creationId xmlns:a16="http://schemas.microsoft.com/office/drawing/2014/main" id="{F373AE3B-DB7D-1D11-94A8-B15693CCAF20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alphaModFix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25026"/>
          <a:stretch/>
        </p:blipFill>
        <p:spPr>
          <a:xfrm>
            <a:off x="0" y="1485900"/>
            <a:ext cx="7159801" cy="5370314"/>
          </a:xfrm>
          <a:prstGeom prst="rect">
            <a:avLst/>
          </a:prstGeom>
        </p:spPr>
      </p:pic>
      <p:sp>
        <p:nvSpPr>
          <p:cNvPr id="5" name="Picture Placeholder 4">
            <a:extLst>
              <a:ext uri="{FF2B5EF4-FFF2-40B4-BE49-F238E27FC236}">
                <a16:creationId xmlns:a16="http://schemas.microsoft.com/office/drawing/2014/main" id="{B375E27E-5FAD-47EC-B129-568E23452572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0" y="0"/>
            <a:ext cx="6096000" cy="3425313"/>
          </a:xfrm>
          <a:prstGeom prst="rect">
            <a:avLst/>
          </a:prstGeom>
        </p:spPr>
        <p:txBody>
          <a:bodyPr/>
          <a:lstStyle/>
          <a:p>
            <a:endParaRPr lang="ru-RU"/>
          </a:p>
        </p:txBody>
      </p:sp>
      <p:sp>
        <p:nvSpPr>
          <p:cNvPr id="6" name="Picture Placeholder 4">
            <a:extLst>
              <a:ext uri="{FF2B5EF4-FFF2-40B4-BE49-F238E27FC236}">
                <a16:creationId xmlns:a16="http://schemas.microsoft.com/office/drawing/2014/main" id="{2DF94982-7C8C-4380-913C-B6BB8F0EADA2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>
            <a:off x="6096000" y="3406878"/>
            <a:ext cx="6096000" cy="3425313"/>
          </a:xfrm>
          <a:prstGeom prst="rect">
            <a:avLst/>
          </a:prstGeom>
        </p:spPr>
        <p:txBody>
          <a:bodyPr/>
          <a:lstStyle/>
          <a:p>
            <a:endParaRPr lang="ru-RU"/>
          </a:p>
        </p:txBody>
      </p:sp>
      <p:sp>
        <p:nvSpPr>
          <p:cNvPr id="8" name="Slide Number Placeholder 5">
            <a:extLst>
              <a:ext uri="{FF2B5EF4-FFF2-40B4-BE49-F238E27FC236}">
                <a16:creationId xmlns:a16="http://schemas.microsoft.com/office/drawing/2014/main" id="{B4069E12-8082-6167-BBB4-2F05D00099D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7964102" y="89780"/>
            <a:ext cx="2743200" cy="365125"/>
          </a:xfrm>
        </p:spPr>
        <p:txBody>
          <a:bodyPr/>
          <a:lstStyle/>
          <a:p>
            <a:fld id="{48F63A3B-78C7-47BE-AE5E-E10140E04643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81636119"/>
      </p:ext>
    </p:extLst>
  </p:cSld>
  <p:clrMapOvr>
    <a:masterClrMapping/>
  </p:clrMapOvr>
  <p:transition spd="slow">
    <p:push/>
  </p:transition>
  <p:extLst>
    <p:ext uri="{DCECCB84-F9BA-43D5-87BE-67443E8EF086}">
      <p15:sldGuideLst xmlns:p15="http://schemas.microsoft.com/office/powerpoint/2012/main">
        <p15:guide id="1" orient="horz" pos="4320">
          <p15:clr>
            <a:srgbClr val="FBAE40"/>
          </p15:clr>
        </p15:guide>
        <p15:guide id="2" pos="7678">
          <p15:clr>
            <a:srgbClr val="FBAE40"/>
          </p15:clr>
        </p15:guide>
      </p15:sldGuideLst>
    </p:ext>
  </p:extLs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Left image mediu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 descr="A white birds flying in the air&#10;&#10;Description automatically generated">
            <a:extLst>
              <a:ext uri="{FF2B5EF4-FFF2-40B4-BE49-F238E27FC236}">
                <a16:creationId xmlns:a16="http://schemas.microsoft.com/office/drawing/2014/main" id="{ECBA08FC-52D8-FEE3-C3C7-D95C80934DDD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alphaModFix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25026"/>
          <a:stretch/>
        </p:blipFill>
        <p:spPr>
          <a:xfrm>
            <a:off x="0" y="1485900"/>
            <a:ext cx="7159801" cy="5370314"/>
          </a:xfrm>
          <a:prstGeom prst="rect">
            <a:avLst/>
          </a:prstGeom>
        </p:spPr>
      </p:pic>
      <p:sp>
        <p:nvSpPr>
          <p:cNvPr id="3" name="Picture Placeholder 37">
            <a:extLst>
              <a:ext uri="{FF2B5EF4-FFF2-40B4-BE49-F238E27FC236}">
                <a16:creationId xmlns:a16="http://schemas.microsoft.com/office/drawing/2014/main" id="{4C968554-C88A-636F-9EBC-C6AF1A0883F6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836831" y="2286000"/>
            <a:ext cx="5449719" cy="3695700"/>
          </a:xfrm>
        </p:spPr>
        <p:txBody>
          <a:bodyPr/>
          <a:lstStyle/>
          <a:p>
            <a:endParaRPr lang="en-US"/>
          </a:p>
        </p:txBody>
      </p:sp>
      <p:sp>
        <p:nvSpPr>
          <p:cNvPr id="7" name="Slide Number Placeholder 5">
            <a:extLst>
              <a:ext uri="{FF2B5EF4-FFF2-40B4-BE49-F238E27FC236}">
                <a16:creationId xmlns:a16="http://schemas.microsoft.com/office/drawing/2014/main" id="{3A6AD71E-8A72-1FCD-4B07-C34DFD4E7C48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>
          <a:xfrm>
            <a:off x="7964102" y="89780"/>
            <a:ext cx="2743200" cy="365125"/>
          </a:xfrm>
        </p:spPr>
        <p:txBody>
          <a:bodyPr/>
          <a:lstStyle/>
          <a:p>
            <a:fld id="{48F63A3B-78C7-47BE-AE5E-E10140E04643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67292266"/>
      </p:ext>
    </p:extLst>
  </p:cSld>
  <p:clrMapOvr>
    <a:masterClrMapping/>
  </p:clrMapOvr>
  <p:transition spd="slow">
    <p:push/>
  </p:transition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Right image mediu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 descr="A white birds flying in the air&#10;&#10;Description automatically generated">
            <a:extLst>
              <a:ext uri="{FF2B5EF4-FFF2-40B4-BE49-F238E27FC236}">
                <a16:creationId xmlns:a16="http://schemas.microsoft.com/office/drawing/2014/main" id="{C06DC183-1756-6DF7-D0D3-054CBC24C1B6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alphaModFix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25026"/>
          <a:stretch/>
        </p:blipFill>
        <p:spPr>
          <a:xfrm>
            <a:off x="0" y="1485900"/>
            <a:ext cx="7159801" cy="5370314"/>
          </a:xfrm>
          <a:prstGeom prst="rect">
            <a:avLst/>
          </a:prstGeom>
        </p:spPr>
      </p:pic>
      <p:sp>
        <p:nvSpPr>
          <p:cNvPr id="3" name="Picture Placeholder 37">
            <a:extLst>
              <a:ext uri="{FF2B5EF4-FFF2-40B4-BE49-F238E27FC236}">
                <a16:creationId xmlns:a16="http://schemas.microsoft.com/office/drawing/2014/main" id="{4C968554-C88A-636F-9EBC-C6AF1A0883F6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5943560" y="2286000"/>
            <a:ext cx="5449719" cy="3695700"/>
          </a:xfrm>
        </p:spPr>
        <p:txBody>
          <a:bodyPr/>
          <a:lstStyle/>
          <a:p>
            <a:endParaRPr lang="en-US"/>
          </a:p>
        </p:txBody>
      </p:sp>
      <p:sp>
        <p:nvSpPr>
          <p:cNvPr id="7" name="Slide Number Placeholder 5">
            <a:extLst>
              <a:ext uri="{FF2B5EF4-FFF2-40B4-BE49-F238E27FC236}">
                <a16:creationId xmlns:a16="http://schemas.microsoft.com/office/drawing/2014/main" id="{A927D895-C27B-90BF-01EA-A1FD1934EEFD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>
          <a:xfrm>
            <a:off x="7964102" y="89780"/>
            <a:ext cx="2743200" cy="365125"/>
          </a:xfrm>
        </p:spPr>
        <p:txBody>
          <a:bodyPr/>
          <a:lstStyle/>
          <a:p>
            <a:fld id="{48F63A3B-78C7-47BE-AE5E-E10140E04643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68142128"/>
      </p:ext>
    </p:extLst>
  </p:cSld>
  <p:clrMapOvr>
    <a:masterClrMapping/>
  </p:clrMapOvr>
  <p:transition spd="slow">
    <p:push/>
  </p:transition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lank with log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A white birds flying in the air&#10;&#10;Description automatically generated">
            <a:extLst>
              <a:ext uri="{FF2B5EF4-FFF2-40B4-BE49-F238E27FC236}">
                <a16:creationId xmlns:a16="http://schemas.microsoft.com/office/drawing/2014/main" id="{17F36811-6DD0-09BD-AB28-87EF58C1AE73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alphaModFix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25026"/>
          <a:stretch/>
        </p:blipFill>
        <p:spPr>
          <a:xfrm>
            <a:off x="-17771" y="1485900"/>
            <a:ext cx="7159801" cy="5370314"/>
          </a:xfrm>
          <a:prstGeom prst="rect">
            <a:avLst/>
          </a:prstGeom>
        </p:spPr>
      </p:pic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3B14B0A-C41E-4D3C-9A6E-5DA20B00ECB4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>
          <a:xfrm>
            <a:off x="7964102" y="89780"/>
            <a:ext cx="2743200" cy="365125"/>
          </a:xfrm>
        </p:spPr>
        <p:txBody>
          <a:bodyPr/>
          <a:lstStyle/>
          <a:p>
            <a:fld id="{48F63A3B-78C7-47BE-AE5E-E10140E04643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16153594"/>
      </p:ext>
    </p:extLst>
  </p:cSld>
  <p:clrMapOvr>
    <a:masterClrMapping/>
  </p:clrMapOvr>
  <p:transition spd="slow">
    <p:push/>
  </p:transition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1217734-E2F0-44C4-57D9-AA9FB0EFEC86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>
          <a:xfrm>
            <a:off x="7964102" y="89780"/>
            <a:ext cx="2743200" cy="365125"/>
          </a:xfrm>
        </p:spPr>
        <p:txBody>
          <a:bodyPr/>
          <a:lstStyle/>
          <a:p>
            <a:fld id="{48F63A3B-78C7-47BE-AE5E-E10140E04643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76073812"/>
      </p:ext>
    </p:extLst>
  </p:cSld>
  <p:clrMapOvr>
    <a:masterClrMapping/>
  </p:clrMapOvr>
  <p:transition spd="slow">
    <p:push/>
  </p:transition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hank You!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15A8192C-D1EB-E0F7-C4E6-B89CF2B86804}"/>
              </a:ext>
            </a:extLst>
          </p:cNvPr>
          <p:cNvSpPr/>
          <p:nvPr userDrawn="1"/>
        </p:nvSpPr>
        <p:spPr>
          <a:xfrm>
            <a:off x="0" y="1786"/>
            <a:ext cx="12192000" cy="6856214"/>
          </a:xfrm>
          <a:prstGeom prst="rect">
            <a:avLst/>
          </a:prstGeom>
          <a:solidFill>
            <a:srgbClr val="A4C637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900"/>
          </a:p>
        </p:txBody>
      </p:sp>
      <p:pic>
        <p:nvPicPr>
          <p:cNvPr id="2" name="Picture 1" descr="A white birds flying in the air&#10;&#10;Description automatically generated">
            <a:extLst>
              <a:ext uri="{FF2B5EF4-FFF2-40B4-BE49-F238E27FC236}">
                <a16:creationId xmlns:a16="http://schemas.microsoft.com/office/drawing/2014/main" id="{2C2F123A-765A-D23D-0451-6B9EBD888532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email">
            <a:alphaModFix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flipH="1">
            <a:off x="3114956" y="1752600"/>
            <a:ext cx="9077043" cy="5104507"/>
          </a:xfrm>
          <a:prstGeom prst="rect">
            <a:avLst/>
          </a:prstGeom>
        </p:spPr>
      </p:pic>
      <p:pic>
        <p:nvPicPr>
          <p:cNvPr id="6" name="Picture 5" descr="A white birds flying in the air&#10;&#10;Description automatically generated">
            <a:extLst>
              <a:ext uri="{FF2B5EF4-FFF2-40B4-BE49-F238E27FC236}">
                <a16:creationId xmlns:a16="http://schemas.microsoft.com/office/drawing/2014/main" id="{50B9EF9C-E053-580B-F69D-3D4644ECAD0C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email">
            <a:alphaModFix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1751707"/>
            <a:ext cx="9144793" cy="5104507"/>
          </a:xfrm>
          <a:prstGeom prst="rect">
            <a:avLst/>
          </a:prstGeom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89BF3FDD-9A59-5B27-71A8-A8CA184D6029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352086" y="838200"/>
            <a:ext cx="5589234" cy="162225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67547315"/>
      </p:ext>
    </p:extLst>
  </p:cSld>
  <p:clrMapOvr>
    <a:masterClrMapping/>
  </p:clrMapOvr>
  <p:transition spd="slow">
    <p:push/>
  </p:transition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Image Le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AC3E05DA-588B-4DBC-8483-6CE2219E0AC5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0" y="0"/>
            <a:ext cx="5028922" cy="6858000"/>
          </a:xfrm>
          <a:prstGeom prst="rect">
            <a:avLst/>
          </a:prstGeom>
        </p:spPr>
        <p:txBody>
          <a:bodyPr/>
          <a:lstStyle/>
          <a:p>
            <a:endParaRPr lang="ru-RU"/>
          </a:p>
        </p:txBody>
      </p:sp>
      <p:sp>
        <p:nvSpPr>
          <p:cNvPr id="11" name="Footer Placeholder 10">
            <a:extLst>
              <a:ext uri="{FF2B5EF4-FFF2-40B4-BE49-F238E27FC236}">
                <a16:creationId xmlns:a16="http://schemas.microsoft.com/office/drawing/2014/main" id="{253525F5-44B5-3A98-A4DA-8765440EFC6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40621737"/>
      </p:ext>
    </p:extLst>
  </p:cSld>
  <p:clrMapOvr>
    <a:masterClrMapping/>
  </p:clrMapOvr>
  <p:transition spd="slow">
    <p:push/>
  </p:transition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Blank Text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6" name="Picture 105">
            <a:extLst>
              <a:ext uri="{FF2B5EF4-FFF2-40B4-BE49-F238E27FC236}">
                <a16:creationId xmlns:a16="http://schemas.microsoft.com/office/drawing/2014/main" id="{004418E2-7AC9-467D-B43E-B1F746646A3F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8996273" y="203625"/>
            <a:ext cx="2837138" cy="824665"/>
          </a:xfrm>
          <a:prstGeom prst="rect">
            <a:avLst/>
          </a:prstGeom>
        </p:spPr>
      </p:pic>
      <p:sp>
        <p:nvSpPr>
          <p:cNvPr id="109" name="Title 1"/>
          <p:cNvSpPr>
            <a:spLocks noGrp="1"/>
          </p:cNvSpPr>
          <p:nvPr>
            <p:ph type="title" hasCustomPrompt="1"/>
          </p:nvPr>
        </p:nvSpPr>
        <p:spPr>
          <a:xfrm>
            <a:off x="433939" y="6268"/>
            <a:ext cx="10515600" cy="1325563"/>
          </a:xfrm>
        </p:spPr>
        <p:txBody>
          <a:bodyPr>
            <a:normAutofit/>
          </a:bodyPr>
          <a:lstStyle>
            <a:lvl1pPr>
              <a:defRPr sz="3199">
                <a:solidFill>
                  <a:schemeClr val="accent2"/>
                </a:solidFill>
              </a:defRPr>
            </a:lvl1pPr>
          </a:lstStyle>
          <a:p>
            <a:r>
              <a:rPr lang="en-US"/>
              <a:t>Blank Slide</a:t>
            </a:r>
          </a:p>
        </p:txBody>
      </p:sp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33318E2E-30DB-A051-1562-EFE3478525E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86CDA7-8FFC-9F48-9133-A3BF974B1DFD}" type="datetimeFigureOut">
              <a:rPr lang="en-US" smtClean="0"/>
              <a:t>8/29/2025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05FB7224-71DA-7923-7B10-4B29CE86E5F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6">
            <a:extLst>
              <a:ext uri="{FF2B5EF4-FFF2-40B4-BE49-F238E27FC236}">
                <a16:creationId xmlns:a16="http://schemas.microsoft.com/office/drawing/2014/main" id="{470B674B-9F34-69A2-F935-1C05076D9F97}"/>
              </a:ext>
            </a:extLst>
          </p:cNvPr>
          <p:cNvSpPr>
            <a:spLocks noGrp="1"/>
          </p:cNvSpPr>
          <p:nvPr>
            <p:ph type="sldNum" sz="quarter" idx="17"/>
          </p:nvPr>
        </p:nvSpPr>
        <p:spPr>
          <a:xfrm>
            <a:off x="9194800" y="6356351"/>
            <a:ext cx="2743200" cy="365125"/>
          </a:xfrm>
        </p:spPr>
        <p:txBody>
          <a:bodyPr/>
          <a:lstStyle/>
          <a:p>
            <a:fld id="{82BE9B81-A634-4F4A-B73F-25756DF9A62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52124001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Text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6" name="Picture 105">
            <a:extLst>
              <a:ext uri="{FF2B5EF4-FFF2-40B4-BE49-F238E27FC236}">
                <a16:creationId xmlns:a16="http://schemas.microsoft.com/office/drawing/2014/main" id="{004418E2-7AC9-467D-B43E-B1F746646A3F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8996273" y="203625"/>
            <a:ext cx="2837138" cy="824665"/>
          </a:xfrm>
          <a:prstGeom prst="rect">
            <a:avLst/>
          </a:prstGeom>
        </p:spPr>
      </p:pic>
      <p:sp>
        <p:nvSpPr>
          <p:cNvPr id="109" name="Title 1"/>
          <p:cNvSpPr>
            <a:spLocks noGrp="1"/>
          </p:cNvSpPr>
          <p:nvPr>
            <p:ph type="title"/>
          </p:nvPr>
        </p:nvSpPr>
        <p:spPr>
          <a:xfrm>
            <a:off x="433939" y="6268"/>
            <a:ext cx="10515600" cy="1325563"/>
          </a:xfrm>
        </p:spPr>
        <p:txBody>
          <a:bodyPr>
            <a:normAutofit/>
          </a:bodyPr>
          <a:lstStyle>
            <a:lvl1pPr>
              <a:defRPr sz="3199">
                <a:solidFill>
                  <a:schemeClr val="accent2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A179CCDD-2EBF-C69F-58FD-5113177B2C0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86CDA7-8FFC-9F48-9133-A3BF974B1DFD}" type="datetimeFigureOut">
              <a:rPr lang="en-US" smtClean="0"/>
              <a:t>8/29/2025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5CF56F67-3808-227F-6D78-9691A8A54CC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0" name="Slide Number Placeholder 6">
            <a:extLst>
              <a:ext uri="{FF2B5EF4-FFF2-40B4-BE49-F238E27FC236}">
                <a16:creationId xmlns:a16="http://schemas.microsoft.com/office/drawing/2014/main" id="{797CEF69-0FB9-6C22-E2E8-231564EAE6E9}"/>
              </a:ext>
            </a:extLst>
          </p:cNvPr>
          <p:cNvSpPr>
            <a:spLocks noGrp="1"/>
          </p:cNvSpPr>
          <p:nvPr>
            <p:ph type="sldNum" sz="quarter" idx="17"/>
          </p:nvPr>
        </p:nvSpPr>
        <p:spPr>
          <a:xfrm>
            <a:off x="9194800" y="6356351"/>
            <a:ext cx="2743200" cy="365125"/>
          </a:xfrm>
        </p:spPr>
        <p:txBody>
          <a:bodyPr/>
          <a:lstStyle/>
          <a:p>
            <a:fld id="{82BE9B81-A634-4F4A-B73F-25756DF9A62D}" type="slidenum">
              <a:rPr lang="en-US" smtClean="0"/>
              <a:t>‹#›</a:t>
            </a:fld>
            <a:endParaRPr lang="en-US"/>
          </a:p>
        </p:txBody>
      </p:sp>
      <p:sp>
        <p:nvSpPr>
          <p:cNvPr id="107" name="Rounded Rectangle 106"/>
          <p:cNvSpPr/>
          <p:nvPr userDrawn="1"/>
        </p:nvSpPr>
        <p:spPr>
          <a:xfrm>
            <a:off x="403861" y="1095851"/>
            <a:ext cx="11384280" cy="18288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  <a:ln>
            <a:solidFill>
              <a:schemeClr val="accent1"/>
            </a:solidFill>
          </a:ln>
          <a:effectLst>
            <a:softEdge rad="12700"/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>
              <a:ln>
                <a:noFill/>
              </a:ln>
              <a:effectLst/>
            </a:endParaRPr>
          </a:p>
        </p:txBody>
      </p:sp>
    </p:spTree>
    <p:extLst>
      <p:ext uri="{BB962C8B-B14F-4D97-AF65-F5344CB8AC3E}">
        <p14:creationId xmlns:p14="http://schemas.microsoft.com/office/powerpoint/2010/main" val="1173566776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2_Text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A179CCDD-2EBF-C69F-58FD-5113177B2C0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86CDA7-8FFC-9F48-9133-A3BF974B1DFD}" type="datetimeFigureOut">
              <a:rPr lang="en-US" smtClean="0"/>
              <a:t>8/29/2025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5CF56F67-3808-227F-6D78-9691A8A54CC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0" name="Slide Number Placeholder 6">
            <a:extLst>
              <a:ext uri="{FF2B5EF4-FFF2-40B4-BE49-F238E27FC236}">
                <a16:creationId xmlns:a16="http://schemas.microsoft.com/office/drawing/2014/main" id="{797CEF69-0FB9-6C22-E2E8-231564EAE6E9}"/>
              </a:ext>
            </a:extLst>
          </p:cNvPr>
          <p:cNvSpPr>
            <a:spLocks noGrp="1"/>
          </p:cNvSpPr>
          <p:nvPr>
            <p:ph type="sldNum" sz="quarter" idx="17"/>
          </p:nvPr>
        </p:nvSpPr>
        <p:spPr>
          <a:xfrm>
            <a:off x="9194800" y="6356351"/>
            <a:ext cx="2743200" cy="365125"/>
          </a:xfrm>
        </p:spPr>
        <p:txBody>
          <a:bodyPr/>
          <a:lstStyle/>
          <a:p>
            <a:fld id="{82BE9B81-A634-4F4A-B73F-25756DF9A62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32809637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image" Target="../media/image1.emf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1" y="365126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1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7964102" y="8978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8F63A3B-78C7-47BE-AE5E-E10140E04643}" type="slidenum">
              <a:rPr lang="en-US" smtClean="0"/>
              <a:pPr/>
              <a:t>‹#›</a:t>
            </a:fld>
            <a:endParaRPr lang="en-US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57A9DD85-CF77-C8B9-DC5A-4DA4C9FDBDB9}"/>
              </a:ext>
            </a:extLst>
          </p:cNvPr>
          <p:cNvPicPr>
            <a:picLocks noChangeAspect="1"/>
          </p:cNvPicPr>
          <p:nvPr userDrawn="1"/>
        </p:nvPicPr>
        <p:blipFill>
          <a:blip r:embed="rId15" cstate="email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935960" y="98532"/>
            <a:ext cx="1098956" cy="318969"/>
          </a:xfrm>
          <a:prstGeom prst="rect">
            <a:avLst/>
          </a:prstGeom>
        </p:spPr>
      </p:pic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D1E0D891-B5EB-3309-8B07-149B82444B2B}"/>
              </a:ext>
            </a:extLst>
          </p:cNvPr>
          <p:cNvCxnSpPr>
            <a:cxnSpLocks/>
          </p:cNvCxnSpPr>
          <p:nvPr userDrawn="1"/>
        </p:nvCxnSpPr>
        <p:spPr>
          <a:xfrm>
            <a:off x="10783521" y="182563"/>
            <a:ext cx="0" cy="182563"/>
          </a:xfrm>
          <a:prstGeom prst="line">
            <a:avLst/>
          </a:prstGeom>
          <a:ln w="127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" name="Footer Placeholder 11">
            <a:extLst>
              <a:ext uri="{FF2B5EF4-FFF2-40B4-BE49-F238E27FC236}">
                <a16:creationId xmlns:a16="http://schemas.microsoft.com/office/drawing/2014/main" id="{2478444D-AE17-2BB7-D3C2-89BB5DE13FF0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859" y="6356350"/>
            <a:ext cx="4114284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6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5529318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6" r:id="rId1"/>
    <p:sldLayoutId id="2147483677" r:id="rId2"/>
    <p:sldLayoutId id="2147483678" r:id="rId3"/>
    <p:sldLayoutId id="2147483679" r:id="rId4"/>
    <p:sldLayoutId id="2147483680" r:id="rId5"/>
    <p:sldLayoutId id="2147483681" r:id="rId6"/>
    <p:sldLayoutId id="2147483682" r:id="rId7"/>
    <p:sldLayoutId id="2147483683" r:id="rId8"/>
    <p:sldLayoutId id="2147483684" r:id="rId9"/>
    <p:sldLayoutId id="2147483685" r:id="rId10"/>
    <p:sldLayoutId id="2147483686" r:id="rId11"/>
    <p:sldLayoutId id="2147483687" r:id="rId12"/>
    <p:sldLayoutId id="2147483688" r:id="rId13"/>
  </p:sldLayoutIdLst>
  <p:transition spd="slow">
    <p:push/>
  </p:transition>
  <p:hf hdr="0" ftr="0" dt="0"/>
  <p:txStyles>
    <p:titleStyle>
      <a:lvl1pPr algn="l" defTabSz="914172" rtl="0" eaLnBrk="1" latinLnBrk="0" hangingPunct="1">
        <a:lnSpc>
          <a:spcPct val="90000"/>
        </a:lnSpc>
        <a:spcBef>
          <a:spcPct val="0"/>
        </a:spcBef>
        <a:buNone/>
        <a:defRPr sz="4399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543" indent="-228543" algn="l" defTabSz="914172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629" indent="-228543" algn="l" defTabSz="914172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2715" indent="-228543" algn="l" defTabSz="914172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599800" indent="-228543" algn="l" defTabSz="914172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6886" indent="-228543" algn="l" defTabSz="914172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3972" indent="-228543" algn="l" defTabSz="914172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057" indent="-228543" algn="l" defTabSz="914172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8143" indent="-228543" algn="l" defTabSz="914172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5229" indent="-228543" algn="l" defTabSz="914172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172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086" algn="l" defTabSz="914172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172" algn="l" defTabSz="914172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257" algn="l" defTabSz="914172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343" algn="l" defTabSz="914172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5429" algn="l" defTabSz="914172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2514" algn="l" defTabSz="914172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199600" algn="l" defTabSz="914172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6686" algn="l" defTabSz="914172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0.png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21.png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7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7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png"/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7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9.png"/><Relationship Id="rId2" Type="http://schemas.openxmlformats.org/officeDocument/2006/relationships/image" Target="../media/image28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30.png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2.png"/><Relationship Id="rId2" Type="http://schemas.openxmlformats.org/officeDocument/2006/relationships/image" Target="../media/image31.png"/><Relationship Id="rId1" Type="http://schemas.openxmlformats.org/officeDocument/2006/relationships/slideLayout" Target="../slideLayouts/slideLayout7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4.png"/><Relationship Id="rId2" Type="http://schemas.openxmlformats.org/officeDocument/2006/relationships/image" Target="../media/image33.png"/><Relationship Id="rId1" Type="http://schemas.openxmlformats.org/officeDocument/2006/relationships/slideLayout" Target="../slideLayouts/slideLayout7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6.png"/><Relationship Id="rId2" Type="http://schemas.openxmlformats.org/officeDocument/2006/relationships/image" Target="../media/image35.png"/><Relationship Id="rId1" Type="http://schemas.openxmlformats.org/officeDocument/2006/relationships/slideLayout" Target="../slideLayouts/slideLayout7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8.png"/><Relationship Id="rId2" Type="http://schemas.openxmlformats.org/officeDocument/2006/relationships/image" Target="../media/image37.png"/><Relationship Id="rId1" Type="http://schemas.openxmlformats.org/officeDocument/2006/relationships/slideLayout" Target="../slideLayouts/slideLayout7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0.png"/><Relationship Id="rId2" Type="http://schemas.openxmlformats.org/officeDocument/2006/relationships/image" Target="../media/image39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41.png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3.png"/><Relationship Id="rId2" Type="http://schemas.openxmlformats.org/officeDocument/2006/relationships/image" Target="../media/image42.png"/><Relationship Id="rId1" Type="http://schemas.openxmlformats.org/officeDocument/2006/relationships/slideLayout" Target="../slideLayouts/slideLayout7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45.png"/><Relationship Id="rId2" Type="http://schemas.openxmlformats.org/officeDocument/2006/relationships/image" Target="../media/image44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46.png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8.png"/><Relationship Id="rId2" Type="http://schemas.openxmlformats.org/officeDocument/2006/relationships/image" Target="../media/image47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49.png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1.png"/><Relationship Id="rId2" Type="http://schemas.openxmlformats.org/officeDocument/2006/relationships/image" Target="../media/image50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52.png"/></Relationships>
</file>

<file path=ppt/slides/_rels/slide3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4.png"/><Relationship Id="rId2" Type="http://schemas.openxmlformats.org/officeDocument/2006/relationships/image" Target="../media/image53.png"/><Relationship Id="rId1" Type="http://schemas.openxmlformats.org/officeDocument/2006/relationships/slideLayout" Target="../slideLayouts/slideLayout7.xml"/></Relationships>
</file>

<file path=ppt/slides/_rels/slide3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6.png"/><Relationship Id="rId2" Type="http://schemas.openxmlformats.org/officeDocument/2006/relationships/image" Target="../media/image55.png"/><Relationship Id="rId1" Type="http://schemas.openxmlformats.org/officeDocument/2006/relationships/slideLayout" Target="../slideLayouts/slideLayout7.xml"/></Relationships>
</file>

<file path=ppt/slides/_rels/slide3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8.png"/><Relationship Id="rId2" Type="http://schemas.openxmlformats.org/officeDocument/2006/relationships/image" Target="../media/image57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59.png"/></Relationships>
</file>

<file path=ppt/slides/_rels/slide36.xml.rels><?xml version="1.0" encoding="UTF-8" standalone="yes"?>
<Relationships xmlns="http://schemas.openxmlformats.org/package/2006/relationships"><Relationship Id="rId3" Type="http://schemas.openxmlformats.org/officeDocument/2006/relationships/image" Target="../media/image61.png"/><Relationship Id="rId2" Type="http://schemas.openxmlformats.org/officeDocument/2006/relationships/image" Target="../media/image60.png"/><Relationship Id="rId1" Type="http://schemas.openxmlformats.org/officeDocument/2006/relationships/slideLayout" Target="../slideLayouts/slideLayout7.xml"/></Relationships>
</file>

<file path=ppt/slides/_rels/slide37.xml.rels><?xml version="1.0" encoding="UTF-8" standalone="yes"?>
<Relationships xmlns="http://schemas.openxmlformats.org/package/2006/relationships"><Relationship Id="rId2" Type="http://schemas.openxmlformats.org/officeDocument/2006/relationships/image" Target="../media/image62.png"/><Relationship Id="rId1" Type="http://schemas.openxmlformats.org/officeDocument/2006/relationships/slideLayout" Target="../slideLayouts/slideLayout7.xml"/></Relationships>
</file>

<file path=ppt/slides/_rels/slide38.xml.rels><?xml version="1.0" encoding="UTF-8" standalone="yes"?>
<Relationships xmlns="http://schemas.openxmlformats.org/package/2006/relationships"><Relationship Id="rId3" Type="http://schemas.openxmlformats.org/officeDocument/2006/relationships/image" Target="../media/image64.png"/><Relationship Id="rId2" Type="http://schemas.openxmlformats.org/officeDocument/2006/relationships/image" Target="../media/image63.png"/><Relationship Id="rId1" Type="http://schemas.openxmlformats.org/officeDocument/2006/relationships/slideLayout" Target="../slideLayouts/slideLayout7.xml"/></Relationships>
</file>

<file path=ppt/slides/_rels/slide39.xml.rels><?xml version="1.0" encoding="UTF-8" standalone="yes"?>
<Relationships xmlns="http://schemas.openxmlformats.org/package/2006/relationships"><Relationship Id="rId2" Type="http://schemas.openxmlformats.org/officeDocument/2006/relationships/image" Target="../media/image65.png"/><Relationship Id="rId1" Type="http://schemas.openxmlformats.org/officeDocument/2006/relationships/slideLayout" Target="../slideLayouts/slideLayout7.xml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 Placeholder 2">
            <a:extLst>
              <a:ext uri="{FF2B5EF4-FFF2-40B4-BE49-F238E27FC236}">
                <a16:creationId xmlns:a16="http://schemas.microsoft.com/office/drawing/2014/main" id="{D8E8B943-A666-3EB8-58D3-FB4785A37EFD}"/>
              </a:ext>
            </a:extLst>
          </p:cNvPr>
          <p:cNvSpPr txBox="1">
            <a:spLocks/>
          </p:cNvSpPr>
          <p:nvPr/>
        </p:nvSpPr>
        <p:spPr>
          <a:xfrm>
            <a:off x="4549341" y="2671930"/>
            <a:ext cx="6828547" cy="2324100"/>
          </a:xfrm>
          <a:prstGeom prst="rect">
            <a:avLst/>
          </a:prstGeom>
        </p:spPr>
        <p:txBody>
          <a:bodyPr vert="horz" lIns="68562" tIns="34281" rIns="68562" bIns="34281" rtlCol="0" anchor="ctr">
            <a:noAutofit/>
          </a:bodyPr>
          <a:lstStyle>
            <a:defPPr>
              <a:defRPr lang="en-US"/>
            </a:defPPr>
            <a:lvl1pPr marL="0" algn="ctr" defTabSz="457200" rtl="0" eaLnBrk="1" latinLnBrk="0" hangingPunct="1">
              <a:defRPr sz="16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4400" dirty="0">
                <a:solidFill>
                  <a:srgbClr val="0077FF"/>
                </a:solidFill>
                <a:latin typeface="CoreSansCR-65Bold" panose="020F0603030302020204" pitchFamily="34" charset="0"/>
              </a:rPr>
              <a:t>Internet Banking</a:t>
            </a:r>
            <a:endParaRPr lang="en-US" sz="4000" dirty="0">
              <a:solidFill>
                <a:srgbClr val="0077FF"/>
              </a:solidFill>
              <a:latin typeface="CoreSansCR-65Bold" panose="020F0603030302020204" pitchFamily="34" charset="0"/>
            </a:endParaRPr>
          </a:p>
          <a:p>
            <a:r>
              <a:rPr lang="en-US" sz="4000" dirty="0">
                <a:solidFill>
                  <a:schemeClr val="bg1"/>
                </a:solidFill>
                <a:latin typeface="CoreSansCR-65Bold" panose="020F0603030302020204" pitchFamily="34" charset="0"/>
              </a:rPr>
              <a:t>Features &amp; Guideline 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64673A3A-6FB7-5C97-6C31-2AC7F646013D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>
          <a:xfrm>
            <a:off x="7963615" y="89780"/>
            <a:ext cx="2742486" cy="365125"/>
          </a:xfrm>
        </p:spPr>
        <p:txBody>
          <a:bodyPr/>
          <a:lstStyle/>
          <a:p>
            <a:pPr defTabSz="228600"/>
            <a:fld id="{48F63A3B-78C7-47BE-AE5E-E10140E04643}" type="slidenum">
              <a:rPr lang="en-US">
                <a:solidFill>
                  <a:prstClr val="black">
                    <a:tint val="75000"/>
                  </a:prstClr>
                </a:solidFill>
                <a:latin typeface="Calibri" panose="020F0502020204030204"/>
              </a:rPr>
              <a:pPr defTabSz="228600"/>
              <a:t>1</a:t>
            </a:fld>
            <a:endParaRPr lang="en-US">
              <a:solidFill>
                <a:prstClr val="black">
                  <a:tint val="75000"/>
                </a:prstClr>
              </a:solidFill>
              <a:latin typeface="Calibri" panose="020F0502020204030204"/>
            </a:endParaRPr>
          </a:p>
        </p:txBody>
      </p:sp>
    </p:spTree>
    <p:extLst>
      <p:ext uri="{BB962C8B-B14F-4D97-AF65-F5344CB8AC3E}">
        <p14:creationId xmlns:p14="http://schemas.microsoft.com/office/powerpoint/2010/main" val="807674422"/>
      </p:ext>
    </p:extLst>
  </p:cSld>
  <p:clrMapOvr>
    <a:masterClrMapping/>
  </p:clrMapOvr>
  <p:transition spd="slow">
    <p:push/>
  </p:transition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FE01BEC3-47B8-56AD-0838-E4EDC54CD2B2}"/>
              </a:ext>
            </a:extLst>
          </p:cNvPr>
          <p:cNvSpPr>
            <a:spLocks noGrp="1"/>
          </p:cNvSpPr>
          <p:nvPr>
            <p:ph type="body" sz="quarter" idx="4294967295"/>
          </p:nvPr>
        </p:nvSpPr>
        <p:spPr>
          <a:xfrm>
            <a:off x="0" y="170729"/>
            <a:ext cx="9021763" cy="571500"/>
          </a:xfrm>
        </p:spPr>
        <p:txBody>
          <a:bodyPr/>
          <a:lstStyle/>
          <a:p>
            <a:r>
              <a:rPr lang="en-US" u="sng" dirty="0"/>
              <a:t>Content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7A931986-C39E-4593-B5D2-E2C621726D3A}"/>
              </a:ext>
            </a:extLst>
          </p:cNvPr>
          <p:cNvSpPr txBox="1"/>
          <p:nvPr/>
        </p:nvSpPr>
        <p:spPr>
          <a:xfrm>
            <a:off x="314036" y="858981"/>
            <a:ext cx="2493818" cy="86177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Overview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sz="1400" dirty="0"/>
              <a:t>What is </a:t>
            </a:r>
            <a:r>
              <a:rPr lang="en-US" sz="1400" dirty="0" err="1"/>
              <a:t>iBanking</a:t>
            </a:r>
            <a:endParaRPr lang="en-US" sz="1400" dirty="0"/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B1AAF53D-512F-4EC3-BCBA-731A45072CAC}"/>
              </a:ext>
            </a:extLst>
          </p:cNvPr>
          <p:cNvSpPr txBox="1"/>
          <p:nvPr/>
        </p:nvSpPr>
        <p:spPr>
          <a:xfrm>
            <a:off x="314036" y="3099293"/>
            <a:ext cx="2189317" cy="135421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Nature of Transfers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sz="1400" dirty="0"/>
              <a:t>Register Receiver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sz="1400" dirty="0"/>
              <a:t>Approval</a:t>
            </a:r>
          </a:p>
          <a:p>
            <a:endParaRPr lang="en-US" dirty="0"/>
          </a:p>
          <a:p>
            <a:endParaRPr lang="en-US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BE53DA9F-FA2C-4219-8DDF-9268764879F6}"/>
              </a:ext>
            </a:extLst>
          </p:cNvPr>
          <p:cNvSpPr txBox="1"/>
          <p:nvPr/>
        </p:nvSpPr>
        <p:spPr>
          <a:xfrm>
            <a:off x="4118253" y="858981"/>
            <a:ext cx="3356745" cy="517064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Features &amp; Functions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sz="1400" dirty="0"/>
              <a:t>Account Management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sz="1400" dirty="0"/>
              <a:t>Payroll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sz="1400" dirty="0"/>
              <a:t>Payroll Bulk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sz="1400" dirty="0"/>
              <a:t>Phone Top Up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sz="1400" dirty="0"/>
              <a:t>Phone Top Up Bulk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sz="1400" dirty="0"/>
              <a:t>Wing Bank to Wing Bank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sz="1400" dirty="0"/>
              <a:t>Wing Bank to Wing Bank Bulk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sz="1400" dirty="0"/>
              <a:t>Wing Wei </a:t>
            </a:r>
            <a:r>
              <a:rPr lang="en-US" sz="1400" dirty="0" err="1"/>
              <a:t>Luy</a:t>
            </a:r>
            <a:endParaRPr lang="en-US" sz="1400" dirty="0"/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sz="1400" dirty="0"/>
              <a:t>Wing Wei </a:t>
            </a:r>
            <a:r>
              <a:rPr lang="en-US" sz="1400" dirty="0" err="1"/>
              <a:t>Luy</a:t>
            </a:r>
            <a:r>
              <a:rPr lang="en-US" sz="1400" dirty="0"/>
              <a:t> Bulk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sz="1400" dirty="0"/>
              <a:t>Wing Wei </a:t>
            </a:r>
            <a:r>
              <a:rPr lang="en-US" sz="1400" dirty="0" err="1"/>
              <a:t>Luy</a:t>
            </a:r>
            <a:r>
              <a:rPr lang="en-US" sz="1400" dirty="0"/>
              <a:t> View Passcode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sz="1400" dirty="0"/>
              <a:t>Wing Bank To World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sz="1400" dirty="0"/>
              <a:t>Wing Bank To World Bulk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sz="1400" dirty="0" err="1"/>
              <a:t>Bakong</a:t>
            </a:r>
            <a:r>
              <a:rPr lang="en-US" sz="1400" dirty="0"/>
              <a:t> Transfer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sz="1400" dirty="0" err="1"/>
              <a:t>Bakong</a:t>
            </a:r>
            <a:r>
              <a:rPr lang="en-US" sz="1400" dirty="0"/>
              <a:t> Transfer Bulk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sz="1400" dirty="0"/>
              <a:t>NCS Local Banks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sz="1400" dirty="0"/>
              <a:t>NCS Local Banks Bulk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sz="1400" dirty="0" err="1"/>
              <a:t>Billpayment</a:t>
            </a:r>
            <a:endParaRPr lang="en-US" sz="1400" dirty="0"/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sz="1400" dirty="0" err="1"/>
              <a:t>Billpayment</a:t>
            </a:r>
            <a:r>
              <a:rPr lang="en-US" sz="1400" dirty="0"/>
              <a:t> Bulk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sz="1400" dirty="0"/>
              <a:t>Gift Card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sz="1400" dirty="0"/>
              <a:t>Fleet Card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sz="1400" dirty="0"/>
              <a:t>Report</a:t>
            </a:r>
          </a:p>
          <a:p>
            <a:endParaRPr lang="en-US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6948F98E-2652-401C-A706-314E65709876}"/>
              </a:ext>
            </a:extLst>
          </p:cNvPr>
          <p:cNvSpPr txBox="1"/>
          <p:nvPr/>
        </p:nvSpPr>
        <p:spPr>
          <a:xfrm>
            <a:off x="314036" y="1890602"/>
            <a:ext cx="2646218" cy="86177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Login &amp; Access Control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sz="1400" dirty="0"/>
              <a:t>Login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07491119"/>
      </p:ext>
    </p:extLst>
  </p:cSld>
  <p:clrMapOvr>
    <a:masterClrMapping/>
  </p:clrMapOvr>
  <p:transition spd="slow">
    <p:push/>
  </p:transition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/>
          <p:cNvSpPr>
            <a:spLocks noGrp="1"/>
          </p:cNvSpPr>
          <p:nvPr>
            <p:ph type="body" sz="quarter" idx="4294967295"/>
          </p:nvPr>
        </p:nvSpPr>
        <p:spPr>
          <a:xfrm>
            <a:off x="0" y="401638"/>
            <a:ext cx="9021763" cy="571500"/>
          </a:xfrm>
        </p:spPr>
        <p:txBody>
          <a:bodyPr/>
          <a:lstStyle/>
          <a:p>
            <a:r>
              <a:rPr lang="en-US" dirty="0"/>
              <a:t>Overview 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01211976-C658-4027-AF0F-33C06069703A}"/>
              </a:ext>
            </a:extLst>
          </p:cNvPr>
          <p:cNvSpPr/>
          <p:nvPr/>
        </p:nvSpPr>
        <p:spPr>
          <a:xfrm>
            <a:off x="2360550" y="2414727"/>
            <a:ext cx="8768179" cy="9233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dirty="0" err="1"/>
              <a:t>iBanking</a:t>
            </a:r>
            <a:r>
              <a:rPr lang="en-US" dirty="0"/>
              <a:t> is a secure online platform for transfers, payments, and account management. While available to all customers, it is mainly used by corporate partners to handle high-volume transactions with multi-level approvals.</a:t>
            </a:r>
          </a:p>
        </p:txBody>
      </p:sp>
    </p:spTree>
    <p:extLst>
      <p:ext uri="{BB962C8B-B14F-4D97-AF65-F5344CB8AC3E}">
        <p14:creationId xmlns:p14="http://schemas.microsoft.com/office/powerpoint/2010/main" val="2606047920"/>
      </p:ext>
    </p:extLst>
  </p:cSld>
  <p:clrMapOvr>
    <a:masterClrMapping/>
  </p:clrMapOvr>
  <p:transition spd="slow">
    <p:push/>
  </p:transition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/>
          <p:cNvSpPr>
            <a:spLocks noGrp="1"/>
          </p:cNvSpPr>
          <p:nvPr>
            <p:ph type="body" sz="quarter" idx="4294967295"/>
          </p:nvPr>
        </p:nvSpPr>
        <p:spPr>
          <a:xfrm>
            <a:off x="0" y="401638"/>
            <a:ext cx="9021763" cy="571500"/>
          </a:xfrm>
        </p:spPr>
        <p:txBody>
          <a:bodyPr/>
          <a:lstStyle/>
          <a:p>
            <a:r>
              <a:rPr lang="en-US" dirty="0"/>
              <a:t>Login 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237C3416-45BC-4A41-922C-822E93B843A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990838"/>
            <a:ext cx="12192000" cy="586716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75991051"/>
      </p:ext>
    </p:extLst>
  </p:cSld>
  <p:clrMapOvr>
    <a:masterClrMapping/>
  </p:clrMapOvr>
  <p:transition spd="slow">
    <p:push/>
  </p:transition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/>
          <p:cNvSpPr>
            <a:spLocks noGrp="1"/>
          </p:cNvSpPr>
          <p:nvPr>
            <p:ph type="body" sz="quarter" idx="4294967295"/>
          </p:nvPr>
        </p:nvSpPr>
        <p:spPr>
          <a:xfrm>
            <a:off x="0" y="401638"/>
            <a:ext cx="9021763" cy="571500"/>
          </a:xfrm>
        </p:spPr>
        <p:txBody>
          <a:bodyPr/>
          <a:lstStyle/>
          <a:p>
            <a:r>
              <a:rPr lang="en-US" dirty="0"/>
              <a:t>Login 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6069A576-87D2-4345-9304-BB9D1D94E28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017359"/>
            <a:ext cx="12192000" cy="58356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98238475"/>
      </p:ext>
    </p:extLst>
  </p:cSld>
  <p:clrMapOvr>
    <a:masterClrMapping/>
  </p:clrMapOvr>
  <p:transition spd="slow">
    <p:push/>
  </p:transition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/>
          <p:cNvSpPr>
            <a:spLocks noGrp="1"/>
          </p:cNvSpPr>
          <p:nvPr>
            <p:ph type="body" sz="quarter" idx="4294967295"/>
          </p:nvPr>
        </p:nvSpPr>
        <p:spPr>
          <a:xfrm>
            <a:off x="0" y="401638"/>
            <a:ext cx="9021763" cy="571500"/>
          </a:xfrm>
        </p:spPr>
        <p:txBody>
          <a:bodyPr/>
          <a:lstStyle/>
          <a:p>
            <a:r>
              <a:rPr lang="en-US" dirty="0"/>
              <a:t>Dashboard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08FBFA1F-0C62-4D89-9AAB-86855F89F65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982245"/>
            <a:ext cx="12192000" cy="59385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57159357"/>
      </p:ext>
    </p:extLst>
  </p:cSld>
  <p:clrMapOvr>
    <a:masterClrMapping/>
  </p:clrMapOvr>
  <p:transition spd="slow">
    <p:push/>
  </p:transition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/>
          <p:cNvSpPr>
            <a:spLocks noGrp="1"/>
          </p:cNvSpPr>
          <p:nvPr>
            <p:ph type="body" sz="quarter" idx="4294967295"/>
          </p:nvPr>
        </p:nvSpPr>
        <p:spPr>
          <a:xfrm>
            <a:off x="0" y="401638"/>
            <a:ext cx="9021763" cy="571500"/>
          </a:xfrm>
        </p:spPr>
        <p:txBody>
          <a:bodyPr/>
          <a:lstStyle/>
          <a:p>
            <a:r>
              <a:rPr lang="en-US" dirty="0"/>
              <a:t>Register Receiver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3251FC0C-CC25-4817-ABEA-234997561B2F}"/>
              </a:ext>
            </a:extLst>
          </p:cNvPr>
          <p:cNvSpPr txBox="1"/>
          <p:nvPr/>
        </p:nvSpPr>
        <p:spPr>
          <a:xfrm>
            <a:off x="266700" y="1231900"/>
            <a:ext cx="11226800" cy="175432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Register Receiver: To perform transfer services such as Wing to Wing (W2W) and Payroll in </a:t>
            </a:r>
            <a:r>
              <a:rPr lang="en-US" dirty="0" err="1"/>
              <a:t>iBanking</a:t>
            </a:r>
            <a:r>
              <a:rPr lang="en-US" dirty="0"/>
              <a:t>, the receiver must be registered first.</a:t>
            </a:r>
          </a:p>
          <a:p>
            <a:pPr marL="342900" indent="-342900">
              <a:buFont typeface="+mj-lt"/>
              <a:buAutoNum type="arabicPeriod"/>
            </a:pPr>
            <a:r>
              <a:rPr lang="en-US" dirty="0"/>
              <a:t>Click on Registration (Receiver) -&gt; Registration Receiver Bulk</a:t>
            </a:r>
          </a:p>
          <a:p>
            <a:pPr marL="342900" indent="-342900">
              <a:buFont typeface="+mj-lt"/>
              <a:buAutoNum type="arabicPeriod"/>
            </a:pPr>
            <a:r>
              <a:rPr lang="en-US" dirty="0"/>
              <a:t>Choose Upload File</a:t>
            </a:r>
          </a:p>
          <a:p>
            <a:pPr marL="342900" indent="-342900">
              <a:buFont typeface="+mj-lt"/>
              <a:buAutoNum type="arabicPeriod"/>
            </a:pPr>
            <a:r>
              <a:rPr lang="en-US" dirty="0"/>
              <a:t>Click Submit</a:t>
            </a:r>
          </a:p>
          <a:p>
            <a:pPr marL="342900" indent="-342900">
              <a:buFont typeface="+mj-lt"/>
              <a:buAutoNum type="arabicPeriod"/>
            </a:pPr>
            <a:r>
              <a:rPr lang="en-US" dirty="0"/>
              <a:t> After review click submit again</a:t>
            </a:r>
          </a:p>
        </p:txBody>
      </p:sp>
    </p:spTree>
    <p:extLst>
      <p:ext uri="{BB962C8B-B14F-4D97-AF65-F5344CB8AC3E}">
        <p14:creationId xmlns:p14="http://schemas.microsoft.com/office/powerpoint/2010/main" val="3716035005"/>
      </p:ext>
    </p:extLst>
  </p:cSld>
  <p:clrMapOvr>
    <a:masterClrMapping/>
  </p:clrMapOvr>
  <p:transition spd="slow">
    <p:push/>
  </p:transition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918B9CDC-0021-4A26-850A-0FECCE6A77D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543300" y="1372477"/>
            <a:ext cx="8509000" cy="2056523"/>
          </a:xfrm>
          <a:prstGeom prst="rect">
            <a:avLst/>
          </a:prstGeom>
        </p:spPr>
      </p:pic>
      <p:sp>
        <p:nvSpPr>
          <p:cNvPr id="2" name="Text Placeholder 1"/>
          <p:cNvSpPr>
            <a:spLocks noGrp="1"/>
          </p:cNvSpPr>
          <p:nvPr>
            <p:ph type="body" sz="quarter" idx="4294967295"/>
          </p:nvPr>
        </p:nvSpPr>
        <p:spPr>
          <a:xfrm>
            <a:off x="0" y="401638"/>
            <a:ext cx="9021763" cy="571500"/>
          </a:xfrm>
        </p:spPr>
        <p:txBody>
          <a:bodyPr/>
          <a:lstStyle/>
          <a:p>
            <a:r>
              <a:rPr lang="en-US" dirty="0"/>
              <a:t>Register Receiver</a:t>
            </a:r>
          </a:p>
        </p:txBody>
      </p:sp>
      <p:sp>
        <p:nvSpPr>
          <p:cNvPr id="7" name="Oval 6"/>
          <p:cNvSpPr/>
          <p:nvPr/>
        </p:nvSpPr>
        <p:spPr>
          <a:xfrm>
            <a:off x="9123363" y="1933903"/>
            <a:ext cx="457200" cy="457200"/>
          </a:xfrm>
          <a:prstGeom prst="ellipse">
            <a:avLst/>
          </a:prstGeom>
          <a:solidFill>
            <a:schemeClr val="accent2">
              <a:lumMod val="60000"/>
              <a:lumOff val="40000"/>
            </a:schemeClr>
          </a:solidFill>
        </p:spPr>
        <p:style>
          <a:lnRef idx="2">
            <a:schemeClr val="lt1">
              <a:hueOff val="0"/>
              <a:satOff val="0"/>
              <a:lumOff val="0"/>
              <a:alphaOff val="0"/>
            </a:schemeClr>
          </a:lnRef>
          <a:fillRef idx="1">
            <a:schemeClr val="accent3">
              <a:alpha val="50000"/>
              <a:hueOff val="2710599"/>
              <a:satOff val="100000"/>
              <a:lumOff val="-14706"/>
              <a:alphaOff val="0"/>
            </a:schemeClr>
          </a:fillRef>
          <a:effectRef idx="0">
            <a:schemeClr val="accent3">
              <a:alpha val="50000"/>
              <a:hueOff val="2710599"/>
              <a:satOff val="100000"/>
              <a:lumOff val="-14706"/>
              <a:alphaOff val="0"/>
            </a:schemeClr>
          </a:effectRef>
          <a:fontRef idx="minor">
            <a:schemeClr val="tx1"/>
          </a:fontRef>
        </p:style>
        <p:txBody>
          <a:bodyPr/>
          <a:lstStyle/>
          <a:p>
            <a:pPr algn="ctr"/>
            <a:r>
              <a:rPr lang="en-US" dirty="0">
                <a:solidFill>
                  <a:srgbClr val="FF0000"/>
                </a:solidFill>
              </a:rPr>
              <a:t>2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42AAA55D-BD34-4FE8-B9CD-06E08A9211E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1372477"/>
            <a:ext cx="3248478" cy="2314898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2E72B7B9-1904-4B51-87A9-30537DE55B4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79968" y="3707317"/>
            <a:ext cx="9219139" cy="2749045"/>
          </a:xfrm>
          <a:prstGeom prst="rect">
            <a:avLst/>
          </a:prstGeom>
        </p:spPr>
      </p:pic>
      <p:sp>
        <p:nvSpPr>
          <p:cNvPr id="8" name="Oval 7">
            <a:extLst>
              <a:ext uri="{FF2B5EF4-FFF2-40B4-BE49-F238E27FC236}">
                <a16:creationId xmlns:a16="http://schemas.microsoft.com/office/drawing/2014/main" id="{03C5ED52-A7F9-4B8B-A828-C28BB79D45C5}"/>
              </a:ext>
            </a:extLst>
          </p:cNvPr>
          <p:cNvSpPr/>
          <p:nvPr/>
        </p:nvSpPr>
        <p:spPr>
          <a:xfrm>
            <a:off x="8127705" y="2437754"/>
            <a:ext cx="457200" cy="457200"/>
          </a:xfrm>
          <a:prstGeom prst="ellipse">
            <a:avLst/>
          </a:prstGeom>
          <a:solidFill>
            <a:schemeClr val="accent2">
              <a:lumMod val="60000"/>
              <a:lumOff val="40000"/>
            </a:schemeClr>
          </a:solidFill>
        </p:spPr>
        <p:style>
          <a:lnRef idx="2">
            <a:schemeClr val="lt1">
              <a:hueOff val="0"/>
              <a:satOff val="0"/>
              <a:lumOff val="0"/>
              <a:alphaOff val="0"/>
            </a:schemeClr>
          </a:lnRef>
          <a:fillRef idx="1">
            <a:schemeClr val="accent3">
              <a:alpha val="50000"/>
              <a:hueOff val="2710599"/>
              <a:satOff val="100000"/>
              <a:lumOff val="-14706"/>
              <a:alphaOff val="0"/>
            </a:schemeClr>
          </a:fillRef>
          <a:effectRef idx="0">
            <a:schemeClr val="accent3">
              <a:alpha val="50000"/>
              <a:hueOff val="2710599"/>
              <a:satOff val="100000"/>
              <a:lumOff val="-14706"/>
              <a:alphaOff val="0"/>
            </a:schemeClr>
          </a:effectRef>
          <a:fontRef idx="minor">
            <a:schemeClr val="tx1"/>
          </a:fontRef>
        </p:style>
        <p:txBody>
          <a:bodyPr/>
          <a:lstStyle/>
          <a:p>
            <a:pPr algn="ctr"/>
            <a:r>
              <a:rPr lang="en-US" dirty="0">
                <a:solidFill>
                  <a:srgbClr val="FF0000"/>
                </a:solidFill>
              </a:rPr>
              <a:t>3</a:t>
            </a:r>
          </a:p>
        </p:txBody>
      </p:sp>
      <p:sp>
        <p:nvSpPr>
          <p:cNvPr id="9" name="Oval 8">
            <a:extLst>
              <a:ext uri="{FF2B5EF4-FFF2-40B4-BE49-F238E27FC236}">
                <a16:creationId xmlns:a16="http://schemas.microsoft.com/office/drawing/2014/main" id="{E014AC69-37BF-4544-A9E8-0E0316D96721}"/>
              </a:ext>
            </a:extLst>
          </p:cNvPr>
          <p:cNvSpPr/>
          <p:nvPr/>
        </p:nvSpPr>
        <p:spPr>
          <a:xfrm>
            <a:off x="5779655" y="6019104"/>
            <a:ext cx="457200" cy="457200"/>
          </a:xfrm>
          <a:prstGeom prst="ellipse">
            <a:avLst/>
          </a:prstGeom>
          <a:solidFill>
            <a:schemeClr val="accent2">
              <a:lumMod val="60000"/>
              <a:lumOff val="40000"/>
            </a:schemeClr>
          </a:solidFill>
        </p:spPr>
        <p:style>
          <a:lnRef idx="2">
            <a:schemeClr val="lt1">
              <a:hueOff val="0"/>
              <a:satOff val="0"/>
              <a:lumOff val="0"/>
              <a:alphaOff val="0"/>
            </a:schemeClr>
          </a:lnRef>
          <a:fillRef idx="1">
            <a:schemeClr val="accent3">
              <a:alpha val="50000"/>
              <a:hueOff val="2710599"/>
              <a:satOff val="100000"/>
              <a:lumOff val="-14706"/>
              <a:alphaOff val="0"/>
            </a:schemeClr>
          </a:fillRef>
          <a:effectRef idx="0">
            <a:schemeClr val="accent3">
              <a:alpha val="50000"/>
              <a:hueOff val="2710599"/>
              <a:satOff val="100000"/>
              <a:lumOff val="-14706"/>
              <a:alphaOff val="0"/>
            </a:schemeClr>
          </a:effectRef>
          <a:fontRef idx="minor">
            <a:schemeClr val="tx1"/>
          </a:fontRef>
        </p:style>
        <p:txBody>
          <a:bodyPr/>
          <a:lstStyle/>
          <a:p>
            <a:pPr algn="ctr"/>
            <a:r>
              <a:rPr lang="en-US" dirty="0">
                <a:solidFill>
                  <a:srgbClr val="FF0000"/>
                </a:solidFill>
              </a:rPr>
              <a:t>4</a:t>
            </a:r>
          </a:p>
        </p:txBody>
      </p:sp>
      <p:sp>
        <p:nvSpPr>
          <p:cNvPr id="10" name="Oval 9">
            <a:extLst>
              <a:ext uri="{FF2B5EF4-FFF2-40B4-BE49-F238E27FC236}">
                <a16:creationId xmlns:a16="http://schemas.microsoft.com/office/drawing/2014/main" id="{68F2BC6E-7221-4B04-852B-5E4FA34B6CEC}"/>
              </a:ext>
            </a:extLst>
          </p:cNvPr>
          <p:cNvSpPr/>
          <p:nvPr/>
        </p:nvSpPr>
        <p:spPr>
          <a:xfrm>
            <a:off x="2585742" y="1873056"/>
            <a:ext cx="457200" cy="457200"/>
          </a:xfrm>
          <a:prstGeom prst="ellipse">
            <a:avLst/>
          </a:prstGeom>
          <a:solidFill>
            <a:schemeClr val="accent2">
              <a:lumMod val="60000"/>
              <a:lumOff val="40000"/>
            </a:schemeClr>
          </a:solidFill>
        </p:spPr>
        <p:style>
          <a:lnRef idx="2">
            <a:schemeClr val="lt1">
              <a:hueOff val="0"/>
              <a:satOff val="0"/>
              <a:lumOff val="0"/>
              <a:alphaOff val="0"/>
            </a:schemeClr>
          </a:lnRef>
          <a:fillRef idx="1">
            <a:schemeClr val="accent3">
              <a:alpha val="50000"/>
              <a:hueOff val="2710599"/>
              <a:satOff val="100000"/>
              <a:lumOff val="-14706"/>
              <a:alphaOff val="0"/>
            </a:schemeClr>
          </a:fillRef>
          <a:effectRef idx="0">
            <a:schemeClr val="accent3">
              <a:alpha val="50000"/>
              <a:hueOff val="2710599"/>
              <a:satOff val="100000"/>
              <a:lumOff val="-14706"/>
              <a:alphaOff val="0"/>
            </a:schemeClr>
          </a:effectRef>
          <a:fontRef idx="minor">
            <a:schemeClr val="tx1"/>
          </a:fontRef>
        </p:style>
        <p:txBody>
          <a:bodyPr/>
          <a:lstStyle/>
          <a:p>
            <a:pPr algn="ctr"/>
            <a:r>
              <a:rPr lang="en-US" dirty="0">
                <a:solidFill>
                  <a:srgbClr val="FF0000"/>
                </a:solidFill>
              </a:rPr>
              <a:t>1</a:t>
            </a:r>
          </a:p>
        </p:txBody>
      </p:sp>
    </p:spTree>
    <p:extLst>
      <p:ext uri="{BB962C8B-B14F-4D97-AF65-F5344CB8AC3E}">
        <p14:creationId xmlns:p14="http://schemas.microsoft.com/office/powerpoint/2010/main" val="578364395"/>
      </p:ext>
    </p:extLst>
  </p:cSld>
  <p:clrMapOvr>
    <a:masterClrMapping/>
  </p:clrMapOvr>
  <p:transition spd="slow">
    <p:push/>
  </p:transition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/>
          <p:cNvSpPr>
            <a:spLocks noGrp="1"/>
          </p:cNvSpPr>
          <p:nvPr>
            <p:ph type="body" sz="quarter" idx="4294967295"/>
          </p:nvPr>
        </p:nvSpPr>
        <p:spPr>
          <a:xfrm>
            <a:off x="0" y="401638"/>
            <a:ext cx="9021763" cy="571500"/>
          </a:xfrm>
        </p:spPr>
        <p:txBody>
          <a:bodyPr/>
          <a:lstStyle/>
          <a:p>
            <a:r>
              <a:rPr lang="en-US" dirty="0" err="1"/>
              <a:t>iBanking</a:t>
            </a:r>
            <a:r>
              <a:rPr lang="en-US" dirty="0"/>
              <a:t> Transfers: Nature and Approval Process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A8EDAB0B-7A10-4020-8224-A1AF141C0599}"/>
              </a:ext>
            </a:extLst>
          </p:cNvPr>
          <p:cNvSpPr/>
          <p:nvPr/>
        </p:nvSpPr>
        <p:spPr>
          <a:xfrm>
            <a:off x="1363513" y="1736443"/>
            <a:ext cx="1554019" cy="1092200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E2D63838-A50B-4D92-8FF5-1325F3F9EE3B}"/>
              </a:ext>
            </a:extLst>
          </p:cNvPr>
          <p:cNvSpPr/>
          <p:nvPr/>
        </p:nvSpPr>
        <p:spPr>
          <a:xfrm>
            <a:off x="4031091" y="1721431"/>
            <a:ext cx="1641765" cy="1092200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D208EFB9-3485-4D98-8C5C-7CC13249BD3E}"/>
              </a:ext>
            </a:extLst>
          </p:cNvPr>
          <p:cNvSpPr/>
          <p:nvPr/>
        </p:nvSpPr>
        <p:spPr>
          <a:xfrm>
            <a:off x="6423882" y="3668139"/>
            <a:ext cx="1302328" cy="914400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EC030BEE-9A0D-4CFB-BCCE-A5710AF2F045}"/>
              </a:ext>
            </a:extLst>
          </p:cNvPr>
          <p:cNvSpPr txBox="1"/>
          <p:nvPr/>
        </p:nvSpPr>
        <p:spPr>
          <a:xfrm>
            <a:off x="1903117" y="2230601"/>
            <a:ext cx="474810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200" dirty="0"/>
              <a:t>User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3212C4D1-C66A-4D27-B683-74BEAD7F188E}"/>
              </a:ext>
            </a:extLst>
          </p:cNvPr>
          <p:cNvSpPr txBox="1"/>
          <p:nvPr/>
        </p:nvSpPr>
        <p:spPr>
          <a:xfrm>
            <a:off x="4394119" y="2111772"/>
            <a:ext cx="1313376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/>
              <a:t>Transaction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17281158-0B46-4366-A996-8685DBB45A82}"/>
              </a:ext>
            </a:extLst>
          </p:cNvPr>
          <p:cNvSpPr txBox="1"/>
          <p:nvPr/>
        </p:nvSpPr>
        <p:spPr>
          <a:xfrm>
            <a:off x="6715387" y="2044060"/>
            <a:ext cx="1182255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/>
              <a:t>Pending Approval</a:t>
            </a:r>
          </a:p>
        </p:txBody>
      </p:sp>
      <p:sp>
        <p:nvSpPr>
          <p:cNvPr id="14" name="Diamond 13">
            <a:extLst>
              <a:ext uri="{FF2B5EF4-FFF2-40B4-BE49-F238E27FC236}">
                <a16:creationId xmlns:a16="http://schemas.microsoft.com/office/drawing/2014/main" id="{A7C8D4B7-5291-4C15-89EF-DB160DD3FB35}"/>
              </a:ext>
            </a:extLst>
          </p:cNvPr>
          <p:cNvSpPr/>
          <p:nvPr/>
        </p:nvSpPr>
        <p:spPr>
          <a:xfrm>
            <a:off x="6519146" y="1721431"/>
            <a:ext cx="1112972" cy="1092200"/>
          </a:xfrm>
          <a:prstGeom prst="diamond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8DF1C6EE-4E66-48D3-A71F-F21A8DB806AE}"/>
              </a:ext>
            </a:extLst>
          </p:cNvPr>
          <p:cNvSpPr txBox="1"/>
          <p:nvPr/>
        </p:nvSpPr>
        <p:spPr>
          <a:xfrm>
            <a:off x="6844053" y="3971450"/>
            <a:ext cx="420308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200" dirty="0"/>
              <a:t>End</a:t>
            </a: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67AE7D2C-F6DC-41F8-819B-E74C55B64956}"/>
              </a:ext>
            </a:extLst>
          </p:cNvPr>
          <p:cNvSpPr/>
          <p:nvPr/>
        </p:nvSpPr>
        <p:spPr>
          <a:xfrm>
            <a:off x="8918576" y="1730667"/>
            <a:ext cx="1554019" cy="1092200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96856A24-A2E8-4344-87E6-62E50EDBBB94}"/>
              </a:ext>
            </a:extLst>
          </p:cNvPr>
          <p:cNvSpPr txBox="1"/>
          <p:nvPr/>
        </p:nvSpPr>
        <p:spPr>
          <a:xfrm>
            <a:off x="9244179" y="2125686"/>
            <a:ext cx="665567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200" dirty="0"/>
              <a:t>Success</a:t>
            </a:r>
          </a:p>
        </p:txBody>
      </p:sp>
      <p:cxnSp>
        <p:nvCxnSpPr>
          <p:cNvPr id="20" name="Straight Arrow Connector 19">
            <a:extLst>
              <a:ext uri="{FF2B5EF4-FFF2-40B4-BE49-F238E27FC236}">
                <a16:creationId xmlns:a16="http://schemas.microsoft.com/office/drawing/2014/main" id="{73185CD7-68D0-4C8D-AEC3-0D54C5DF6297}"/>
              </a:ext>
            </a:extLst>
          </p:cNvPr>
          <p:cNvCxnSpPr>
            <a:cxnSpLocks/>
            <a:stCxn id="3" idx="3"/>
            <a:endCxn id="9" idx="1"/>
          </p:cNvCxnSpPr>
          <p:nvPr/>
        </p:nvCxnSpPr>
        <p:spPr>
          <a:xfrm flipV="1">
            <a:off x="2917532" y="2267531"/>
            <a:ext cx="1113559" cy="15012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" name="Straight Arrow Connector 24">
            <a:extLst>
              <a:ext uri="{FF2B5EF4-FFF2-40B4-BE49-F238E27FC236}">
                <a16:creationId xmlns:a16="http://schemas.microsoft.com/office/drawing/2014/main" id="{0DBE9734-9E09-4DE5-8A89-5BDB0E98818D}"/>
              </a:ext>
            </a:extLst>
          </p:cNvPr>
          <p:cNvCxnSpPr>
            <a:cxnSpLocks/>
            <a:stCxn id="12" idx="3"/>
            <a:endCxn id="14" idx="1"/>
          </p:cNvCxnSpPr>
          <p:nvPr/>
        </p:nvCxnSpPr>
        <p:spPr>
          <a:xfrm>
            <a:off x="5707495" y="2250272"/>
            <a:ext cx="811651" cy="17259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0" name="Straight Arrow Connector 29">
            <a:extLst>
              <a:ext uri="{FF2B5EF4-FFF2-40B4-BE49-F238E27FC236}">
                <a16:creationId xmlns:a16="http://schemas.microsoft.com/office/drawing/2014/main" id="{CCC8F076-33CC-4CC1-9C7B-5E72946F8E75}"/>
              </a:ext>
            </a:extLst>
          </p:cNvPr>
          <p:cNvCxnSpPr>
            <a:cxnSpLocks/>
            <a:stCxn id="14" idx="2"/>
            <a:endCxn id="11" idx="0"/>
          </p:cNvCxnSpPr>
          <p:nvPr/>
        </p:nvCxnSpPr>
        <p:spPr>
          <a:xfrm flipH="1">
            <a:off x="7075046" y="2813631"/>
            <a:ext cx="586" cy="854508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3" name="Straight Arrow Connector 32">
            <a:extLst>
              <a:ext uri="{FF2B5EF4-FFF2-40B4-BE49-F238E27FC236}">
                <a16:creationId xmlns:a16="http://schemas.microsoft.com/office/drawing/2014/main" id="{BC17032E-AE2B-4CF5-9DF4-F644E1916B39}"/>
              </a:ext>
            </a:extLst>
          </p:cNvPr>
          <p:cNvCxnSpPr>
            <a:cxnSpLocks/>
            <a:stCxn id="14" idx="3"/>
            <a:endCxn id="17" idx="1"/>
          </p:cNvCxnSpPr>
          <p:nvPr/>
        </p:nvCxnSpPr>
        <p:spPr>
          <a:xfrm>
            <a:off x="7632118" y="2267531"/>
            <a:ext cx="1286458" cy="9236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7" name="TextBox 36">
            <a:extLst>
              <a:ext uri="{FF2B5EF4-FFF2-40B4-BE49-F238E27FC236}">
                <a16:creationId xmlns:a16="http://schemas.microsoft.com/office/drawing/2014/main" id="{018A642E-DC24-4EE2-A202-85C5A05EE19E}"/>
              </a:ext>
            </a:extLst>
          </p:cNvPr>
          <p:cNvSpPr txBox="1"/>
          <p:nvPr/>
        </p:nvSpPr>
        <p:spPr>
          <a:xfrm>
            <a:off x="7765459" y="1809300"/>
            <a:ext cx="710579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200" dirty="0"/>
              <a:t>Approve</a:t>
            </a:r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DC32678A-B8A3-4EB8-A23D-1EBEBFC86448}"/>
              </a:ext>
            </a:extLst>
          </p:cNvPr>
          <p:cNvSpPr txBox="1"/>
          <p:nvPr/>
        </p:nvSpPr>
        <p:spPr>
          <a:xfrm>
            <a:off x="7199709" y="3121894"/>
            <a:ext cx="573106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200" dirty="0"/>
              <a:t>Reject</a:t>
            </a:r>
          </a:p>
        </p:txBody>
      </p:sp>
      <p:sp>
        <p:nvSpPr>
          <p:cNvPr id="41" name="TextBox 40">
            <a:extLst>
              <a:ext uri="{FF2B5EF4-FFF2-40B4-BE49-F238E27FC236}">
                <a16:creationId xmlns:a16="http://schemas.microsoft.com/office/drawing/2014/main" id="{28783547-DD1B-4052-BCCC-AF1948E37407}"/>
              </a:ext>
            </a:extLst>
          </p:cNvPr>
          <p:cNvSpPr txBox="1"/>
          <p:nvPr/>
        </p:nvSpPr>
        <p:spPr>
          <a:xfrm>
            <a:off x="71581" y="4522647"/>
            <a:ext cx="10783946" cy="14773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Approval Type:</a:t>
            </a:r>
            <a:br>
              <a:rPr lang="en-US" dirty="0"/>
            </a:br>
            <a:r>
              <a:rPr lang="en-US" dirty="0"/>
              <a:t>Normal: required 1 approver</a:t>
            </a:r>
          </a:p>
          <a:p>
            <a:r>
              <a:rPr lang="en-US" dirty="0"/>
              <a:t>Level 2: required 2 approver</a:t>
            </a:r>
          </a:p>
          <a:p>
            <a:r>
              <a:rPr lang="en-US" dirty="0"/>
              <a:t>Approval limit: Implemented with a complex matrix (group, rule, level) configured based on service type and transaction amount</a:t>
            </a:r>
          </a:p>
        </p:txBody>
      </p:sp>
    </p:spTree>
    <p:extLst>
      <p:ext uri="{BB962C8B-B14F-4D97-AF65-F5344CB8AC3E}">
        <p14:creationId xmlns:p14="http://schemas.microsoft.com/office/powerpoint/2010/main" val="2713380965"/>
      </p:ext>
    </p:extLst>
  </p:cSld>
  <p:clrMapOvr>
    <a:masterClrMapping/>
  </p:clrMapOvr>
  <p:transition spd="slow">
    <p:push/>
  </p:transition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/>
          <p:cNvSpPr>
            <a:spLocks noGrp="1"/>
          </p:cNvSpPr>
          <p:nvPr>
            <p:ph type="body" sz="quarter" idx="4294967295"/>
          </p:nvPr>
        </p:nvSpPr>
        <p:spPr>
          <a:xfrm>
            <a:off x="0" y="401638"/>
            <a:ext cx="9021763" cy="571500"/>
          </a:xfrm>
        </p:spPr>
        <p:txBody>
          <a:bodyPr/>
          <a:lstStyle/>
          <a:p>
            <a:r>
              <a:rPr lang="en-US" dirty="0" err="1"/>
              <a:t>iBanking</a:t>
            </a:r>
            <a:r>
              <a:rPr lang="en-US" dirty="0"/>
              <a:t> Transfers: Nature and Approval Process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1FA5FBDA-4C28-46D9-97DC-C224337A66E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732323"/>
            <a:ext cx="12192000" cy="5125677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0B073C60-62B1-4F31-9AE7-816017BF5127}"/>
              </a:ext>
            </a:extLst>
          </p:cNvPr>
          <p:cNvSpPr txBox="1"/>
          <p:nvPr/>
        </p:nvSpPr>
        <p:spPr>
          <a:xfrm>
            <a:off x="195309" y="1168064"/>
            <a:ext cx="782861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Example</a:t>
            </a:r>
            <a:r>
              <a:rPr lang="en-US" sz="1400" dirty="0"/>
              <a:t>: configuration for pay role service with amount smaller then 100  &amp; amount  greater than 100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77854852"/>
      </p:ext>
    </p:extLst>
  </p:cSld>
  <p:clrMapOvr>
    <a:masterClrMapping/>
  </p:clrMapOvr>
  <p:transition spd="slow">
    <p:push/>
  </p:transition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" name="Picture 11">
            <a:extLst>
              <a:ext uri="{FF2B5EF4-FFF2-40B4-BE49-F238E27FC236}">
                <a16:creationId xmlns:a16="http://schemas.microsoft.com/office/drawing/2014/main" id="{C22F166C-11B1-475A-92CD-BD3E9547DC6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875287"/>
            <a:ext cx="12192000" cy="2368000"/>
          </a:xfrm>
          <a:prstGeom prst="rect">
            <a:avLst/>
          </a:prstGeom>
        </p:spPr>
      </p:pic>
      <p:sp>
        <p:nvSpPr>
          <p:cNvPr id="2" name="Text Placeholder 1"/>
          <p:cNvSpPr>
            <a:spLocks noGrp="1"/>
          </p:cNvSpPr>
          <p:nvPr>
            <p:ph type="body" sz="quarter" idx="4294967295"/>
          </p:nvPr>
        </p:nvSpPr>
        <p:spPr>
          <a:xfrm>
            <a:off x="41763" y="127443"/>
            <a:ext cx="9021763" cy="571500"/>
          </a:xfrm>
        </p:spPr>
        <p:txBody>
          <a:bodyPr/>
          <a:lstStyle/>
          <a:p>
            <a:r>
              <a:rPr lang="en-US" dirty="0"/>
              <a:t>Account Management</a:t>
            </a:r>
          </a:p>
        </p:txBody>
      </p:sp>
      <p:sp>
        <p:nvSpPr>
          <p:cNvPr id="7" name="Oval 6"/>
          <p:cNvSpPr/>
          <p:nvPr/>
        </p:nvSpPr>
        <p:spPr>
          <a:xfrm>
            <a:off x="1396705" y="1375075"/>
            <a:ext cx="457200" cy="457200"/>
          </a:xfrm>
          <a:prstGeom prst="ellipse">
            <a:avLst/>
          </a:prstGeom>
          <a:solidFill>
            <a:schemeClr val="accent2">
              <a:lumMod val="60000"/>
              <a:lumOff val="40000"/>
            </a:schemeClr>
          </a:solidFill>
        </p:spPr>
        <p:style>
          <a:lnRef idx="2">
            <a:schemeClr val="lt1">
              <a:hueOff val="0"/>
              <a:satOff val="0"/>
              <a:lumOff val="0"/>
              <a:alphaOff val="0"/>
            </a:schemeClr>
          </a:lnRef>
          <a:fillRef idx="1">
            <a:schemeClr val="accent3">
              <a:alpha val="50000"/>
              <a:hueOff val="2710599"/>
              <a:satOff val="100000"/>
              <a:lumOff val="-14706"/>
              <a:alphaOff val="0"/>
            </a:schemeClr>
          </a:fillRef>
          <a:effectRef idx="0">
            <a:schemeClr val="accent3">
              <a:alpha val="50000"/>
              <a:hueOff val="2710599"/>
              <a:satOff val="100000"/>
              <a:lumOff val="-14706"/>
              <a:alphaOff val="0"/>
            </a:schemeClr>
          </a:effectRef>
          <a:fontRef idx="minor">
            <a:schemeClr val="tx1"/>
          </a:fontRef>
        </p:style>
        <p:txBody>
          <a:bodyPr/>
          <a:lstStyle/>
          <a:p>
            <a:pPr algn="ctr"/>
            <a:r>
              <a:rPr lang="en-US" dirty="0">
                <a:solidFill>
                  <a:srgbClr val="002060"/>
                </a:solidFill>
              </a:rPr>
              <a:t>1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456D4413-D17A-4371-8DBD-316E356E1EF0}"/>
              </a:ext>
            </a:extLst>
          </p:cNvPr>
          <p:cNvSpPr txBox="1"/>
          <p:nvPr/>
        </p:nvSpPr>
        <p:spPr>
          <a:xfrm>
            <a:off x="6096000" y="3991131"/>
            <a:ext cx="5935053" cy="203132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Download Statement for Viewing Transactions Within a Specified Period</a:t>
            </a:r>
          </a:p>
          <a:p>
            <a:pPr marL="342900" indent="-342900">
              <a:buFont typeface="+mj-lt"/>
              <a:buAutoNum type="arabicPeriod"/>
            </a:pPr>
            <a:r>
              <a:rPr lang="en-US" dirty="0"/>
              <a:t>Click on the side menu </a:t>
            </a:r>
            <a:r>
              <a:rPr lang="en-US" b="1" dirty="0"/>
              <a:t>“Account Management.”</a:t>
            </a:r>
            <a:endParaRPr lang="en-US" dirty="0"/>
          </a:p>
          <a:p>
            <a:pPr marL="342900" indent="-342900">
              <a:buFont typeface="+mj-lt"/>
              <a:buAutoNum type="arabicPeriod"/>
            </a:pPr>
            <a:r>
              <a:rPr lang="en-US" dirty="0"/>
              <a:t>Click on the </a:t>
            </a:r>
            <a:r>
              <a:rPr lang="en-US" b="1" dirty="0"/>
              <a:t>Action</a:t>
            </a:r>
            <a:r>
              <a:rPr lang="en-US" dirty="0"/>
              <a:t> icon.</a:t>
            </a:r>
          </a:p>
          <a:p>
            <a:pPr marL="342900" indent="-342900">
              <a:buFont typeface="+mj-lt"/>
              <a:buAutoNum type="arabicPeriod"/>
            </a:pPr>
            <a:r>
              <a:rPr lang="en-US" dirty="0"/>
              <a:t>Select </a:t>
            </a:r>
            <a:r>
              <a:rPr lang="en-US" b="1" dirty="0"/>
              <a:t>“Download Statement.”</a:t>
            </a:r>
          </a:p>
          <a:p>
            <a:pPr marL="342900" indent="-342900">
              <a:buFont typeface="+mj-lt"/>
              <a:buAutoNum type="arabicPeriod"/>
            </a:pPr>
            <a:r>
              <a:rPr lang="en-US" dirty="0"/>
              <a:t>Select period of time and click PDF/Excel</a:t>
            </a:r>
          </a:p>
          <a:p>
            <a:endParaRPr lang="en-US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CFC1FF67-383C-47F9-8665-939EF2A5E4A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3904838"/>
            <a:ext cx="5696745" cy="2953162"/>
          </a:xfrm>
          <a:prstGeom prst="rect">
            <a:avLst/>
          </a:prstGeom>
        </p:spPr>
      </p:pic>
      <p:sp>
        <p:nvSpPr>
          <p:cNvPr id="13" name="Oval 12">
            <a:extLst>
              <a:ext uri="{FF2B5EF4-FFF2-40B4-BE49-F238E27FC236}">
                <a16:creationId xmlns:a16="http://schemas.microsoft.com/office/drawing/2014/main" id="{19429CE5-CBC8-46F4-A02F-DDE710BD1365}"/>
              </a:ext>
            </a:extLst>
          </p:cNvPr>
          <p:cNvSpPr/>
          <p:nvPr/>
        </p:nvSpPr>
        <p:spPr>
          <a:xfrm>
            <a:off x="10820105" y="2888262"/>
            <a:ext cx="457200" cy="457200"/>
          </a:xfrm>
          <a:prstGeom prst="ellipse">
            <a:avLst/>
          </a:prstGeom>
          <a:solidFill>
            <a:schemeClr val="accent2">
              <a:lumMod val="60000"/>
              <a:lumOff val="40000"/>
            </a:schemeClr>
          </a:solidFill>
        </p:spPr>
        <p:style>
          <a:lnRef idx="2">
            <a:schemeClr val="lt1">
              <a:hueOff val="0"/>
              <a:satOff val="0"/>
              <a:lumOff val="0"/>
              <a:alphaOff val="0"/>
            </a:schemeClr>
          </a:lnRef>
          <a:fillRef idx="1">
            <a:schemeClr val="accent3">
              <a:alpha val="50000"/>
              <a:hueOff val="2710599"/>
              <a:satOff val="100000"/>
              <a:lumOff val="-14706"/>
              <a:alphaOff val="0"/>
            </a:schemeClr>
          </a:fillRef>
          <a:effectRef idx="0">
            <a:schemeClr val="accent3">
              <a:alpha val="50000"/>
              <a:hueOff val="2710599"/>
              <a:satOff val="100000"/>
              <a:lumOff val="-14706"/>
              <a:alphaOff val="0"/>
            </a:schemeClr>
          </a:effectRef>
          <a:fontRef idx="minor">
            <a:schemeClr val="tx1"/>
          </a:fontRef>
        </p:style>
        <p:txBody>
          <a:bodyPr/>
          <a:lstStyle/>
          <a:p>
            <a:pPr algn="ctr"/>
            <a:r>
              <a:rPr lang="en-US" dirty="0">
                <a:solidFill>
                  <a:srgbClr val="002060"/>
                </a:solidFill>
              </a:rPr>
              <a:t>3</a:t>
            </a:r>
          </a:p>
        </p:txBody>
      </p:sp>
      <p:sp>
        <p:nvSpPr>
          <p:cNvPr id="14" name="Oval 13">
            <a:extLst>
              <a:ext uri="{FF2B5EF4-FFF2-40B4-BE49-F238E27FC236}">
                <a16:creationId xmlns:a16="http://schemas.microsoft.com/office/drawing/2014/main" id="{5987C2C5-F09E-4FAE-94AF-9041D9499826}"/>
              </a:ext>
            </a:extLst>
          </p:cNvPr>
          <p:cNvSpPr/>
          <p:nvPr/>
        </p:nvSpPr>
        <p:spPr>
          <a:xfrm>
            <a:off x="11467805" y="1966640"/>
            <a:ext cx="376847" cy="433687"/>
          </a:xfrm>
          <a:prstGeom prst="ellipse">
            <a:avLst/>
          </a:prstGeom>
          <a:solidFill>
            <a:schemeClr val="accent2">
              <a:lumMod val="60000"/>
              <a:lumOff val="40000"/>
            </a:schemeClr>
          </a:solidFill>
        </p:spPr>
        <p:style>
          <a:lnRef idx="2">
            <a:schemeClr val="lt1">
              <a:hueOff val="0"/>
              <a:satOff val="0"/>
              <a:lumOff val="0"/>
              <a:alphaOff val="0"/>
            </a:schemeClr>
          </a:lnRef>
          <a:fillRef idx="1">
            <a:schemeClr val="accent3">
              <a:alpha val="50000"/>
              <a:hueOff val="2710599"/>
              <a:satOff val="100000"/>
              <a:lumOff val="-14706"/>
              <a:alphaOff val="0"/>
            </a:schemeClr>
          </a:fillRef>
          <a:effectRef idx="0">
            <a:schemeClr val="accent3">
              <a:alpha val="50000"/>
              <a:hueOff val="2710599"/>
              <a:satOff val="100000"/>
              <a:lumOff val="-14706"/>
              <a:alphaOff val="0"/>
            </a:schemeClr>
          </a:effectRef>
          <a:fontRef idx="minor">
            <a:schemeClr val="tx1"/>
          </a:fontRef>
        </p:style>
        <p:txBody>
          <a:bodyPr/>
          <a:lstStyle/>
          <a:p>
            <a:pPr algn="ctr"/>
            <a:r>
              <a:rPr lang="en-US" dirty="0">
                <a:solidFill>
                  <a:srgbClr val="002060"/>
                </a:solidFill>
              </a:rPr>
              <a:t>2</a:t>
            </a:r>
          </a:p>
        </p:txBody>
      </p:sp>
      <p:sp>
        <p:nvSpPr>
          <p:cNvPr id="15" name="Oval 14">
            <a:extLst>
              <a:ext uri="{FF2B5EF4-FFF2-40B4-BE49-F238E27FC236}">
                <a16:creationId xmlns:a16="http://schemas.microsoft.com/office/drawing/2014/main" id="{7647452D-8AFC-4D77-960E-B07EE711578A}"/>
              </a:ext>
            </a:extLst>
          </p:cNvPr>
          <p:cNvSpPr/>
          <p:nvPr/>
        </p:nvSpPr>
        <p:spPr>
          <a:xfrm>
            <a:off x="2006305" y="3908313"/>
            <a:ext cx="457200" cy="457200"/>
          </a:xfrm>
          <a:prstGeom prst="ellipse">
            <a:avLst/>
          </a:prstGeom>
          <a:solidFill>
            <a:schemeClr val="accent2">
              <a:lumMod val="60000"/>
              <a:lumOff val="40000"/>
            </a:schemeClr>
          </a:solidFill>
        </p:spPr>
        <p:style>
          <a:lnRef idx="2">
            <a:schemeClr val="lt1">
              <a:hueOff val="0"/>
              <a:satOff val="0"/>
              <a:lumOff val="0"/>
              <a:alphaOff val="0"/>
            </a:schemeClr>
          </a:lnRef>
          <a:fillRef idx="1">
            <a:schemeClr val="accent3">
              <a:alpha val="50000"/>
              <a:hueOff val="2710599"/>
              <a:satOff val="100000"/>
              <a:lumOff val="-14706"/>
              <a:alphaOff val="0"/>
            </a:schemeClr>
          </a:fillRef>
          <a:effectRef idx="0">
            <a:schemeClr val="accent3">
              <a:alpha val="50000"/>
              <a:hueOff val="2710599"/>
              <a:satOff val="100000"/>
              <a:lumOff val="-14706"/>
              <a:alphaOff val="0"/>
            </a:schemeClr>
          </a:effectRef>
          <a:fontRef idx="minor">
            <a:schemeClr val="tx1"/>
          </a:fontRef>
        </p:style>
        <p:txBody>
          <a:bodyPr/>
          <a:lstStyle/>
          <a:p>
            <a:pPr algn="ctr"/>
            <a:r>
              <a:rPr lang="en-US" dirty="0">
                <a:solidFill>
                  <a:srgbClr val="002060"/>
                </a:solidFill>
              </a:rPr>
              <a:t>4</a:t>
            </a:r>
          </a:p>
        </p:txBody>
      </p:sp>
    </p:spTree>
    <p:extLst>
      <p:ext uri="{BB962C8B-B14F-4D97-AF65-F5344CB8AC3E}">
        <p14:creationId xmlns:p14="http://schemas.microsoft.com/office/powerpoint/2010/main" val="382847586"/>
      </p:ext>
    </p:extLst>
  </p:cSld>
  <p:clrMapOvr>
    <a:masterClrMapping/>
  </p:clrMapOvr>
  <p:transition spd="slow">
    <p:push/>
  </p:transition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E8C168A8-34DF-414A-A8C1-57828E2D995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187236"/>
            <a:ext cx="3219899" cy="1895740"/>
          </a:xfrm>
          <a:prstGeom prst="rect">
            <a:avLst/>
          </a:prstGeom>
        </p:spPr>
      </p:pic>
      <p:sp>
        <p:nvSpPr>
          <p:cNvPr id="2" name="Text Placeholder 1"/>
          <p:cNvSpPr>
            <a:spLocks noGrp="1"/>
          </p:cNvSpPr>
          <p:nvPr>
            <p:ph type="body" sz="quarter" idx="4294967295"/>
          </p:nvPr>
        </p:nvSpPr>
        <p:spPr>
          <a:xfrm>
            <a:off x="0" y="401638"/>
            <a:ext cx="9021763" cy="571500"/>
          </a:xfrm>
        </p:spPr>
        <p:txBody>
          <a:bodyPr/>
          <a:lstStyle/>
          <a:p>
            <a:r>
              <a:rPr lang="en-US" dirty="0"/>
              <a:t>Payroll</a:t>
            </a:r>
          </a:p>
        </p:txBody>
      </p:sp>
      <p:sp>
        <p:nvSpPr>
          <p:cNvPr id="7" name="Oval 6"/>
          <p:cNvSpPr/>
          <p:nvPr/>
        </p:nvSpPr>
        <p:spPr>
          <a:xfrm>
            <a:off x="1943709" y="1632393"/>
            <a:ext cx="457200" cy="457200"/>
          </a:xfrm>
          <a:prstGeom prst="ellipse">
            <a:avLst/>
          </a:prstGeom>
          <a:solidFill>
            <a:schemeClr val="accent2">
              <a:lumMod val="60000"/>
              <a:lumOff val="40000"/>
            </a:schemeClr>
          </a:solidFill>
        </p:spPr>
        <p:style>
          <a:lnRef idx="2">
            <a:schemeClr val="lt1">
              <a:hueOff val="0"/>
              <a:satOff val="0"/>
              <a:lumOff val="0"/>
              <a:alphaOff val="0"/>
            </a:schemeClr>
          </a:lnRef>
          <a:fillRef idx="1">
            <a:schemeClr val="accent3">
              <a:alpha val="50000"/>
              <a:hueOff val="2710599"/>
              <a:satOff val="100000"/>
              <a:lumOff val="-14706"/>
              <a:alphaOff val="0"/>
            </a:schemeClr>
          </a:fillRef>
          <a:effectRef idx="0">
            <a:schemeClr val="accent3">
              <a:alpha val="50000"/>
              <a:hueOff val="2710599"/>
              <a:satOff val="100000"/>
              <a:lumOff val="-14706"/>
              <a:alphaOff val="0"/>
            </a:schemeClr>
          </a:effectRef>
          <a:fontRef idx="minor">
            <a:schemeClr val="tx1"/>
          </a:fontRef>
        </p:style>
        <p:txBody>
          <a:bodyPr/>
          <a:lstStyle/>
          <a:p>
            <a:pPr algn="ctr"/>
            <a:r>
              <a:rPr lang="en-US" dirty="0">
                <a:solidFill>
                  <a:srgbClr val="FF0000"/>
                </a:solidFill>
              </a:rPr>
              <a:t>1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1A44D441-F51F-4189-9B65-5391C9C4D03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3177637"/>
            <a:ext cx="12192000" cy="3474525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96A69733-7DBD-44F5-B7EE-A5A6C1983C85}"/>
              </a:ext>
            </a:extLst>
          </p:cNvPr>
          <p:cNvSpPr txBox="1"/>
          <p:nvPr/>
        </p:nvSpPr>
        <p:spPr>
          <a:xfrm>
            <a:off x="6642100" y="1336723"/>
            <a:ext cx="3377591" cy="147732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Payroll</a:t>
            </a:r>
          </a:p>
          <a:p>
            <a:pPr marL="342900" indent="-342900">
              <a:buFont typeface="+mj-lt"/>
              <a:buAutoNum type="arabicPeriod"/>
            </a:pPr>
            <a:r>
              <a:rPr lang="en-US" dirty="0"/>
              <a:t>Click on Payroll -&gt; Payroll(Add)</a:t>
            </a:r>
          </a:p>
          <a:p>
            <a:pPr marL="342900" indent="-342900">
              <a:buFont typeface="+mj-lt"/>
              <a:buAutoNum type="arabicPeriod"/>
            </a:pPr>
            <a:r>
              <a:rPr lang="en-US" dirty="0"/>
              <a:t>Enter required data</a:t>
            </a:r>
          </a:p>
          <a:p>
            <a:pPr marL="342900" indent="-342900">
              <a:buFont typeface="+mj-lt"/>
              <a:buAutoNum type="arabicPeriod"/>
            </a:pPr>
            <a:r>
              <a:rPr lang="en-US" dirty="0"/>
              <a:t>Click on submit</a:t>
            </a:r>
          </a:p>
          <a:p>
            <a:endParaRPr lang="en-US" dirty="0"/>
          </a:p>
        </p:txBody>
      </p:sp>
      <p:sp>
        <p:nvSpPr>
          <p:cNvPr id="8" name="Oval 7">
            <a:extLst>
              <a:ext uri="{FF2B5EF4-FFF2-40B4-BE49-F238E27FC236}">
                <a16:creationId xmlns:a16="http://schemas.microsoft.com/office/drawing/2014/main" id="{907A61BD-84CF-465B-ABD3-5150B09FEDFE}"/>
              </a:ext>
            </a:extLst>
          </p:cNvPr>
          <p:cNvSpPr/>
          <p:nvPr/>
        </p:nvSpPr>
        <p:spPr>
          <a:xfrm>
            <a:off x="10261305" y="4510988"/>
            <a:ext cx="457200" cy="457200"/>
          </a:xfrm>
          <a:prstGeom prst="ellipse">
            <a:avLst/>
          </a:prstGeom>
          <a:solidFill>
            <a:schemeClr val="accent2">
              <a:lumMod val="60000"/>
              <a:lumOff val="40000"/>
            </a:schemeClr>
          </a:solidFill>
        </p:spPr>
        <p:style>
          <a:lnRef idx="2">
            <a:schemeClr val="lt1">
              <a:hueOff val="0"/>
              <a:satOff val="0"/>
              <a:lumOff val="0"/>
              <a:alphaOff val="0"/>
            </a:schemeClr>
          </a:lnRef>
          <a:fillRef idx="1">
            <a:schemeClr val="accent3">
              <a:alpha val="50000"/>
              <a:hueOff val="2710599"/>
              <a:satOff val="100000"/>
              <a:lumOff val="-14706"/>
              <a:alphaOff val="0"/>
            </a:schemeClr>
          </a:fillRef>
          <a:effectRef idx="0">
            <a:schemeClr val="accent3">
              <a:alpha val="50000"/>
              <a:hueOff val="2710599"/>
              <a:satOff val="100000"/>
              <a:lumOff val="-14706"/>
              <a:alphaOff val="0"/>
            </a:schemeClr>
          </a:effectRef>
          <a:fontRef idx="minor">
            <a:schemeClr val="tx1"/>
          </a:fontRef>
        </p:style>
        <p:txBody>
          <a:bodyPr/>
          <a:lstStyle/>
          <a:p>
            <a:pPr algn="ctr"/>
            <a:r>
              <a:rPr lang="en-US" dirty="0">
                <a:solidFill>
                  <a:srgbClr val="FF0000"/>
                </a:solidFill>
              </a:rPr>
              <a:t>2</a:t>
            </a:r>
          </a:p>
        </p:txBody>
      </p:sp>
      <p:sp>
        <p:nvSpPr>
          <p:cNvPr id="9" name="Oval 8">
            <a:extLst>
              <a:ext uri="{FF2B5EF4-FFF2-40B4-BE49-F238E27FC236}">
                <a16:creationId xmlns:a16="http://schemas.microsoft.com/office/drawing/2014/main" id="{36992A8B-1CF7-4B13-B7BE-89D18D34F77D}"/>
              </a:ext>
            </a:extLst>
          </p:cNvPr>
          <p:cNvSpPr/>
          <p:nvPr/>
        </p:nvSpPr>
        <p:spPr>
          <a:xfrm>
            <a:off x="6629105" y="5780988"/>
            <a:ext cx="457200" cy="457200"/>
          </a:xfrm>
          <a:prstGeom prst="ellipse">
            <a:avLst/>
          </a:prstGeom>
          <a:solidFill>
            <a:schemeClr val="accent2">
              <a:lumMod val="60000"/>
              <a:lumOff val="40000"/>
            </a:schemeClr>
          </a:solidFill>
        </p:spPr>
        <p:style>
          <a:lnRef idx="2">
            <a:schemeClr val="lt1">
              <a:hueOff val="0"/>
              <a:satOff val="0"/>
              <a:lumOff val="0"/>
              <a:alphaOff val="0"/>
            </a:schemeClr>
          </a:lnRef>
          <a:fillRef idx="1">
            <a:schemeClr val="accent3">
              <a:alpha val="50000"/>
              <a:hueOff val="2710599"/>
              <a:satOff val="100000"/>
              <a:lumOff val="-14706"/>
              <a:alphaOff val="0"/>
            </a:schemeClr>
          </a:fillRef>
          <a:effectRef idx="0">
            <a:schemeClr val="accent3">
              <a:alpha val="50000"/>
              <a:hueOff val="2710599"/>
              <a:satOff val="100000"/>
              <a:lumOff val="-14706"/>
              <a:alphaOff val="0"/>
            </a:schemeClr>
          </a:effectRef>
          <a:fontRef idx="minor">
            <a:schemeClr val="tx1"/>
          </a:fontRef>
        </p:style>
        <p:txBody>
          <a:bodyPr/>
          <a:lstStyle/>
          <a:p>
            <a:pPr algn="ctr"/>
            <a:r>
              <a:rPr lang="en-US" dirty="0">
                <a:solidFill>
                  <a:srgbClr val="FF0000"/>
                </a:solidFill>
              </a:rPr>
              <a:t>3</a:t>
            </a:r>
          </a:p>
        </p:txBody>
      </p:sp>
    </p:spTree>
    <p:extLst>
      <p:ext uri="{BB962C8B-B14F-4D97-AF65-F5344CB8AC3E}">
        <p14:creationId xmlns:p14="http://schemas.microsoft.com/office/powerpoint/2010/main" val="4239828583"/>
      </p:ext>
    </p:extLst>
  </p:cSld>
  <p:clrMapOvr>
    <a:masterClrMapping/>
  </p:clrMapOvr>
  <p:transition spd="slow">
    <p:push/>
  </p:transition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CBC03F99-33D5-426A-86D0-DD66491D1A6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2974988"/>
            <a:ext cx="3191320" cy="1905266"/>
          </a:xfrm>
          <a:prstGeom prst="rect">
            <a:avLst/>
          </a:prstGeom>
        </p:spPr>
      </p:pic>
      <p:sp>
        <p:nvSpPr>
          <p:cNvPr id="2" name="Text Placeholder 1"/>
          <p:cNvSpPr>
            <a:spLocks noGrp="1"/>
          </p:cNvSpPr>
          <p:nvPr>
            <p:ph type="body" sz="quarter" idx="4294967295"/>
          </p:nvPr>
        </p:nvSpPr>
        <p:spPr>
          <a:xfrm>
            <a:off x="0" y="401638"/>
            <a:ext cx="9021763" cy="571500"/>
          </a:xfrm>
        </p:spPr>
        <p:txBody>
          <a:bodyPr/>
          <a:lstStyle/>
          <a:p>
            <a:r>
              <a:rPr lang="en-US" dirty="0"/>
              <a:t>Payroll Bulk</a:t>
            </a:r>
          </a:p>
        </p:txBody>
      </p:sp>
      <p:sp>
        <p:nvSpPr>
          <p:cNvPr id="7" name="Oval 6"/>
          <p:cNvSpPr/>
          <p:nvPr/>
        </p:nvSpPr>
        <p:spPr>
          <a:xfrm>
            <a:off x="1720906" y="3819010"/>
            <a:ext cx="457200" cy="457200"/>
          </a:xfrm>
          <a:prstGeom prst="ellipse">
            <a:avLst/>
          </a:prstGeom>
          <a:solidFill>
            <a:schemeClr val="accent2">
              <a:lumMod val="60000"/>
              <a:lumOff val="40000"/>
            </a:schemeClr>
          </a:solidFill>
        </p:spPr>
        <p:style>
          <a:lnRef idx="2">
            <a:schemeClr val="lt1">
              <a:hueOff val="0"/>
              <a:satOff val="0"/>
              <a:lumOff val="0"/>
              <a:alphaOff val="0"/>
            </a:schemeClr>
          </a:lnRef>
          <a:fillRef idx="1">
            <a:schemeClr val="accent3">
              <a:alpha val="50000"/>
              <a:hueOff val="2710599"/>
              <a:satOff val="100000"/>
              <a:lumOff val="-14706"/>
              <a:alphaOff val="0"/>
            </a:schemeClr>
          </a:fillRef>
          <a:effectRef idx="0">
            <a:schemeClr val="accent3">
              <a:alpha val="50000"/>
              <a:hueOff val="2710599"/>
              <a:satOff val="100000"/>
              <a:lumOff val="-14706"/>
              <a:alphaOff val="0"/>
            </a:schemeClr>
          </a:effectRef>
          <a:fontRef idx="minor">
            <a:schemeClr val="tx1"/>
          </a:fontRef>
        </p:style>
        <p:txBody>
          <a:bodyPr/>
          <a:lstStyle/>
          <a:p>
            <a:pPr algn="ctr"/>
            <a:r>
              <a:rPr lang="en-US" dirty="0">
                <a:solidFill>
                  <a:srgbClr val="FF0000"/>
                </a:solidFill>
              </a:rPr>
              <a:t>1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82F5EB75-1624-49D1-9F1D-319BAB5D1D9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191320" y="2974988"/>
            <a:ext cx="8876393" cy="1688044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C1DD43BB-BF49-42E4-A1E2-E4943AE56AF6}"/>
              </a:ext>
            </a:extLst>
          </p:cNvPr>
          <p:cNvSpPr txBox="1"/>
          <p:nvPr/>
        </p:nvSpPr>
        <p:spPr>
          <a:xfrm>
            <a:off x="452762" y="1096900"/>
            <a:ext cx="3450688" cy="175432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Payroll Bulk</a:t>
            </a:r>
          </a:p>
          <a:p>
            <a:pPr marL="342900" indent="-342900">
              <a:buFont typeface="+mj-lt"/>
              <a:buAutoNum type="arabicPeriod"/>
            </a:pPr>
            <a:r>
              <a:rPr lang="en-US" dirty="0"/>
              <a:t>Click on Payroll -&gt; Payroll(Add)</a:t>
            </a:r>
          </a:p>
          <a:p>
            <a:pPr marL="342900" indent="-342900">
              <a:buFont typeface="+mj-lt"/>
              <a:buAutoNum type="arabicPeriod"/>
            </a:pPr>
            <a:r>
              <a:rPr lang="en-US" dirty="0"/>
              <a:t>Choose Upload File</a:t>
            </a:r>
          </a:p>
          <a:p>
            <a:pPr marL="342900" indent="-342900">
              <a:buFont typeface="+mj-lt"/>
              <a:buAutoNum type="arabicPeriod"/>
            </a:pPr>
            <a:r>
              <a:rPr lang="en-US" dirty="0"/>
              <a:t>Click Submit</a:t>
            </a:r>
          </a:p>
          <a:p>
            <a:pPr marL="342900" indent="-342900">
              <a:buFont typeface="+mj-lt"/>
              <a:buAutoNum type="arabicPeriod"/>
            </a:pPr>
            <a:r>
              <a:rPr lang="en-US" dirty="0"/>
              <a:t> After review click submit again</a:t>
            </a:r>
          </a:p>
          <a:p>
            <a:endParaRPr lang="en-US" dirty="0"/>
          </a:p>
        </p:txBody>
      </p:sp>
      <p:sp>
        <p:nvSpPr>
          <p:cNvPr id="8" name="Oval 7">
            <a:extLst>
              <a:ext uri="{FF2B5EF4-FFF2-40B4-BE49-F238E27FC236}">
                <a16:creationId xmlns:a16="http://schemas.microsoft.com/office/drawing/2014/main" id="{002D27B0-F93E-4EFC-8A32-24DEE1E23CED}"/>
              </a:ext>
            </a:extLst>
          </p:cNvPr>
          <p:cNvSpPr/>
          <p:nvPr/>
        </p:nvSpPr>
        <p:spPr>
          <a:xfrm>
            <a:off x="7924752" y="4047610"/>
            <a:ext cx="457200" cy="457200"/>
          </a:xfrm>
          <a:prstGeom prst="ellipse">
            <a:avLst/>
          </a:prstGeom>
          <a:solidFill>
            <a:schemeClr val="accent2">
              <a:lumMod val="60000"/>
              <a:lumOff val="40000"/>
            </a:schemeClr>
          </a:solidFill>
        </p:spPr>
        <p:style>
          <a:lnRef idx="2">
            <a:schemeClr val="lt1">
              <a:hueOff val="0"/>
              <a:satOff val="0"/>
              <a:lumOff val="0"/>
              <a:alphaOff val="0"/>
            </a:schemeClr>
          </a:lnRef>
          <a:fillRef idx="1">
            <a:schemeClr val="accent3">
              <a:alpha val="50000"/>
              <a:hueOff val="2710599"/>
              <a:satOff val="100000"/>
              <a:lumOff val="-14706"/>
              <a:alphaOff val="0"/>
            </a:schemeClr>
          </a:fillRef>
          <a:effectRef idx="0">
            <a:schemeClr val="accent3">
              <a:alpha val="50000"/>
              <a:hueOff val="2710599"/>
              <a:satOff val="100000"/>
              <a:lumOff val="-14706"/>
              <a:alphaOff val="0"/>
            </a:schemeClr>
          </a:effectRef>
          <a:fontRef idx="minor">
            <a:schemeClr val="tx1"/>
          </a:fontRef>
        </p:style>
        <p:txBody>
          <a:bodyPr/>
          <a:lstStyle/>
          <a:p>
            <a:pPr algn="ctr"/>
            <a:r>
              <a:rPr lang="en-US" dirty="0">
                <a:solidFill>
                  <a:srgbClr val="FF0000"/>
                </a:solidFill>
              </a:rPr>
              <a:t>3</a:t>
            </a:r>
          </a:p>
        </p:txBody>
      </p:sp>
      <p:sp>
        <p:nvSpPr>
          <p:cNvPr id="9" name="Oval 8">
            <a:extLst>
              <a:ext uri="{FF2B5EF4-FFF2-40B4-BE49-F238E27FC236}">
                <a16:creationId xmlns:a16="http://schemas.microsoft.com/office/drawing/2014/main" id="{CE3579E8-A9CD-47D9-B3B3-4EAAA8598081}"/>
              </a:ext>
            </a:extLst>
          </p:cNvPr>
          <p:cNvSpPr/>
          <p:nvPr/>
        </p:nvSpPr>
        <p:spPr>
          <a:xfrm>
            <a:off x="9284514" y="3590410"/>
            <a:ext cx="457200" cy="457200"/>
          </a:xfrm>
          <a:prstGeom prst="ellipse">
            <a:avLst/>
          </a:prstGeom>
          <a:solidFill>
            <a:schemeClr val="accent2">
              <a:lumMod val="60000"/>
              <a:lumOff val="40000"/>
            </a:schemeClr>
          </a:solidFill>
        </p:spPr>
        <p:style>
          <a:lnRef idx="2">
            <a:schemeClr val="lt1">
              <a:hueOff val="0"/>
              <a:satOff val="0"/>
              <a:lumOff val="0"/>
              <a:alphaOff val="0"/>
            </a:schemeClr>
          </a:lnRef>
          <a:fillRef idx="1">
            <a:schemeClr val="accent3">
              <a:alpha val="50000"/>
              <a:hueOff val="2710599"/>
              <a:satOff val="100000"/>
              <a:lumOff val="-14706"/>
              <a:alphaOff val="0"/>
            </a:schemeClr>
          </a:fillRef>
          <a:effectRef idx="0">
            <a:schemeClr val="accent3">
              <a:alpha val="50000"/>
              <a:hueOff val="2710599"/>
              <a:satOff val="100000"/>
              <a:lumOff val="-14706"/>
              <a:alphaOff val="0"/>
            </a:schemeClr>
          </a:effectRef>
          <a:fontRef idx="minor">
            <a:schemeClr val="tx1"/>
          </a:fontRef>
        </p:style>
        <p:txBody>
          <a:bodyPr/>
          <a:lstStyle/>
          <a:p>
            <a:pPr algn="ctr"/>
            <a:r>
              <a:rPr lang="en-US" dirty="0">
                <a:solidFill>
                  <a:srgbClr val="FF0000"/>
                </a:solidFill>
              </a:rPr>
              <a:t>2</a:t>
            </a:r>
          </a:p>
        </p:txBody>
      </p:sp>
    </p:spTree>
    <p:extLst>
      <p:ext uri="{BB962C8B-B14F-4D97-AF65-F5344CB8AC3E}">
        <p14:creationId xmlns:p14="http://schemas.microsoft.com/office/powerpoint/2010/main" val="1877676963"/>
      </p:ext>
    </p:extLst>
  </p:cSld>
  <p:clrMapOvr>
    <a:masterClrMapping/>
  </p:clrMapOvr>
  <p:transition spd="slow">
    <p:push/>
  </p:transition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8F4B9AA9-2F96-4920-9CF8-1E20E0EAF37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119462"/>
            <a:ext cx="12192000" cy="5336900"/>
          </a:xfrm>
          <a:prstGeom prst="rect">
            <a:avLst/>
          </a:prstGeom>
        </p:spPr>
      </p:pic>
      <p:sp>
        <p:nvSpPr>
          <p:cNvPr id="2" name="Text Placeholder 1"/>
          <p:cNvSpPr>
            <a:spLocks noGrp="1"/>
          </p:cNvSpPr>
          <p:nvPr>
            <p:ph type="body" sz="quarter" idx="4294967295"/>
          </p:nvPr>
        </p:nvSpPr>
        <p:spPr>
          <a:xfrm>
            <a:off x="0" y="401638"/>
            <a:ext cx="9021763" cy="571500"/>
          </a:xfrm>
        </p:spPr>
        <p:txBody>
          <a:bodyPr/>
          <a:lstStyle/>
          <a:p>
            <a:r>
              <a:rPr lang="en-US" dirty="0"/>
              <a:t>Payroll Bulk</a:t>
            </a:r>
          </a:p>
        </p:txBody>
      </p:sp>
      <p:sp>
        <p:nvSpPr>
          <p:cNvPr id="7" name="Oval 6"/>
          <p:cNvSpPr/>
          <p:nvPr/>
        </p:nvSpPr>
        <p:spPr>
          <a:xfrm>
            <a:off x="7142037" y="5999162"/>
            <a:ext cx="457200" cy="457200"/>
          </a:xfrm>
          <a:prstGeom prst="ellipse">
            <a:avLst/>
          </a:prstGeom>
          <a:solidFill>
            <a:schemeClr val="accent2">
              <a:lumMod val="60000"/>
              <a:lumOff val="40000"/>
            </a:schemeClr>
          </a:solidFill>
        </p:spPr>
        <p:style>
          <a:lnRef idx="2">
            <a:schemeClr val="lt1">
              <a:hueOff val="0"/>
              <a:satOff val="0"/>
              <a:lumOff val="0"/>
              <a:alphaOff val="0"/>
            </a:schemeClr>
          </a:lnRef>
          <a:fillRef idx="1">
            <a:schemeClr val="accent3">
              <a:alpha val="50000"/>
              <a:hueOff val="2710599"/>
              <a:satOff val="100000"/>
              <a:lumOff val="-14706"/>
              <a:alphaOff val="0"/>
            </a:schemeClr>
          </a:fillRef>
          <a:effectRef idx="0">
            <a:schemeClr val="accent3">
              <a:alpha val="50000"/>
              <a:hueOff val="2710599"/>
              <a:satOff val="100000"/>
              <a:lumOff val="-14706"/>
              <a:alphaOff val="0"/>
            </a:schemeClr>
          </a:effectRef>
          <a:fontRef idx="minor">
            <a:schemeClr val="tx1"/>
          </a:fontRef>
        </p:style>
        <p:txBody>
          <a:bodyPr/>
          <a:lstStyle/>
          <a:p>
            <a:pPr algn="ctr"/>
            <a:r>
              <a:rPr lang="en-US" dirty="0">
                <a:solidFill>
                  <a:srgbClr val="FF0000"/>
                </a:solidFill>
              </a:rPr>
              <a:t>4</a:t>
            </a:r>
          </a:p>
        </p:txBody>
      </p:sp>
    </p:spTree>
    <p:extLst>
      <p:ext uri="{BB962C8B-B14F-4D97-AF65-F5344CB8AC3E}">
        <p14:creationId xmlns:p14="http://schemas.microsoft.com/office/powerpoint/2010/main" val="2859496186"/>
      </p:ext>
    </p:extLst>
  </p:cSld>
  <p:clrMapOvr>
    <a:masterClrMapping/>
  </p:clrMapOvr>
  <p:transition spd="slow">
    <p:push/>
  </p:transition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8478B391-1D11-4A82-A042-1F4EC3E378B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082479"/>
            <a:ext cx="12192000" cy="2825834"/>
          </a:xfrm>
          <a:prstGeom prst="rect">
            <a:avLst/>
          </a:prstGeom>
        </p:spPr>
      </p:pic>
      <p:sp>
        <p:nvSpPr>
          <p:cNvPr id="2" name="Text Placeholder 1"/>
          <p:cNvSpPr>
            <a:spLocks noGrp="1"/>
          </p:cNvSpPr>
          <p:nvPr>
            <p:ph type="body" sz="quarter" idx="4294967295"/>
          </p:nvPr>
        </p:nvSpPr>
        <p:spPr>
          <a:xfrm>
            <a:off x="41763" y="127443"/>
            <a:ext cx="9021763" cy="571500"/>
          </a:xfrm>
        </p:spPr>
        <p:txBody>
          <a:bodyPr/>
          <a:lstStyle/>
          <a:p>
            <a:r>
              <a:rPr lang="en-US" dirty="0"/>
              <a:t>Phone Top Up</a:t>
            </a:r>
          </a:p>
        </p:txBody>
      </p:sp>
      <p:sp>
        <p:nvSpPr>
          <p:cNvPr id="7" name="Oval 6"/>
          <p:cNvSpPr/>
          <p:nvPr/>
        </p:nvSpPr>
        <p:spPr>
          <a:xfrm>
            <a:off x="939800" y="3200400"/>
            <a:ext cx="457200" cy="457200"/>
          </a:xfrm>
          <a:prstGeom prst="ellipse">
            <a:avLst/>
          </a:prstGeom>
          <a:solidFill>
            <a:schemeClr val="accent2">
              <a:lumMod val="60000"/>
              <a:lumOff val="40000"/>
            </a:schemeClr>
          </a:solidFill>
        </p:spPr>
        <p:style>
          <a:lnRef idx="2">
            <a:schemeClr val="lt1">
              <a:hueOff val="0"/>
              <a:satOff val="0"/>
              <a:lumOff val="0"/>
              <a:alphaOff val="0"/>
            </a:schemeClr>
          </a:lnRef>
          <a:fillRef idx="1">
            <a:schemeClr val="accent3">
              <a:alpha val="50000"/>
              <a:hueOff val="2710599"/>
              <a:satOff val="100000"/>
              <a:lumOff val="-14706"/>
              <a:alphaOff val="0"/>
            </a:schemeClr>
          </a:fillRef>
          <a:effectRef idx="0">
            <a:schemeClr val="accent3">
              <a:alpha val="50000"/>
              <a:hueOff val="2710599"/>
              <a:satOff val="100000"/>
              <a:lumOff val="-14706"/>
              <a:alphaOff val="0"/>
            </a:schemeClr>
          </a:effectRef>
          <a:fontRef idx="minor">
            <a:schemeClr val="tx1"/>
          </a:fontRef>
        </p:style>
        <p:txBody>
          <a:bodyPr/>
          <a:lstStyle/>
          <a:p>
            <a:pPr algn="ctr"/>
            <a:r>
              <a:rPr lang="en-US" dirty="0">
                <a:solidFill>
                  <a:srgbClr val="002060"/>
                </a:solidFill>
              </a:rPr>
              <a:t>1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456D4413-D17A-4371-8DBD-316E356E1EF0}"/>
              </a:ext>
            </a:extLst>
          </p:cNvPr>
          <p:cNvSpPr txBox="1"/>
          <p:nvPr/>
        </p:nvSpPr>
        <p:spPr>
          <a:xfrm>
            <a:off x="6096000" y="3991131"/>
            <a:ext cx="5935053" cy="175432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Phone Top up</a:t>
            </a:r>
          </a:p>
          <a:p>
            <a:pPr marL="342900" indent="-342900">
              <a:buFont typeface="+mj-lt"/>
              <a:buAutoNum type="arabicPeriod"/>
            </a:pPr>
            <a:r>
              <a:rPr lang="en-US" dirty="0"/>
              <a:t>Click on the side menu “Phone top up.”</a:t>
            </a:r>
          </a:p>
          <a:p>
            <a:pPr marL="342900" indent="-342900">
              <a:buFont typeface="+mj-lt"/>
              <a:buAutoNum type="arabicPeriod"/>
            </a:pPr>
            <a:r>
              <a:rPr lang="en-US" dirty="0"/>
              <a:t>Enter phone number</a:t>
            </a:r>
          </a:p>
          <a:p>
            <a:pPr marL="342900" indent="-342900">
              <a:buFont typeface="+mj-lt"/>
              <a:buAutoNum type="arabicPeriod"/>
            </a:pPr>
            <a:r>
              <a:rPr lang="en-US" dirty="0"/>
              <a:t>Select Amount that you want to transfer</a:t>
            </a:r>
          </a:p>
          <a:p>
            <a:pPr marL="342900" indent="-342900">
              <a:buFont typeface="+mj-lt"/>
              <a:buAutoNum type="arabicPeriod"/>
            </a:pPr>
            <a:r>
              <a:rPr lang="en-US" dirty="0"/>
              <a:t>Click Submit</a:t>
            </a:r>
          </a:p>
          <a:p>
            <a:endParaRPr lang="en-US" dirty="0"/>
          </a:p>
        </p:txBody>
      </p:sp>
      <p:sp>
        <p:nvSpPr>
          <p:cNvPr id="13" name="Oval 12">
            <a:extLst>
              <a:ext uri="{FF2B5EF4-FFF2-40B4-BE49-F238E27FC236}">
                <a16:creationId xmlns:a16="http://schemas.microsoft.com/office/drawing/2014/main" id="{19429CE5-CBC8-46F4-A02F-DDE710BD1365}"/>
              </a:ext>
            </a:extLst>
          </p:cNvPr>
          <p:cNvSpPr/>
          <p:nvPr/>
        </p:nvSpPr>
        <p:spPr>
          <a:xfrm>
            <a:off x="7264105" y="2743200"/>
            <a:ext cx="457200" cy="457200"/>
          </a:xfrm>
          <a:prstGeom prst="ellipse">
            <a:avLst/>
          </a:prstGeom>
          <a:solidFill>
            <a:schemeClr val="accent2">
              <a:lumMod val="60000"/>
              <a:lumOff val="40000"/>
            </a:schemeClr>
          </a:solidFill>
        </p:spPr>
        <p:style>
          <a:lnRef idx="2">
            <a:schemeClr val="lt1">
              <a:hueOff val="0"/>
              <a:satOff val="0"/>
              <a:lumOff val="0"/>
              <a:alphaOff val="0"/>
            </a:schemeClr>
          </a:lnRef>
          <a:fillRef idx="1">
            <a:schemeClr val="accent3">
              <a:alpha val="50000"/>
              <a:hueOff val="2710599"/>
              <a:satOff val="100000"/>
              <a:lumOff val="-14706"/>
              <a:alphaOff val="0"/>
            </a:schemeClr>
          </a:fillRef>
          <a:effectRef idx="0">
            <a:schemeClr val="accent3">
              <a:alpha val="50000"/>
              <a:hueOff val="2710599"/>
              <a:satOff val="100000"/>
              <a:lumOff val="-14706"/>
              <a:alphaOff val="0"/>
            </a:schemeClr>
          </a:effectRef>
          <a:fontRef idx="minor">
            <a:schemeClr val="tx1"/>
          </a:fontRef>
        </p:style>
        <p:txBody>
          <a:bodyPr/>
          <a:lstStyle/>
          <a:p>
            <a:pPr algn="ctr"/>
            <a:r>
              <a:rPr lang="en-US" dirty="0">
                <a:solidFill>
                  <a:srgbClr val="002060"/>
                </a:solidFill>
              </a:rPr>
              <a:t>4</a:t>
            </a:r>
          </a:p>
        </p:txBody>
      </p:sp>
      <p:sp>
        <p:nvSpPr>
          <p:cNvPr id="14" name="Oval 13">
            <a:extLst>
              <a:ext uri="{FF2B5EF4-FFF2-40B4-BE49-F238E27FC236}">
                <a16:creationId xmlns:a16="http://schemas.microsoft.com/office/drawing/2014/main" id="{5987C2C5-F09E-4FAE-94AF-9041D9499826}"/>
              </a:ext>
            </a:extLst>
          </p:cNvPr>
          <p:cNvSpPr/>
          <p:nvPr/>
        </p:nvSpPr>
        <p:spPr>
          <a:xfrm>
            <a:off x="5830786" y="1824137"/>
            <a:ext cx="457200" cy="371104"/>
          </a:xfrm>
          <a:prstGeom prst="ellipse">
            <a:avLst/>
          </a:prstGeom>
          <a:solidFill>
            <a:schemeClr val="accent2">
              <a:lumMod val="60000"/>
              <a:lumOff val="40000"/>
            </a:schemeClr>
          </a:solidFill>
        </p:spPr>
        <p:style>
          <a:lnRef idx="2">
            <a:schemeClr val="lt1">
              <a:hueOff val="0"/>
              <a:satOff val="0"/>
              <a:lumOff val="0"/>
              <a:alphaOff val="0"/>
            </a:schemeClr>
          </a:lnRef>
          <a:fillRef idx="1">
            <a:schemeClr val="accent3">
              <a:alpha val="50000"/>
              <a:hueOff val="2710599"/>
              <a:satOff val="100000"/>
              <a:lumOff val="-14706"/>
              <a:alphaOff val="0"/>
            </a:schemeClr>
          </a:fillRef>
          <a:effectRef idx="0">
            <a:schemeClr val="accent3">
              <a:alpha val="50000"/>
              <a:hueOff val="2710599"/>
              <a:satOff val="100000"/>
              <a:lumOff val="-14706"/>
              <a:alphaOff val="0"/>
            </a:schemeClr>
          </a:effectRef>
          <a:fontRef idx="minor">
            <a:schemeClr val="tx1"/>
          </a:fontRef>
        </p:style>
        <p:txBody>
          <a:bodyPr/>
          <a:lstStyle/>
          <a:p>
            <a:pPr algn="ctr"/>
            <a:r>
              <a:rPr lang="en-US" dirty="0">
                <a:solidFill>
                  <a:srgbClr val="002060"/>
                </a:solidFill>
              </a:rPr>
              <a:t>3</a:t>
            </a:r>
          </a:p>
        </p:txBody>
      </p:sp>
      <p:sp>
        <p:nvSpPr>
          <p:cNvPr id="15" name="Oval 14">
            <a:extLst>
              <a:ext uri="{FF2B5EF4-FFF2-40B4-BE49-F238E27FC236}">
                <a16:creationId xmlns:a16="http://schemas.microsoft.com/office/drawing/2014/main" id="{7647452D-8AFC-4D77-960E-B07EE711578A}"/>
              </a:ext>
            </a:extLst>
          </p:cNvPr>
          <p:cNvSpPr/>
          <p:nvPr/>
        </p:nvSpPr>
        <p:spPr>
          <a:xfrm>
            <a:off x="2781005" y="1738040"/>
            <a:ext cx="457200" cy="457200"/>
          </a:xfrm>
          <a:prstGeom prst="ellipse">
            <a:avLst/>
          </a:prstGeom>
          <a:solidFill>
            <a:schemeClr val="accent2">
              <a:lumMod val="60000"/>
              <a:lumOff val="40000"/>
            </a:schemeClr>
          </a:solidFill>
        </p:spPr>
        <p:style>
          <a:lnRef idx="2">
            <a:schemeClr val="lt1">
              <a:hueOff val="0"/>
              <a:satOff val="0"/>
              <a:lumOff val="0"/>
              <a:alphaOff val="0"/>
            </a:schemeClr>
          </a:lnRef>
          <a:fillRef idx="1">
            <a:schemeClr val="accent3">
              <a:alpha val="50000"/>
              <a:hueOff val="2710599"/>
              <a:satOff val="100000"/>
              <a:lumOff val="-14706"/>
              <a:alphaOff val="0"/>
            </a:schemeClr>
          </a:fillRef>
          <a:effectRef idx="0">
            <a:schemeClr val="accent3">
              <a:alpha val="50000"/>
              <a:hueOff val="2710599"/>
              <a:satOff val="100000"/>
              <a:lumOff val="-14706"/>
              <a:alphaOff val="0"/>
            </a:schemeClr>
          </a:effectRef>
          <a:fontRef idx="minor">
            <a:schemeClr val="tx1"/>
          </a:fontRef>
        </p:style>
        <p:txBody>
          <a:bodyPr/>
          <a:lstStyle/>
          <a:p>
            <a:pPr algn="ctr"/>
            <a:r>
              <a:rPr lang="en-US" dirty="0">
                <a:solidFill>
                  <a:srgbClr val="002060"/>
                </a:solidFill>
              </a:rPr>
              <a:t>2</a:t>
            </a:r>
          </a:p>
        </p:txBody>
      </p:sp>
    </p:spTree>
    <p:extLst>
      <p:ext uri="{BB962C8B-B14F-4D97-AF65-F5344CB8AC3E}">
        <p14:creationId xmlns:p14="http://schemas.microsoft.com/office/powerpoint/2010/main" val="3789016275"/>
      </p:ext>
    </p:extLst>
  </p:cSld>
  <p:clrMapOvr>
    <a:masterClrMapping/>
  </p:clrMapOvr>
  <p:transition spd="slow">
    <p:push/>
  </p:transition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51AB9DE9-7CAB-4B64-AB8B-9658A748485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1764" y="3752583"/>
            <a:ext cx="7460746" cy="1665059"/>
          </a:xfrm>
          <a:prstGeom prst="rect">
            <a:avLst/>
          </a:prstGeom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7A716861-953E-4CB0-8B53-CB0A4EC9AB05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0" y="639023"/>
            <a:ext cx="12150237" cy="2830742"/>
          </a:xfrm>
          <a:prstGeom prst="rect">
            <a:avLst/>
          </a:prstGeom>
        </p:spPr>
      </p:pic>
      <p:sp>
        <p:nvSpPr>
          <p:cNvPr id="2" name="Text Placeholder 1"/>
          <p:cNvSpPr>
            <a:spLocks noGrp="1"/>
          </p:cNvSpPr>
          <p:nvPr>
            <p:ph type="body" sz="quarter" idx="4294967295"/>
          </p:nvPr>
        </p:nvSpPr>
        <p:spPr>
          <a:xfrm>
            <a:off x="41763" y="127443"/>
            <a:ext cx="9021763" cy="571500"/>
          </a:xfrm>
        </p:spPr>
        <p:txBody>
          <a:bodyPr/>
          <a:lstStyle/>
          <a:p>
            <a:r>
              <a:rPr lang="en-US" dirty="0"/>
              <a:t>Phone </a:t>
            </a:r>
            <a:r>
              <a:rPr lang="en-US" dirty="0" err="1"/>
              <a:t>Topup</a:t>
            </a:r>
            <a:r>
              <a:rPr lang="en-US" dirty="0"/>
              <a:t> Bulk</a:t>
            </a:r>
          </a:p>
        </p:txBody>
      </p:sp>
      <p:sp>
        <p:nvSpPr>
          <p:cNvPr id="7" name="Oval 6"/>
          <p:cNvSpPr/>
          <p:nvPr/>
        </p:nvSpPr>
        <p:spPr>
          <a:xfrm>
            <a:off x="1181100" y="3012565"/>
            <a:ext cx="457200" cy="457200"/>
          </a:xfrm>
          <a:prstGeom prst="ellipse">
            <a:avLst/>
          </a:prstGeom>
          <a:solidFill>
            <a:schemeClr val="accent2">
              <a:lumMod val="60000"/>
              <a:lumOff val="40000"/>
            </a:schemeClr>
          </a:solidFill>
        </p:spPr>
        <p:style>
          <a:lnRef idx="2">
            <a:schemeClr val="lt1">
              <a:hueOff val="0"/>
              <a:satOff val="0"/>
              <a:lumOff val="0"/>
              <a:alphaOff val="0"/>
            </a:schemeClr>
          </a:lnRef>
          <a:fillRef idx="1">
            <a:schemeClr val="accent3">
              <a:alpha val="50000"/>
              <a:hueOff val="2710599"/>
              <a:satOff val="100000"/>
              <a:lumOff val="-14706"/>
              <a:alphaOff val="0"/>
            </a:schemeClr>
          </a:fillRef>
          <a:effectRef idx="0">
            <a:schemeClr val="accent3">
              <a:alpha val="50000"/>
              <a:hueOff val="2710599"/>
              <a:satOff val="100000"/>
              <a:lumOff val="-14706"/>
              <a:alphaOff val="0"/>
            </a:schemeClr>
          </a:effectRef>
          <a:fontRef idx="minor">
            <a:schemeClr val="tx1"/>
          </a:fontRef>
        </p:style>
        <p:txBody>
          <a:bodyPr/>
          <a:lstStyle/>
          <a:p>
            <a:pPr algn="ctr"/>
            <a:r>
              <a:rPr lang="en-US" dirty="0">
                <a:solidFill>
                  <a:srgbClr val="002060"/>
                </a:solidFill>
              </a:rPr>
              <a:t>1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456D4413-D17A-4371-8DBD-316E356E1EF0}"/>
              </a:ext>
            </a:extLst>
          </p:cNvPr>
          <p:cNvSpPr txBox="1"/>
          <p:nvPr/>
        </p:nvSpPr>
        <p:spPr>
          <a:xfrm>
            <a:off x="7860731" y="3469765"/>
            <a:ext cx="4140769" cy="230832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Phone Top up</a:t>
            </a:r>
          </a:p>
          <a:p>
            <a:pPr marL="342900" indent="-342900">
              <a:buFont typeface="+mj-lt"/>
              <a:buAutoNum type="arabicPeriod"/>
            </a:pPr>
            <a:r>
              <a:rPr lang="en-US" dirty="0"/>
              <a:t>Click the side menu "Phone Top Up (Bulk)"</a:t>
            </a:r>
          </a:p>
          <a:p>
            <a:pPr marL="342900" indent="-342900">
              <a:buFont typeface="+mj-lt"/>
              <a:buAutoNum type="arabicPeriod"/>
            </a:pPr>
            <a:r>
              <a:rPr lang="en-US" dirty="0"/>
              <a:t>Choose and upload the file</a:t>
            </a:r>
          </a:p>
          <a:p>
            <a:pPr marL="342900" indent="-342900">
              <a:buFont typeface="+mj-lt"/>
              <a:buAutoNum type="arabicPeriod"/>
            </a:pPr>
            <a:r>
              <a:rPr lang="en-US" dirty="0"/>
              <a:t>Click Submit</a:t>
            </a:r>
          </a:p>
          <a:p>
            <a:pPr marL="342900" indent="-342900">
              <a:buFont typeface="+mj-lt"/>
              <a:buAutoNum type="arabicPeriod"/>
            </a:pPr>
            <a:r>
              <a:rPr lang="en-US" dirty="0"/>
              <a:t>After reviewing and confirming the details, click Submit again</a:t>
            </a:r>
          </a:p>
          <a:p>
            <a:endParaRPr lang="en-US" dirty="0"/>
          </a:p>
        </p:txBody>
      </p:sp>
      <p:sp>
        <p:nvSpPr>
          <p:cNvPr id="13" name="Oval 12">
            <a:extLst>
              <a:ext uri="{FF2B5EF4-FFF2-40B4-BE49-F238E27FC236}">
                <a16:creationId xmlns:a16="http://schemas.microsoft.com/office/drawing/2014/main" id="{19429CE5-CBC8-46F4-A02F-DDE710BD1365}"/>
              </a:ext>
            </a:extLst>
          </p:cNvPr>
          <p:cNvSpPr/>
          <p:nvPr/>
        </p:nvSpPr>
        <p:spPr>
          <a:xfrm>
            <a:off x="4292316" y="4995491"/>
            <a:ext cx="457200" cy="457200"/>
          </a:xfrm>
          <a:prstGeom prst="ellipse">
            <a:avLst/>
          </a:prstGeom>
          <a:solidFill>
            <a:schemeClr val="accent2">
              <a:lumMod val="60000"/>
              <a:lumOff val="40000"/>
            </a:schemeClr>
          </a:solidFill>
        </p:spPr>
        <p:style>
          <a:lnRef idx="2">
            <a:schemeClr val="lt1">
              <a:hueOff val="0"/>
              <a:satOff val="0"/>
              <a:lumOff val="0"/>
              <a:alphaOff val="0"/>
            </a:schemeClr>
          </a:lnRef>
          <a:fillRef idx="1">
            <a:schemeClr val="accent3">
              <a:alpha val="50000"/>
              <a:hueOff val="2710599"/>
              <a:satOff val="100000"/>
              <a:lumOff val="-14706"/>
              <a:alphaOff val="0"/>
            </a:schemeClr>
          </a:fillRef>
          <a:effectRef idx="0">
            <a:schemeClr val="accent3">
              <a:alpha val="50000"/>
              <a:hueOff val="2710599"/>
              <a:satOff val="100000"/>
              <a:lumOff val="-14706"/>
              <a:alphaOff val="0"/>
            </a:schemeClr>
          </a:effectRef>
          <a:fontRef idx="minor">
            <a:schemeClr val="tx1"/>
          </a:fontRef>
        </p:style>
        <p:txBody>
          <a:bodyPr/>
          <a:lstStyle/>
          <a:p>
            <a:pPr algn="ctr"/>
            <a:r>
              <a:rPr lang="en-US" dirty="0">
                <a:solidFill>
                  <a:srgbClr val="002060"/>
                </a:solidFill>
              </a:rPr>
              <a:t>3</a:t>
            </a:r>
          </a:p>
        </p:txBody>
      </p:sp>
      <p:sp>
        <p:nvSpPr>
          <p:cNvPr id="14" name="Oval 13">
            <a:extLst>
              <a:ext uri="{FF2B5EF4-FFF2-40B4-BE49-F238E27FC236}">
                <a16:creationId xmlns:a16="http://schemas.microsoft.com/office/drawing/2014/main" id="{5987C2C5-F09E-4FAE-94AF-9041D9499826}"/>
              </a:ext>
            </a:extLst>
          </p:cNvPr>
          <p:cNvSpPr/>
          <p:nvPr/>
        </p:nvSpPr>
        <p:spPr>
          <a:xfrm>
            <a:off x="7160911" y="1855754"/>
            <a:ext cx="457200" cy="371104"/>
          </a:xfrm>
          <a:prstGeom prst="ellipse">
            <a:avLst/>
          </a:prstGeom>
          <a:solidFill>
            <a:schemeClr val="accent2">
              <a:lumMod val="60000"/>
              <a:lumOff val="40000"/>
            </a:schemeClr>
          </a:solidFill>
        </p:spPr>
        <p:style>
          <a:lnRef idx="2">
            <a:schemeClr val="lt1">
              <a:hueOff val="0"/>
              <a:satOff val="0"/>
              <a:lumOff val="0"/>
              <a:alphaOff val="0"/>
            </a:schemeClr>
          </a:lnRef>
          <a:fillRef idx="1">
            <a:schemeClr val="accent3">
              <a:alpha val="50000"/>
              <a:hueOff val="2710599"/>
              <a:satOff val="100000"/>
              <a:lumOff val="-14706"/>
              <a:alphaOff val="0"/>
            </a:schemeClr>
          </a:fillRef>
          <a:effectRef idx="0">
            <a:schemeClr val="accent3">
              <a:alpha val="50000"/>
              <a:hueOff val="2710599"/>
              <a:satOff val="100000"/>
              <a:lumOff val="-14706"/>
              <a:alphaOff val="0"/>
            </a:schemeClr>
          </a:effectRef>
          <a:fontRef idx="minor">
            <a:schemeClr val="tx1"/>
          </a:fontRef>
        </p:style>
        <p:txBody>
          <a:bodyPr/>
          <a:lstStyle/>
          <a:p>
            <a:pPr algn="ctr"/>
            <a:r>
              <a:rPr lang="en-US" dirty="0">
                <a:solidFill>
                  <a:srgbClr val="002060"/>
                </a:solidFill>
              </a:rPr>
              <a:t>2</a:t>
            </a:r>
          </a:p>
        </p:txBody>
      </p:sp>
      <p:sp>
        <p:nvSpPr>
          <p:cNvPr id="15" name="Oval 14">
            <a:extLst>
              <a:ext uri="{FF2B5EF4-FFF2-40B4-BE49-F238E27FC236}">
                <a16:creationId xmlns:a16="http://schemas.microsoft.com/office/drawing/2014/main" id="{7647452D-8AFC-4D77-960E-B07EE711578A}"/>
              </a:ext>
            </a:extLst>
          </p:cNvPr>
          <p:cNvSpPr/>
          <p:nvPr/>
        </p:nvSpPr>
        <p:spPr>
          <a:xfrm>
            <a:off x="4095444" y="1398554"/>
            <a:ext cx="457200" cy="457200"/>
          </a:xfrm>
          <a:prstGeom prst="ellipse">
            <a:avLst/>
          </a:prstGeom>
          <a:solidFill>
            <a:schemeClr val="accent2">
              <a:lumMod val="60000"/>
              <a:lumOff val="40000"/>
            </a:schemeClr>
          </a:solidFill>
        </p:spPr>
        <p:style>
          <a:lnRef idx="2">
            <a:schemeClr val="lt1">
              <a:hueOff val="0"/>
              <a:satOff val="0"/>
              <a:lumOff val="0"/>
              <a:alphaOff val="0"/>
            </a:schemeClr>
          </a:lnRef>
          <a:fillRef idx="1">
            <a:schemeClr val="accent3">
              <a:alpha val="50000"/>
              <a:hueOff val="2710599"/>
              <a:satOff val="100000"/>
              <a:lumOff val="-14706"/>
              <a:alphaOff val="0"/>
            </a:schemeClr>
          </a:fillRef>
          <a:effectRef idx="0">
            <a:schemeClr val="accent3">
              <a:alpha val="50000"/>
              <a:hueOff val="2710599"/>
              <a:satOff val="100000"/>
              <a:lumOff val="-14706"/>
              <a:alphaOff val="0"/>
            </a:schemeClr>
          </a:effectRef>
          <a:fontRef idx="minor">
            <a:schemeClr val="tx1"/>
          </a:fontRef>
        </p:style>
        <p:txBody>
          <a:bodyPr/>
          <a:lstStyle/>
          <a:p>
            <a:pPr algn="ctr"/>
            <a:r>
              <a:rPr lang="en-US" dirty="0">
                <a:solidFill>
                  <a:srgbClr val="002060"/>
                </a:solidFill>
              </a:rPr>
              <a:t>4</a:t>
            </a:r>
          </a:p>
        </p:txBody>
      </p:sp>
    </p:spTree>
    <p:extLst>
      <p:ext uri="{BB962C8B-B14F-4D97-AF65-F5344CB8AC3E}">
        <p14:creationId xmlns:p14="http://schemas.microsoft.com/office/powerpoint/2010/main" val="567411087"/>
      </p:ext>
    </p:extLst>
  </p:cSld>
  <p:clrMapOvr>
    <a:masterClrMapping/>
  </p:clrMapOvr>
  <p:transition spd="slow">
    <p:push/>
  </p:transition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96718FCE-D27D-4802-ACC7-795285FAB39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959123"/>
            <a:ext cx="12192000" cy="3032008"/>
          </a:xfrm>
          <a:prstGeom prst="rect">
            <a:avLst/>
          </a:prstGeom>
        </p:spPr>
      </p:pic>
      <p:sp>
        <p:nvSpPr>
          <p:cNvPr id="2" name="Text Placeholder 1"/>
          <p:cNvSpPr>
            <a:spLocks noGrp="1"/>
          </p:cNvSpPr>
          <p:nvPr>
            <p:ph type="body" sz="quarter" idx="4294967295"/>
          </p:nvPr>
        </p:nvSpPr>
        <p:spPr>
          <a:xfrm>
            <a:off x="41763" y="127443"/>
            <a:ext cx="9021763" cy="571500"/>
          </a:xfrm>
        </p:spPr>
        <p:txBody>
          <a:bodyPr/>
          <a:lstStyle/>
          <a:p>
            <a:r>
              <a:rPr lang="en-US" dirty="0"/>
              <a:t>Wing Bank to Wing bank</a:t>
            </a:r>
          </a:p>
        </p:txBody>
      </p:sp>
      <p:sp>
        <p:nvSpPr>
          <p:cNvPr id="7" name="Oval 6"/>
          <p:cNvSpPr/>
          <p:nvPr/>
        </p:nvSpPr>
        <p:spPr>
          <a:xfrm>
            <a:off x="1320921" y="3533931"/>
            <a:ext cx="457200" cy="457200"/>
          </a:xfrm>
          <a:prstGeom prst="ellipse">
            <a:avLst/>
          </a:prstGeom>
          <a:solidFill>
            <a:schemeClr val="accent2">
              <a:lumMod val="60000"/>
              <a:lumOff val="40000"/>
            </a:schemeClr>
          </a:solidFill>
        </p:spPr>
        <p:style>
          <a:lnRef idx="2">
            <a:schemeClr val="lt1">
              <a:hueOff val="0"/>
              <a:satOff val="0"/>
              <a:lumOff val="0"/>
              <a:alphaOff val="0"/>
            </a:schemeClr>
          </a:lnRef>
          <a:fillRef idx="1">
            <a:schemeClr val="accent3">
              <a:alpha val="50000"/>
              <a:hueOff val="2710599"/>
              <a:satOff val="100000"/>
              <a:lumOff val="-14706"/>
              <a:alphaOff val="0"/>
            </a:schemeClr>
          </a:fillRef>
          <a:effectRef idx="0">
            <a:schemeClr val="accent3">
              <a:alpha val="50000"/>
              <a:hueOff val="2710599"/>
              <a:satOff val="100000"/>
              <a:lumOff val="-14706"/>
              <a:alphaOff val="0"/>
            </a:schemeClr>
          </a:effectRef>
          <a:fontRef idx="minor">
            <a:schemeClr val="tx1"/>
          </a:fontRef>
        </p:style>
        <p:txBody>
          <a:bodyPr/>
          <a:lstStyle/>
          <a:p>
            <a:pPr algn="ctr"/>
            <a:r>
              <a:rPr lang="en-US" dirty="0">
                <a:solidFill>
                  <a:srgbClr val="002060"/>
                </a:solidFill>
              </a:rPr>
              <a:t>1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456D4413-D17A-4371-8DBD-316E356E1EF0}"/>
              </a:ext>
            </a:extLst>
          </p:cNvPr>
          <p:cNvSpPr txBox="1"/>
          <p:nvPr/>
        </p:nvSpPr>
        <p:spPr>
          <a:xfrm>
            <a:off x="6256947" y="4421549"/>
            <a:ext cx="5935053" cy="14773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Wing Bank to Wing Bank</a:t>
            </a:r>
          </a:p>
          <a:p>
            <a:pPr marL="342900" indent="-342900">
              <a:buFont typeface="+mj-lt"/>
              <a:buAutoNum type="arabicPeriod"/>
            </a:pPr>
            <a:r>
              <a:rPr lang="en-US" dirty="0"/>
              <a:t>Click on Money Transfer → "Wing Bank to Wing Bank"</a:t>
            </a:r>
          </a:p>
          <a:p>
            <a:pPr marL="342900" indent="-342900">
              <a:buFont typeface="+mj-lt"/>
              <a:buAutoNum type="arabicPeriod"/>
            </a:pPr>
            <a:r>
              <a:rPr lang="en-US" dirty="0"/>
              <a:t>Fill in the required fields</a:t>
            </a:r>
          </a:p>
          <a:p>
            <a:pPr marL="342900" indent="-342900">
              <a:buFont typeface="+mj-lt"/>
              <a:buAutoNum type="arabicPeriod"/>
            </a:pPr>
            <a:r>
              <a:rPr lang="en-US" dirty="0"/>
              <a:t>Click Submit</a:t>
            </a:r>
          </a:p>
          <a:p>
            <a:endParaRPr lang="en-US" dirty="0"/>
          </a:p>
        </p:txBody>
      </p:sp>
      <p:sp>
        <p:nvSpPr>
          <p:cNvPr id="13" name="Oval 12">
            <a:extLst>
              <a:ext uri="{FF2B5EF4-FFF2-40B4-BE49-F238E27FC236}">
                <a16:creationId xmlns:a16="http://schemas.microsoft.com/office/drawing/2014/main" id="{19429CE5-CBC8-46F4-A02F-DDE710BD1365}"/>
              </a:ext>
            </a:extLst>
          </p:cNvPr>
          <p:cNvSpPr/>
          <p:nvPr/>
        </p:nvSpPr>
        <p:spPr>
          <a:xfrm>
            <a:off x="6560475" y="1705131"/>
            <a:ext cx="457200" cy="457200"/>
          </a:xfrm>
          <a:prstGeom prst="ellipse">
            <a:avLst/>
          </a:prstGeom>
          <a:solidFill>
            <a:schemeClr val="accent2">
              <a:lumMod val="60000"/>
              <a:lumOff val="40000"/>
            </a:schemeClr>
          </a:solidFill>
        </p:spPr>
        <p:style>
          <a:lnRef idx="2">
            <a:schemeClr val="lt1">
              <a:hueOff val="0"/>
              <a:satOff val="0"/>
              <a:lumOff val="0"/>
              <a:alphaOff val="0"/>
            </a:schemeClr>
          </a:lnRef>
          <a:fillRef idx="1">
            <a:schemeClr val="accent3">
              <a:alpha val="50000"/>
              <a:hueOff val="2710599"/>
              <a:satOff val="100000"/>
              <a:lumOff val="-14706"/>
              <a:alphaOff val="0"/>
            </a:schemeClr>
          </a:fillRef>
          <a:effectRef idx="0">
            <a:schemeClr val="accent3">
              <a:alpha val="50000"/>
              <a:hueOff val="2710599"/>
              <a:satOff val="100000"/>
              <a:lumOff val="-14706"/>
              <a:alphaOff val="0"/>
            </a:schemeClr>
          </a:effectRef>
          <a:fontRef idx="minor">
            <a:schemeClr val="tx1"/>
          </a:fontRef>
        </p:style>
        <p:txBody>
          <a:bodyPr/>
          <a:lstStyle/>
          <a:p>
            <a:pPr algn="ctr"/>
            <a:r>
              <a:rPr lang="en-US" dirty="0">
                <a:solidFill>
                  <a:srgbClr val="002060"/>
                </a:solidFill>
              </a:rPr>
              <a:t>2</a:t>
            </a:r>
          </a:p>
        </p:txBody>
      </p:sp>
      <p:sp>
        <p:nvSpPr>
          <p:cNvPr id="8" name="Oval 7">
            <a:extLst>
              <a:ext uri="{FF2B5EF4-FFF2-40B4-BE49-F238E27FC236}">
                <a16:creationId xmlns:a16="http://schemas.microsoft.com/office/drawing/2014/main" id="{84E20D6C-443E-4D06-AEDD-BACE9E962595}"/>
              </a:ext>
            </a:extLst>
          </p:cNvPr>
          <p:cNvSpPr/>
          <p:nvPr/>
        </p:nvSpPr>
        <p:spPr>
          <a:xfrm>
            <a:off x="7316556" y="3510061"/>
            <a:ext cx="457200" cy="457200"/>
          </a:xfrm>
          <a:prstGeom prst="ellipse">
            <a:avLst/>
          </a:prstGeom>
          <a:solidFill>
            <a:schemeClr val="accent2">
              <a:lumMod val="60000"/>
              <a:lumOff val="40000"/>
            </a:schemeClr>
          </a:solidFill>
        </p:spPr>
        <p:style>
          <a:lnRef idx="2">
            <a:schemeClr val="lt1">
              <a:hueOff val="0"/>
              <a:satOff val="0"/>
              <a:lumOff val="0"/>
              <a:alphaOff val="0"/>
            </a:schemeClr>
          </a:lnRef>
          <a:fillRef idx="1">
            <a:schemeClr val="accent3">
              <a:alpha val="50000"/>
              <a:hueOff val="2710599"/>
              <a:satOff val="100000"/>
              <a:lumOff val="-14706"/>
              <a:alphaOff val="0"/>
            </a:schemeClr>
          </a:fillRef>
          <a:effectRef idx="0">
            <a:schemeClr val="accent3">
              <a:alpha val="50000"/>
              <a:hueOff val="2710599"/>
              <a:satOff val="100000"/>
              <a:lumOff val="-14706"/>
              <a:alphaOff val="0"/>
            </a:schemeClr>
          </a:effectRef>
          <a:fontRef idx="minor">
            <a:schemeClr val="tx1"/>
          </a:fontRef>
        </p:style>
        <p:txBody>
          <a:bodyPr/>
          <a:lstStyle/>
          <a:p>
            <a:pPr algn="ctr"/>
            <a:r>
              <a:rPr lang="en-US" dirty="0">
                <a:solidFill>
                  <a:srgbClr val="002060"/>
                </a:solidFill>
              </a:rPr>
              <a:t>3</a:t>
            </a:r>
          </a:p>
        </p:txBody>
      </p:sp>
    </p:spTree>
    <p:extLst>
      <p:ext uri="{BB962C8B-B14F-4D97-AF65-F5344CB8AC3E}">
        <p14:creationId xmlns:p14="http://schemas.microsoft.com/office/powerpoint/2010/main" val="1649078969"/>
      </p:ext>
    </p:extLst>
  </p:cSld>
  <p:clrMapOvr>
    <a:masterClrMapping/>
  </p:clrMapOvr>
  <p:transition spd="slow">
    <p:push/>
  </p:transition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/>
          <p:cNvSpPr>
            <a:spLocks noGrp="1"/>
          </p:cNvSpPr>
          <p:nvPr>
            <p:ph type="body" sz="quarter" idx="4294967295"/>
          </p:nvPr>
        </p:nvSpPr>
        <p:spPr>
          <a:xfrm>
            <a:off x="41763" y="127443"/>
            <a:ext cx="9021763" cy="571500"/>
          </a:xfrm>
        </p:spPr>
        <p:txBody>
          <a:bodyPr/>
          <a:lstStyle/>
          <a:p>
            <a:r>
              <a:rPr lang="en-US" dirty="0"/>
              <a:t>Wing bank to Wing Bank Bulk</a:t>
            </a:r>
          </a:p>
        </p:txBody>
      </p:sp>
      <p:sp>
        <p:nvSpPr>
          <p:cNvPr id="7" name="Oval 6"/>
          <p:cNvSpPr/>
          <p:nvPr/>
        </p:nvSpPr>
        <p:spPr>
          <a:xfrm>
            <a:off x="939800" y="3200400"/>
            <a:ext cx="457200" cy="457200"/>
          </a:xfrm>
          <a:prstGeom prst="ellipse">
            <a:avLst/>
          </a:prstGeom>
          <a:solidFill>
            <a:schemeClr val="accent2">
              <a:lumMod val="60000"/>
              <a:lumOff val="40000"/>
            </a:schemeClr>
          </a:solidFill>
        </p:spPr>
        <p:style>
          <a:lnRef idx="2">
            <a:schemeClr val="lt1">
              <a:hueOff val="0"/>
              <a:satOff val="0"/>
              <a:lumOff val="0"/>
              <a:alphaOff val="0"/>
            </a:schemeClr>
          </a:lnRef>
          <a:fillRef idx="1">
            <a:schemeClr val="accent3">
              <a:alpha val="50000"/>
              <a:hueOff val="2710599"/>
              <a:satOff val="100000"/>
              <a:lumOff val="-14706"/>
              <a:alphaOff val="0"/>
            </a:schemeClr>
          </a:fillRef>
          <a:effectRef idx="0">
            <a:schemeClr val="accent3">
              <a:alpha val="50000"/>
              <a:hueOff val="2710599"/>
              <a:satOff val="100000"/>
              <a:lumOff val="-14706"/>
              <a:alphaOff val="0"/>
            </a:schemeClr>
          </a:effectRef>
          <a:fontRef idx="minor">
            <a:schemeClr val="tx1"/>
          </a:fontRef>
        </p:style>
        <p:txBody>
          <a:bodyPr/>
          <a:lstStyle/>
          <a:p>
            <a:pPr algn="ctr"/>
            <a:r>
              <a:rPr lang="en-US" dirty="0">
                <a:solidFill>
                  <a:srgbClr val="002060"/>
                </a:solidFill>
              </a:rPr>
              <a:t>1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456D4413-D17A-4371-8DBD-316E356E1EF0}"/>
              </a:ext>
            </a:extLst>
          </p:cNvPr>
          <p:cNvSpPr txBox="1"/>
          <p:nvPr/>
        </p:nvSpPr>
        <p:spPr>
          <a:xfrm>
            <a:off x="7554423" y="3330731"/>
            <a:ext cx="4434377" cy="203132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Wing Bank to Wing Bank Bulk</a:t>
            </a:r>
          </a:p>
          <a:p>
            <a:pPr marL="342900" indent="-342900">
              <a:buFont typeface="+mj-lt"/>
              <a:buAutoNum type="arabicPeriod"/>
            </a:pPr>
            <a:r>
              <a:rPr lang="en-US" dirty="0"/>
              <a:t>Click on the side menu “Wing Bank to Wing Bank Bulk</a:t>
            </a:r>
          </a:p>
          <a:p>
            <a:pPr marL="342900" indent="-342900">
              <a:buFont typeface="+mj-lt"/>
              <a:buAutoNum type="arabicPeriod"/>
            </a:pPr>
            <a:r>
              <a:rPr lang="en-US" dirty="0"/>
              <a:t>Choose upload file</a:t>
            </a:r>
          </a:p>
          <a:p>
            <a:pPr marL="342900" indent="-342900">
              <a:buFont typeface="+mj-lt"/>
              <a:buAutoNum type="arabicPeriod"/>
            </a:pPr>
            <a:r>
              <a:rPr lang="en-US" dirty="0"/>
              <a:t>Click submit</a:t>
            </a:r>
          </a:p>
          <a:p>
            <a:pPr marL="342900" indent="-342900">
              <a:buFont typeface="+mj-lt"/>
              <a:buAutoNum type="arabicPeriod"/>
            </a:pPr>
            <a:r>
              <a:rPr lang="en-US" dirty="0"/>
              <a:t>After reviewing Click submit again</a:t>
            </a:r>
          </a:p>
          <a:p>
            <a:endParaRPr lang="en-US" dirty="0"/>
          </a:p>
        </p:txBody>
      </p:sp>
      <p:sp>
        <p:nvSpPr>
          <p:cNvPr id="13" name="Oval 12">
            <a:extLst>
              <a:ext uri="{FF2B5EF4-FFF2-40B4-BE49-F238E27FC236}">
                <a16:creationId xmlns:a16="http://schemas.microsoft.com/office/drawing/2014/main" id="{19429CE5-CBC8-46F4-A02F-DDE710BD1365}"/>
              </a:ext>
            </a:extLst>
          </p:cNvPr>
          <p:cNvSpPr/>
          <p:nvPr/>
        </p:nvSpPr>
        <p:spPr>
          <a:xfrm>
            <a:off x="7264105" y="2743200"/>
            <a:ext cx="457200" cy="457200"/>
          </a:xfrm>
          <a:prstGeom prst="ellipse">
            <a:avLst/>
          </a:prstGeom>
          <a:solidFill>
            <a:schemeClr val="accent2">
              <a:lumMod val="60000"/>
              <a:lumOff val="40000"/>
            </a:schemeClr>
          </a:solidFill>
        </p:spPr>
        <p:style>
          <a:lnRef idx="2">
            <a:schemeClr val="lt1">
              <a:hueOff val="0"/>
              <a:satOff val="0"/>
              <a:lumOff val="0"/>
              <a:alphaOff val="0"/>
            </a:schemeClr>
          </a:lnRef>
          <a:fillRef idx="1">
            <a:schemeClr val="accent3">
              <a:alpha val="50000"/>
              <a:hueOff val="2710599"/>
              <a:satOff val="100000"/>
              <a:lumOff val="-14706"/>
              <a:alphaOff val="0"/>
            </a:schemeClr>
          </a:fillRef>
          <a:effectRef idx="0">
            <a:schemeClr val="accent3">
              <a:alpha val="50000"/>
              <a:hueOff val="2710599"/>
              <a:satOff val="100000"/>
              <a:lumOff val="-14706"/>
              <a:alphaOff val="0"/>
            </a:schemeClr>
          </a:effectRef>
          <a:fontRef idx="minor">
            <a:schemeClr val="tx1"/>
          </a:fontRef>
        </p:style>
        <p:txBody>
          <a:bodyPr/>
          <a:lstStyle/>
          <a:p>
            <a:pPr algn="ctr"/>
            <a:r>
              <a:rPr lang="en-US" dirty="0">
                <a:solidFill>
                  <a:srgbClr val="002060"/>
                </a:solidFill>
              </a:rPr>
              <a:t>3</a:t>
            </a:r>
          </a:p>
        </p:txBody>
      </p:sp>
      <p:sp>
        <p:nvSpPr>
          <p:cNvPr id="14" name="Oval 13">
            <a:extLst>
              <a:ext uri="{FF2B5EF4-FFF2-40B4-BE49-F238E27FC236}">
                <a16:creationId xmlns:a16="http://schemas.microsoft.com/office/drawing/2014/main" id="{5987C2C5-F09E-4FAE-94AF-9041D9499826}"/>
              </a:ext>
            </a:extLst>
          </p:cNvPr>
          <p:cNvSpPr/>
          <p:nvPr/>
        </p:nvSpPr>
        <p:spPr>
          <a:xfrm>
            <a:off x="5830786" y="1824137"/>
            <a:ext cx="457200" cy="371104"/>
          </a:xfrm>
          <a:prstGeom prst="ellipse">
            <a:avLst/>
          </a:prstGeom>
          <a:solidFill>
            <a:schemeClr val="accent2">
              <a:lumMod val="60000"/>
              <a:lumOff val="40000"/>
            </a:schemeClr>
          </a:solidFill>
        </p:spPr>
        <p:style>
          <a:lnRef idx="2">
            <a:schemeClr val="lt1">
              <a:hueOff val="0"/>
              <a:satOff val="0"/>
              <a:lumOff val="0"/>
              <a:alphaOff val="0"/>
            </a:schemeClr>
          </a:lnRef>
          <a:fillRef idx="1">
            <a:schemeClr val="accent3">
              <a:alpha val="50000"/>
              <a:hueOff val="2710599"/>
              <a:satOff val="100000"/>
              <a:lumOff val="-14706"/>
              <a:alphaOff val="0"/>
            </a:schemeClr>
          </a:fillRef>
          <a:effectRef idx="0">
            <a:schemeClr val="accent3">
              <a:alpha val="50000"/>
              <a:hueOff val="2710599"/>
              <a:satOff val="100000"/>
              <a:lumOff val="-14706"/>
              <a:alphaOff val="0"/>
            </a:schemeClr>
          </a:effectRef>
          <a:fontRef idx="minor">
            <a:schemeClr val="tx1"/>
          </a:fontRef>
        </p:style>
        <p:txBody>
          <a:bodyPr/>
          <a:lstStyle/>
          <a:p>
            <a:pPr algn="ctr"/>
            <a:r>
              <a:rPr lang="en-US" dirty="0">
                <a:solidFill>
                  <a:srgbClr val="002060"/>
                </a:solidFill>
              </a:rPr>
              <a:t>2</a:t>
            </a:r>
          </a:p>
        </p:txBody>
      </p:sp>
      <p:sp>
        <p:nvSpPr>
          <p:cNvPr id="15" name="Oval 14">
            <a:extLst>
              <a:ext uri="{FF2B5EF4-FFF2-40B4-BE49-F238E27FC236}">
                <a16:creationId xmlns:a16="http://schemas.microsoft.com/office/drawing/2014/main" id="{7647452D-8AFC-4D77-960E-B07EE711578A}"/>
              </a:ext>
            </a:extLst>
          </p:cNvPr>
          <p:cNvSpPr/>
          <p:nvPr/>
        </p:nvSpPr>
        <p:spPr>
          <a:xfrm>
            <a:off x="2781005" y="1738040"/>
            <a:ext cx="457200" cy="457200"/>
          </a:xfrm>
          <a:prstGeom prst="ellipse">
            <a:avLst/>
          </a:prstGeom>
          <a:solidFill>
            <a:schemeClr val="accent2">
              <a:lumMod val="60000"/>
              <a:lumOff val="40000"/>
            </a:schemeClr>
          </a:solidFill>
        </p:spPr>
        <p:style>
          <a:lnRef idx="2">
            <a:schemeClr val="lt1">
              <a:hueOff val="0"/>
              <a:satOff val="0"/>
              <a:lumOff val="0"/>
              <a:alphaOff val="0"/>
            </a:schemeClr>
          </a:lnRef>
          <a:fillRef idx="1">
            <a:schemeClr val="accent3">
              <a:alpha val="50000"/>
              <a:hueOff val="2710599"/>
              <a:satOff val="100000"/>
              <a:lumOff val="-14706"/>
              <a:alphaOff val="0"/>
            </a:schemeClr>
          </a:fillRef>
          <a:effectRef idx="0">
            <a:schemeClr val="accent3">
              <a:alpha val="50000"/>
              <a:hueOff val="2710599"/>
              <a:satOff val="100000"/>
              <a:lumOff val="-14706"/>
              <a:alphaOff val="0"/>
            </a:schemeClr>
          </a:effectRef>
          <a:fontRef idx="minor">
            <a:schemeClr val="tx1"/>
          </a:fontRef>
        </p:style>
        <p:txBody>
          <a:bodyPr/>
          <a:lstStyle/>
          <a:p>
            <a:pPr algn="ctr"/>
            <a:r>
              <a:rPr lang="en-US" dirty="0">
                <a:solidFill>
                  <a:srgbClr val="002060"/>
                </a:solidFill>
              </a:rPr>
              <a:t>4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57DBBBDF-3110-4894-8232-2EB69438987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763" y="572699"/>
            <a:ext cx="10268568" cy="2594108"/>
          </a:xfrm>
          <a:prstGeom prst="rect">
            <a:avLst/>
          </a:prstGeom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19AFD3AD-3CD6-4DF0-9311-FBC9BD5BD27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2780380"/>
            <a:ext cx="7480300" cy="350492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96575277"/>
      </p:ext>
    </p:extLst>
  </p:cSld>
  <p:clrMapOvr>
    <a:masterClrMapping/>
  </p:clrMapOvr>
  <p:transition spd="slow">
    <p:push/>
  </p:transition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50694DBA-0BF9-4B66-A068-4BB9BE09CEB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875617"/>
            <a:ext cx="12192000" cy="5106765"/>
          </a:xfrm>
          <a:prstGeom prst="rect">
            <a:avLst/>
          </a:prstGeom>
        </p:spPr>
      </p:pic>
      <p:sp>
        <p:nvSpPr>
          <p:cNvPr id="2" name="Text Placeholder 1"/>
          <p:cNvSpPr>
            <a:spLocks noGrp="1"/>
          </p:cNvSpPr>
          <p:nvPr>
            <p:ph type="body" sz="quarter" idx="4294967295"/>
          </p:nvPr>
        </p:nvSpPr>
        <p:spPr>
          <a:xfrm>
            <a:off x="41763" y="127443"/>
            <a:ext cx="9021763" cy="571500"/>
          </a:xfrm>
        </p:spPr>
        <p:txBody>
          <a:bodyPr/>
          <a:lstStyle/>
          <a:p>
            <a:r>
              <a:rPr lang="en-US" dirty="0"/>
              <a:t>Wing Wei </a:t>
            </a:r>
            <a:r>
              <a:rPr lang="en-US" dirty="0" err="1"/>
              <a:t>Luy</a:t>
            </a:r>
            <a:endParaRPr lang="en-US" dirty="0"/>
          </a:p>
        </p:txBody>
      </p:sp>
      <p:sp>
        <p:nvSpPr>
          <p:cNvPr id="7" name="Oval 6"/>
          <p:cNvSpPr/>
          <p:nvPr/>
        </p:nvSpPr>
        <p:spPr>
          <a:xfrm>
            <a:off x="1054100" y="4868294"/>
            <a:ext cx="457200" cy="457200"/>
          </a:xfrm>
          <a:prstGeom prst="ellipse">
            <a:avLst/>
          </a:prstGeom>
          <a:solidFill>
            <a:schemeClr val="accent2">
              <a:lumMod val="60000"/>
              <a:lumOff val="40000"/>
            </a:schemeClr>
          </a:solidFill>
        </p:spPr>
        <p:style>
          <a:lnRef idx="2">
            <a:schemeClr val="lt1">
              <a:hueOff val="0"/>
              <a:satOff val="0"/>
              <a:lumOff val="0"/>
              <a:alphaOff val="0"/>
            </a:schemeClr>
          </a:lnRef>
          <a:fillRef idx="1">
            <a:schemeClr val="accent3">
              <a:alpha val="50000"/>
              <a:hueOff val="2710599"/>
              <a:satOff val="100000"/>
              <a:lumOff val="-14706"/>
              <a:alphaOff val="0"/>
            </a:schemeClr>
          </a:fillRef>
          <a:effectRef idx="0">
            <a:schemeClr val="accent3">
              <a:alpha val="50000"/>
              <a:hueOff val="2710599"/>
              <a:satOff val="100000"/>
              <a:lumOff val="-14706"/>
              <a:alphaOff val="0"/>
            </a:schemeClr>
          </a:effectRef>
          <a:fontRef idx="minor">
            <a:schemeClr val="tx1"/>
          </a:fontRef>
        </p:style>
        <p:txBody>
          <a:bodyPr/>
          <a:lstStyle/>
          <a:p>
            <a:pPr algn="ctr"/>
            <a:r>
              <a:rPr lang="en-US" dirty="0">
                <a:solidFill>
                  <a:srgbClr val="002060"/>
                </a:solidFill>
              </a:rPr>
              <a:t>1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456D4413-D17A-4371-8DBD-316E356E1EF0}"/>
              </a:ext>
            </a:extLst>
          </p:cNvPr>
          <p:cNvSpPr txBox="1"/>
          <p:nvPr/>
        </p:nvSpPr>
        <p:spPr>
          <a:xfrm>
            <a:off x="6096000" y="3991131"/>
            <a:ext cx="5935053" cy="14773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Wing Wei </a:t>
            </a:r>
            <a:r>
              <a:rPr lang="en-US" dirty="0" err="1"/>
              <a:t>Luy</a:t>
            </a:r>
            <a:endParaRPr lang="en-US" dirty="0"/>
          </a:p>
          <a:p>
            <a:pPr marL="342900" indent="-342900">
              <a:buFont typeface="+mj-lt"/>
              <a:buAutoNum type="arabicPeriod"/>
            </a:pPr>
            <a:r>
              <a:rPr lang="en-US" dirty="0"/>
              <a:t>Click on Money transfer -&gt; Wing Wei </a:t>
            </a:r>
            <a:r>
              <a:rPr lang="en-US" dirty="0" err="1"/>
              <a:t>luy</a:t>
            </a:r>
            <a:endParaRPr lang="en-US" dirty="0"/>
          </a:p>
          <a:p>
            <a:pPr marL="342900" indent="-342900">
              <a:buFont typeface="+mj-lt"/>
              <a:buAutoNum type="arabicPeriod"/>
            </a:pPr>
            <a:r>
              <a:rPr lang="en-US" dirty="0"/>
              <a:t>Enter phone number &amp; amount </a:t>
            </a:r>
          </a:p>
          <a:p>
            <a:pPr marL="342900" indent="-342900">
              <a:buFont typeface="+mj-lt"/>
              <a:buAutoNum type="arabicPeriod"/>
            </a:pPr>
            <a:r>
              <a:rPr lang="en-US" dirty="0"/>
              <a:t>Click Submit</a:t>
            </a:r>
          </a:p>
          <a:p>
            <a:endParaRPr lang="en-US" dirty="0"/>
          </a:p>
        </p:txBody>
      </p:sp>
      <p:sp>
        <p:nvSpPr>
          <p:cNvPr id="13" name="Oval 12">
            <a:extLst>
              <a:ext uri="{FF2B5EF4-FFF2-40B4-BE49-F238E27FC236}">
                <a16:creationId xmlns:a16="http://schemas.microsoft.com/office/drawing/2014/main" id="{19429CE5-CBC8-46F4-A02F-DDE710BD1365}"/>
              </a:ext>
            </a:extLst>
          </p:cNvPr>
          <p:cNvSpPr/>
          <p:nvPr/>
        </p:nvSpPr>
        <p:spPr>
          <a:xfrm>
            <a:off x="7518105" y="3224177"/>
            <a:ext cx="457200" cy="457200"/>
          </a:xfrm>
          <a:prstGeom prst="ellipse">
            <a:avLst/>
          </a:prstGeom>
          <a:solidFill>
            <a:schemeClr val="accent2">
              <a:lumMod val="60000"/>
              <a:lumOff val="40000"/>
            </a:schemeClr>
          </a:solidFill>
        </p:spPr>
        <p:style>
          <a:lnRef idx="2">
            <a:schemeClr val="lt1">
              <a:hueOff val="0"/>
              <a:satOff val="0"/>
              <a:lumOff val="0"/>
              <a:alphaOff val="0"/>
            </a:schemeClr>
          </a:lnRef>
          <a:fillRef idx="1">
            <a:schemeClr val="accent3">
              <a:alpha val="50000"/>
              <a:hueOff val="2710599"/>
              <a:satOff val="100000"/>
              <a:lumOff val="-14706"/>
              <a:alphaOff val="0"/>
            </a:schemeClr>
          </a:fillRef>
          <a:effectRef idx="0">
            <a:schemeClr val="accent3">
              <a:alpha val="50000"/>
              <a:hueOff val="2710599"/>
              <a:satOff val="100000"/>
              <a:lumOff val="-14706"/>
              <a:alphaOff val="0"/>
            </a:schemeClr>
          </a:effectRef>
          <a:fontRef idx="minor">
            <a:schemeClr val="tx1"/>
          </a:fontRef>
        </p:style>
        <p:txBody>
          <a:bodyPr/>
          <a:lstStyle/>
          <a:p>
            <a:pPr algn="ctr"/>
            <a:r>
              <a:rPr lang="en-US" dirty="0">
                <a:solidFill>
                  <a:srgbClr val="002060"/>
                </a:solidFill>
              </a:rPr>
              <a:t>3</a:t>
            </a:r>
          </a:p>
        </p:txBody>
      </p:sp>
      <p:sp>
        <p:nvSpPr>
          <p:cNvPr id="15" name="Oval 14">
            <a:extLst>
              <a:ext uri="{FF2B5EF4-FFF2-40B4-BE49-F238E27FC236}">
                <a16:creationId xmlns:a16="http://schemas.microsoft.com/office/drawing/2014/main" id="{7647452D-8AFC-4D77-960E-B07EE711578A}"/>
              </a:ext>
            </a:extLst>
          </p:cNvPr>
          <p:cNvSpPr/>
          <p:nvPr/>
        </p:nvSpPr>
        <p:spPr>
          <a:xfrm>
            <a:off x="7162505" y="1905171"/>
            <a:ext cx="457200" cy="457200"/>
          </a:xfrm>
          <a:prstGeom prst="ellipse">
            <a:avLst/>
          </a:prstGeom>
          <a:solidFill>
            <a:schemeClr val="accent2">
              <a:lumMod val="60000"/>
              <a:lumOff val="40000"/>
            </a:schemeClr>
          </a:solidFill>
        </p:spPr>
        <p:style>
          <a:lnRef idx="2">
            <a:schemeClr val="lt1">
              <a:hueOff val="0"/>
              <a:satOff val="0"/>
              <a:lumOff val="0"/>
              <a:alphaOff val="0"/>
            </a:schemeClr>
          </a:lnRef>
          <a:fillRef idx="1">
            <a:schemeClr val="accent3">
              <a:alpha val="50000"/>
              <a:hueOff val="2710599"/>
              <a:satOff val="100000"/>
              <a:lumOff val="-14706"/>
              <a:alphaOff val="0"/>
            </a:schemeClr>
          </a:fillRef>
          <a:effectRef idx="0">
            <a:schemeClr val="accent3">
              <a:alpha val="50000"/>
              <a:hueOff val="2710599"/>
              <a:satOff val="100000"/>
              <a:lumOff val="-14706"/>
              <a:alphaOff val="0"/>
            </a:schemeClr>
          </a:effectRef>
          <a:fontRef idx="minor">
            <a:schemeClr val="tx1"/>
          </a:fontRef>
        </p:style>
        <p:txBody>
          <a:bodyPr/>
          <a:lstStyle/>
          <a:p>
            <a:pPr algn="ctr"/>
            <a:r>
              <a:rPr lang="en-US" dirty="0">
                <a:solidFill>
                  <a:srgbClr val="002060"/>
                </a:solidFill>
              </a:rPr>
              <a:t>2</a:t>
            </a:r>
          </a:p>
        </p:txBody>
      </p:sp>
    </p:spTree>
    <p:extLst>
      <p:ext uri="{BB962C8B-B14F-4D97-AF65-F5344CB8AC3E}">
        <p14:creationId xmlns:p14="http://schemas.microsoft.com/office/powerpoint/2010/main" val="2918055905"/>
      </p:ext>
    </p:extLst>
  </p:cSld>
  <p:clrMapOvr>
    <a:masterClrMapping/>
  </p:clrMapOvr>
  <p:transition spd="slow">
    <p:push/>
  </p:transition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E5B66409-B112-4B8C-BE38-12BAD315BB6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763" y="603642"/>
            <a:ext cx="8010037" cy="3130310"/>
          </a:xfrm>
          <a:prstGeom prst="rect">
            <a:avLst/>
          </a:prstGeom>
        </p:spPr>
      </p:pic>
      <p:sp>
        <p:nvSpPr>
          <p:cNvPr id="2" name="Text Placeholder 1"/>
          <p:cNvSpPr>
            <a:spLocks noGrp="1"/>
          </p:cNvSpPr>
          <p:nvPr>
            <p:ph type="body" sz="quarter" idx="4294967295"/>
          </p:nvPr>
        </p:nvSpPr>
        <p:spPr>
          <a:xfrm>
            <a:off x="41763" y="127443"/>
            <a:ext cx="9021763" cy="571500"/>
          </a:xfrm>
        </p:spPr>
        <p:txBody>
          <a:bodyPr/>
          <a:lstStyle/>
          <a:p>
            <a:r>
              <a:rPr lang="en-US" dirty="0"/>
              <a:t>Wing Wei </a:t>
            </a:r>
            <a:r>
              <a:rPr lang="en-US" dirty="0" err="1"/>
              <a:t>luy</a:t>
            </a:r>
            <a:r>
              <a:rPr lang="en-US" dirty="0"/>
              <a:t> Bulk</a:t>
            </a:r>
          </a:p>
        </p:txBody>
      </p:sp>
      <p:sp>
        <p:nvSpPr>
          <p:cNvPr id="7" name="Oval 6"/>
          <p:cNvSpPr/>
          <p:nvPr/>
        </p:nvSpPr>
        <p:spPr>
          <a:xfrm>
            <a:off x="1333500" y="5516857"/>
            <a:ext cx="457200" cy="457200"/>
          </a:xfrm>
          <a:prstGeom prst="ellipse">
            <a:avLst/>
          </a:prstGeom>
          <a:solidFill>
            <a:schemeClr val="accent2">
              <a:lumMod val="60000"/>
              <a:lumOff val="40000"/>
            </a:schemeClr>
          </a:solidFill>
        </p:spPr>
        <p:style>
          <a:lnRef idx="2">
            <a:schemeClr val="lt1">
              <a:hueOff val="0"/>
              <a:satOff val="0"/>
              <a:lumOff val="0"/>
              <a:alphaOff val="0"/>
            </a:schemeClr>
          </a:lnRef>
          <a:fillRef idx="1">
            <a:schemeClr val="accent3">
              <a:alpha val="50000"/>
              <a:hueOff val="2710599"/>
              <a:satOff val="100000"/>
              <a:lumOff val="-14706"/>
              <a:alphaOff val="0"/>
            </a:schemeClr>
          </a:fillRef>
          <a:effectRef idx="0">
            <a:schemeClr val="accent3">
              <a:alpha val="50000"/>
              <a:hueOff val="2710599"/>
              <a:satOff val="100000"/>
              <a:lumOff val="-14706"/>
              <a:alphaOff val="0"/>
            </a:schemeClr>
          </a:effectRef>
          <a:fontRef idx="minor">
            <a:schemeClr val="tx1"/>
          </a:fontRef>
        </p:style>
        <p:txBody>
          <a:bodyPr/>
          <a:lstStyle/>
          <a:p>
            <a:pPr algn="ctr"/>
            <a:r>
              <a:rPr lang="en-US" dirty="0">
                <a:solidFill>
                  <a:srgbClr val="002060"/>
                </a:solidFill>
              </a:rPr>
              <a:t>1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456D4413-D17A-4371-8DBD-316E356E1EF0}"/>
              </a:ext>
            </a:extLst>
          </p:cNvPr>
          <p:cNvSpPr txBox="1"/>
          <p:nvPr/>
        </p:nvSpPr>
        <p:spPr>
          <a:xfrm>
            <a:off x="8388296" y="825791"/>
            <a:ext cx="2971800" cy="230832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Wing Wei </a:t>
            </a:r>
            <a:r>
              <a:rPr lang="en-US" dirty="0" err="1"/>
              <a:t>Luy</a:t>
            </a:r>
            <a:r>
              <a:rPr lang="en-US" dirty="0"/>
              <a:t> Bulk</a:t>
            </a:r>
          </a:p>
          <a:p>
            <a:pPr marL="342900" indent="-342900">
              <a:buFont typeface="+mj-lt"/>
              <a:buAutoNum type="arabicPeriod"/>
            </a:pPr>
            <a:r>
              <a:rPr lang="en-US" dirty="0"/>
              <a:t>Click on Money transfer -&gt; Wing Wei </a:t>
            </a:r>
            <a:r>
              <a:rPr lang="en-US" dirty="0" err="1"/>
              <a:t>luy</a:t>
            </a:r>
            <a:r>
              <a:rPr lang="en-US" dirty="0"/>
              <a:t> Bulk</a:t>
            </a:r>
          </a:p>
          <a:p>
            <a:pPr marL="342900" indent="-342900">
              <a:buFont typeface="+mj-lt"/>
              <a:buAutoNum type="arabicPeriod"/>
            </a:pPr>
            <a:r>
              <a:rPr lang="en-US" dirty="0"/>
              <a:t>Choose Upload File</a:t>
            </a:r>
          </a:p>
          <a:p>
            <a:pPr marL="342900" indent="-342900">
              <a:buFont typeface="+mj-lt"/>
              <a:buAutoNum type="arabicPeriod"/>
            </a:pPr>
            <a:r>
              <a:rPr lang="en-US" dirty="0"/>
              <a:t>Click Submit</a:t>
            </a:r>
          </a:p>
          <a:p>
            <a:pPr marL="342900" indent="-342900">
              <a:buFont typeface="+mj-lt"/>
              <a:buAutoNum type="arabicPeriod"/>
            </a:pPr>
            <a:r>
              <a:rPr lang="en-US" dirty="0"/>
              <a:t> After review click submit again</a:t>
            </a:r>
          </a:p>
          <a:p>
            <a:endParaRPr lang="en-US" dirty="0"/>
          </a:p>
        </p:txBody>
      </p:sp>
      <p:sp>
        <p:nvSpPr>
          <p:cNvPr id="13" name="Oval 12">
            <a:extLst>
              <a:ext uri="{FF2B5EF4-FFF2-40B4-BE49-F238E27FC236}">
                <a16:creationId xmlns:a16="http://schemas.microsoft.com/office/drawing/2014/main" id="{19429CE5-CBC8-46F4-A02F-DDE710BD1365}"/>
              </a:ext>
            </a:extLst>
          </p:cNvPr>
          <p:cNvSpPr/>
          <p:nvPr/>
        </p:nvSpPr>
        <p:spPr>
          <a:xfrm>
            <a:off x="5025872" y="1522753"/>
            <a:ext cx="457200" cy="457200"/>
          </a:xfrm>
          <a:prstGeom prst="ellipse">
            <a:avLst/>
          </a:prstGeom>
          <a:solidFill>
            <a:schemeClr val="accent2">
              <a:lumMod val="60000"/>
              <a:lumOff val="40000"/>
            </a:schemeClr>
          </a:solidFill>
        </p:spPr>
        <p:style>
          <a:lnRef idx="2">
            <a:schemeClr val="lt1">
              <a:hueOff val="0"/>
              <a:satOff val="0"/>
              <a:lumOff val="0"/>
              <a:alphaOff val="0"/>
            </a:schemeClr>
          </a:lnRef>
          <a:fillRef idx="1">
            <a:schemeClr val="accent3">
              <a:alpha val="50000"/>
              <a:hueOff val="2710599"/>
              <a:satOff val="100000"/>
              <a:lumOff val="-14706"/>
              <a:alphaOff val="0"/>
            </a:schemeClr>
          </a:fillRef>
          <a:effectRef idx="0">
            <a:schemeClr val="accent3">
              <a:alpha val="50000"/>
              <a:hueOff val="2710599"/>
              <a:satOff val="100000"/>
              <a:lumOff val="-14706"/>
              <a:alphaOff val="0"/>
            </a:schemeClr>
          </a:effectRef>
          <a:fontRef idx="minor">
            <a:schemeClr val="tx1"/>
          </a:fontRef>
        </p:style>
        <p:txBody>
          <a:bodyPr/>
          <a:lstStyle/>
          <a:p>
            <a:pPr algn="ctr"/>
            <a:r>
              <a:rPr lang="en-US" dirty="0">
                <a:solidFill>
                  <a:srgbClr val="002060"/>
                </a:solidFill>
              </a:rPr>
              <a:t>3</a:t>
            </a:r>
          </a:p>
        </p:txBody>
      </p:sp>
      <p:sp>
        <p:nvSpPr>
          <p:cNvPr id="14" name="Oval 13">
            <a:extLst>
              <a:ext uri="{FF2B5EF4-FFF2-40B4-BE49-F238E27FC236}">
                <a16:creationId xmlns:a16="http://schemas.microsoft.com/office/drawing/2014/main" id="{5987C2C5-F09E-4FAE-94AF-9041D9499826}"/>
              </a:ext>
            </a:extLst>
          </p:cNvPr>
          <p:cNvSpPr/>
          <p:nvPr/>
        </p:nvSpPr>
        <p:spPr>
          <a:xfrm>
            <a:off x="2914344" y="1188299"/>
            <a:ext cx="457200" cy="371104"/>
          </a:xfrm>
          <a:prstGeom prst="ellipse">
            <a:avLst/>
          </a:prstGeom>
          <a:solidFill>
            <a:schemeClr val="accent2">
              <a:lumMod val="60000"/>
              <a:lumOff val="40000"/>
            </a:schemeClr>
          </a:solidFill>
        </p:spPr>
        <p:style>
          <a:lnRef idx="2">
            <a:schemeClr val="lt1">
              <a:hueOff val="0"/>
              <a:satOff val="0"/>
              <a:lumOff val="0"/>
              <a:alphaOff val="0"/>
            </a:schemeClr>
          </a:lnRef>
          <a:fillRef idx="1">
            <a:schemeClr val="accent3">
              <a:alpha val="50000"/>
              <a:hueOff val="2710599"/>
              <a:satOff val="100000"/>
              <a:lumOff val="-14706"/>
              <a:alphaOff val="0"/>
            </a:schemeClr>
          </a:fillRef>
          <a:effectRef idx="0">
            <a:schemeClr val="accent3">
              <a:alpha val="50000"/>
              <a:hueOff val="2710599"/>
              <a:satOff val="100000"/>
              <a:lumOff val="-14706"/>
              <a:alphaOff val="0"/>
            </a:schemeClr>
          </a:effectRef>
          <a:fontRef idx="minor">
            <a:schemeClr val="tx1"/>
          </a:fontRef>
        </p:style>
        <p:txBody>
          <a:bodyPr/>
          <a:lstStyle/>
          <a:p>
            <a:pPr algn="ctr"/>
            <a:r>
              <a:rPr lang="en-US" dirty="0">
                <a:solidFill>
                  <a:srgbClr val="002060"/>
                </a:solidFill>
              </a:rPr>
              <a:t>2</a:t>
            </a:r>
          </a:p>
        </p:txBody>
      </p:sp>
      <p:sp>
        <p:nvSpPr>
          <p:cNvPr id="15" name="Oval 14">
            <a:extLst>
              <a:ext uri="{FF2B5EF4-FFF2-40B4-BE49-F238E27FC236}">
                <a16:creationId xmlns:a16="http://schemas.microsoft.com/office/drawing/2014/main" id="{7647452D-8AFC-4D77-960E-B07EE711578A}"/>
              </a:ext>
            </a:extLst>
          </p:cNvPr>
          <p:cNvSpPr/>
          <p:nvPr/>
        </p:nvSpPr>
        <p:spPr>
          <a:xfrm>
            <a:off x="3968444" y="4268429"/>
            <a:ext cx="457200" cy="457200"/>
          </a:xfrm>
          <a:prstGeom prst="ellipse">
            <a:avLst/>
          </a:prstGeom>
          <a:solidFill>
            <a:schemeClr val="accent2">
              <a:lumMod val="60000"/>
              <a:lumOff val="40000"/>
            </a:schemeClr>
          </a:solidFill>
        </p:spPr>
        <p:style>
          <a:lnRef idx="2">
            <a:schemeClr val="lt1">
              <a:hueOff val="0"/>
              <a:satOff val="0"/>
              <a:lumOff val="0"/>
              <a:alphaOff val="0"/>
            </a:schemeClr>
          </a:lnRef>
          <a:fillRef idx="1">
            <a:schemeClr val="accent3">
              <a:alpha val="50000"/>
              <a:hueOff val="2710599"/>
              <a:satOff val="100000"/>
              <a:lumOff val="-14706"/>
              <a:alphaOff val="0"/>
            </a:schemeClr>
          </a:fillRef>
          <a:effectRef idx="0">
            <a:schemeClr val="accent3">
              <a:alpha val="50000"/>
              <a:hueOff val="2710599"/>
              <a:satOff val="100000"/>
              <a:lumOff val="-14706"/>
              <a:alphaOff val="0"/>
            </a:schemeClr>
          </a:effectRef>
          <a:fontRef idx="minor">
            <a:schemeClr val="tx1"/>
          </a:fontRef>
        </p:style>
        <p:txBody>
          <a:bodyPr/>
          <a:lstStyle/>
          <a:p>
            <a:pPr algn="ctr"/>
            <a:r>
              <a:rPr lang="en-US" dirty="0">
                <a:solidFill>
                  <a:srgbClr val="002060"/>
                </a:solidFill>
              </a:rPr>
              <a:t>4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3746DB4C-315A-4A5E-967A-45EEEE0B16F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3744" y="3942940"/>
            <a:ext cx="8344552" cy="2915060"/>
          </a:xfrm>
          <a:prstGeom prst="rect">
            <a:avLst/>
          </a:prstGeom>
        </p:spPr>
      </p:pic>
      <p:sp>
        <p:nvSpPr>
          <p:cNvPr id="10" name="Oval 9">
            <a:extLst>
              <a:ext uri="{FF2B5EF4-FFF2-40B4-BE49-F238E27FC236}">
                <a16:creationId xmlns:a16="http://schemas.microsoft.com/office/drawing/2014/main" id="{5E989808-8D01-4367-9461-A921128C3CB5}"/>
              </a:ext>
            </a:extLst>
          </p:cNvPr>
          <p:cNvSpPr/>
          <p:nvPr/>
        </p:nvSpPr>
        <p:spPr>
          <a:xfrm>
            <a:off x="876300" y="3362848"/>
            <a:ext cx="457200" cy="371104"/>
          </a:xfrm>
          <a:prstGeom prst="ellipse">
            <a:avLst/>
          </a:prstGeom>
          <a:solidFill>
            <a:schemeClr val="accent2">
              <a:lumMod val="60000"/>
              <a:lumOff val="40000"/>
            </a:schemeClr>
          </a:solidFill>
        </p:spPr>
        <p:style>
          <a:lnRef idx="2">
            <a:schemeClr val="lt1">
              <a:hueOff val="0"/>
              <a:satOff val="0"/>
              <a:lumOff val="0"/>
              <a:alphaOff val="0"/>
            </a:schemeClr>
          </a:lnRef>
          <a:fillRef idx="1">
            <a:schemeClr val="accent3">
              <a:alpha val="50000"/>
              <a:hueOff val="2710599"/>
              <a:satOff val="100000"/>
              <a:lumOff val="-14706"/>
              <a:alphaOff val="0"/>
            </a:schemeClr>
          </a:fillRef>
          <a:effectRef idx="0">
            <a:schemeClr val="accent3">
              <a:alpha val="50000"/>
              <a:hueOff val="2710599"/>
              <a:satOff val="100000"/>
              <a:lumOff val="-14706"/>
              <a:alphaOff val="0"/>
            </a:schemeClr>
          </a:effectRef>
          <a:fontRef idx="minor">
            <a:schemeClr val="tx1"/>
          </a:fontRef>
        </p:style>
        <p:txBody>
          <a:bodyPr/>
          <a:lstStyle/>
          <a:p>
            <a:pPr algn="ctr"/>
            <a:r>
              <a:rPr lang="en-US" dirty="0">
                <a:solidFill>
                  <a:srgbClr val="002060"/>
                </a:solidFill>
              </a:rPr>
              <a:t>1</a:t>
            </a:r>
          </a:p>
        </p:txBody>
      </p:sp>
      <p:sp>
        <p:nvSpPr>
          <p:cNvPr id="11" name="Oval 10">
            <a:extLst>
              <a:ext uri="{FF2B5EF4-FFF2-40B4-BE49-F238E27FC236}">
                <a16:creationId xmlns:a16="http://schemas.microsoft.com/office/drawing/2014/main" id="{DE8E861F-FA90-40AB-85F3-F92F5CF6F682}"/>
              </a:ext>
            </a:extLst>
          </p:cNvPr>
          <p:cNvSpPr/>
          <p:nvPr/>
        </p:nvSpPr>
        <p:spPr>
          <a:xfrm>
            <a:off x="4708372" y="6254358"/>
            <a:ext cx="457200" cy="457200"/>
          </a:xfrm>
          <a:prstGeom prst="ellipse">
            <a:avLst/>
          </a:prstGeom>
          <a:solidFill>
            <a:schemeClr val="accent2">
              <a:lumMod val="60000"/>
              <a:lumOff val="40000"/>
            </a:schemeClr>
          </a:solidFill>
        </p:spPr>
        <p:style>
          <a:lnRef idx="2">
            <a:schemeClr val="lt1">
              <a:hueOff val="0"/>
              <a:satOff val="0"/>
              <a:lumOff val="0"/>
              <a:alphaOff val="0"/>
            </a:schemeClr>
          </a:lnRef>
          <a:fillRef idx="1">
            <a:schemeClr val="accent3">
              <a:alpha val="50000"/>
              <a:hueOff val="2710599"/>
              <a:satOff val="100000"/>
              <a:lumOff val="-14706"/>
              <a:alphaOff val="0"/>
            </a:schemeClr>
          </a:fillRef>
          <a:effectRef idx="0">
            <a:schemeClr val="accent3">
              <a:alpha val="50000"/>
              <a:hueOff val="2710599"/>
              <a:satOff val="100000"/>
              <a:lumOff val="-14706"/>
              <a:alphaOff val="0"/>
            </a:schemeClr>
          </a:effectRef>
          <a:fontRef idx="minor">
            <a:schemeClr val="tx1"/>
          </a:fontRef>
        </p:style>
        <p:txBody>
          <a:bodyPr/>
          <a:lstStyle/>
          <a:p>
            <a:pPr algn="ctr"/>
            <a:r>
              <a:rPr lang="en-US" dirty="0">
                <a:solidFill>
                  <a:srgbClr val="002060"/>
                </a:solidFill>
              </a:rPr>
              <a:t>4</a:t>
            </a:r>
          </a:p>
        </p:txBody>
      </p:sp>
    </p:spTree>
    <p:extLst>
      <p:ext uri="{BB962C8B-B14F-4D97-AF65-F5344CB8AC3E}">
        <p14:creationId xmlns:p14="http://schemas.microsoft.com/office/powerpoint/2010/main" val="1807450043"/>
      </p:ext>
    </p:extLst>
  </p:cSld>
  <p:clrMapOvr>
    <a:masterClrMapping/>
  </p:clrMapOvr>
  <p:transition spd="slow">
    <p:push/>
  </p:transition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>
            <a:extLst>
              <a:ext uri="{FF2B5EF4-FFF2-40B4-BE49-F238E27FC236}">
                <a16:creationId xmlns:a16="http://schemas.microsoft.com/office/drawing/2014/main" id="{ECA73E08-EA7B-4063-A9E2-99619F452A9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4516" y="5057816"/>
            <a:ext cx="7848599" cy="1076350"/>
          </a:xfrm>
          <a:prstGeom prst="rect">
            <a:avLst/>
          </a:prstGeom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85992842-7144-4254-AF7B-32210ABE618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3922510"/>
            <a:ext cx="7848600" cy="1117550"/>
          </a:xfrm>
          <a:prstGeom prst="rect">
            <a:avLst/>
          </a:prstGeom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47573AF7-3545-4AEA-A175-F5231E7A962E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0" y="632025"/>
            <a:ext cx="7848600" cy="3286035"/>
          </a:xfrm>
          <a:prstGeom prst="rect">
            <a:avLst/>
          </a:prstGeom>
        </p:spPr>
      </p:pic>
      <p:sp>
        <p:nvSpPr>
          <p:cNvPr id="2" name="Text Placeholder 1"/>
          <p:cNvSpPr>
            <a:spLocks noGrp="1"/>
          </p:cNvSpPr>
          <p:nvPr>
            <p:ph type="body" sz="quarter" idx="4294967295"/>
          </p:nvPr>
        </p:nvSpPr>
        <p:spPr>
          <a:xfrm>
            <a:off x="41763" y="127443"/>
            <a:ext cx="9021763" cy="571500"/>
          </a:xfrm>
        </p:spPr>
        <p:txBody>
          <a:bodyPr/>
          <a:lstStyle/>
          <a:p>
            <a:r>
              <a:rPr lang="en-US" dirty="0"/>
              <a:t>Wing Wei </a:t>
            </a:r>
            <a:r>
              <a:rPr lang="en-US" dirty="0" err="1"/>
              <a:t>luy</a:t>
            </a:r>
            <a:r>
              <a:rPr lang="en-US" dirty="0"/>
              <a:t> View Passcode</a:t>
            </a:r>
          </a:p>
        </p:txBody>
      </p:sp>
      <p:sp>
        <p:nvSpPr>
          <p:cNvPr id="7" name="Oval 6"/>
          <p:cNvSpPr/>
          <p:nvPr/>
        </p:nvSpPr>
        <p:spPr>
          <a:xfrm>
            <a:off x="1054100" y="3478616"/>
            <a:ext cx="457200" cy="457200"/>
          </a:xfrm>
          <a:prstGeom prst="ellipse">
            <a:avLst/>
          </a:prstGeom>
          <a:solidFill>
            <a:schemeClr val="accent2">
              <a:lumMod val="60000"/>
              <a:lumOff val="40000"/>
            </a:schemeClr>
          </a:solidFill>
        </p:spPr>
        <p:style>
          <a:lnRef idx="2">
            <a:schemeClr val="lt1">
              <a:hueOff val="0"/>
              <a:satOff val="0"/>
              <a:lumOff val="0"/>
              <a:alphaOff val="0"/>
            </a:schemeClr>
          </a:lnRef>
          <a:fillRef idx="1">
            <a:schemeClr val="accent3">
              <a:alpha val="50000"/>
              <a:hueOff val="2710599"/>
              <a:satOff val="100000"/>
              <a:lumOff val="-14706"/>
              <a:alphaOff val="0"/>
            </a:schemeClr>
          </a:fillRef>
          <a:effectRef idx="0">
            <a:schemeClr val="accent3">
              <a:alpha val="50000"/>
              <a:hueOff val="2710599"/>
              <a:satOff val="100000"/>
              <a:lumOff val="-14706"/>
              <a:alphaOff val="0"/>
            </a:schemeClr>
          </a:effectRef>
          <a:fontRef idx="minor">
            <a:schemeClr val="tx1"/>
          </a:fontRef>
        </p:style>
        <p:txBody>
          <a:bodyPr/>
          <a:lstStyle/>
          <a:p>
            <a:pPr algn="ctr"/>
            <a:r>
              <a:rPr lang="en-US" dirty="0">
                <a:solidFill>
                  <a:srgbClr val="002060"/>
                </a:solidFill>
              </a:rPr>
              <a:t>1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456D4413-D17A-4371-8DBD-316E356E1EF0}"/>
              </a:ext>
            </a:extLst>
          </p:cNvPr>
          <p:cNvSpPr txBox="1"/>
          <p:nvPr/>
        </p:nvSpPr>
        <p:spPr>
          <a:xfrm>
            <a:off x="7883115" y="843908"/>
            <a:ext cx="4054885" cy="230832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View </a:t>
            </a:r>
            <a:r>
              <a:rPr lang="en-US" dirty="0" err="1"/>
              <a:t>Passcod</a:t>
            </a:r>
            <a:endParaRPr lang="en-US" dirty="0"/>
          </a:p>
          <a:p>
            <a:pPr marL="342900" indent="-342900">
              <a:buFont typeface="+mj-lt"/>
              <a:buAutoNum type="arabicPeriod"/>
            </a:pPr>
            <a:r>
              <a:rPr lang="en-US" dirty="0"/>
              <a:t>Click on Money transfer -&gt; Wing Wei </a:t>
            </a:r>
            <a:r>
              <a:rPr lang="en-US" dirty="0" err="1"/>
              <a:t>luy</a:t>
            </a:r>
            <a:r>
              <a:rPr lang="en-US" dirty="0"/>
              <a:t> View Passcode</a:t>
            </a:r>
          </a:p>
          <a:p>
            <a:pPr marL="342900" indent="-342900">
              <a:buFont typeface="+mj-lt"/>
              <a:buAutoNum type="arabicPeriod"/>
            </a:pPr>
            <a:r>
              <a:rPr lang="en-US" dirty="0"/>
              <a:t>Select bulk you wish to view</a:t>
            </a:r>
          </a:p>
          <a:p>
            <a:pPr marL="342900" indent="-342900">
              <a:buFont typeface="+mj-lt"/>
              <a:buAutoNum type="arabicPeriod"/>
            </a:pPr>
            <a:r>
              <a:rPr lang="en-US" dirty="0"/>
              <a:t> Click View Detail</a:t>
            </a:r>
          </a:p>
          <a:p>
            <a:pPr marL="342900" indent="-342900">
              <a:buFont typeface="+mj-lt"/>
              <a:buAutoNum type="arabicPeriod"/>
            </a:pPr>
            <a:r>
              <a:rPr lang="en-US" dirty="0"/>
              <a:t>After redirecting, tick any record you want to view &amp; click view passcode</a:t>
            </a:r>
          </a:p>
          <a:p>
            <a:endParaRPr lang="en-US" dirty="0"/>
          </a:p>
        </p:txBody>
      </p:sp>
      <p:sp>
        <p:nvSpPr>
          <p:cNvPr id="13" name="Oval 12">
            <a:extLst>
              <a:ext uri="{FF2B5EF4-FFF2-40B4-BE49-F238E27FC236}">
                <a16:creationId xmlns:a16="http://schemas.microsoft.com/office/drawing/2014/main" id="{19429CE5-CBC8-46F4-A02F-DDE710BD1365}"/>
              </a:ext>
            </a:extLst>
          </p:cNvPr>
          <p:cNvSpPr/>
          <p:nvPr/>
        </p:nvSpPr>
        <p:spPr>
          <a:xfrm>
            <a:off x="3048000" y="4568345"/>
            <a:ext cx="457200" cy="457200"/>
          </a:xfrm>
          <a:prstGeom prst="ellipse">
            <a:avLst/>
          </a:prstGeom>
          <a:solidFill>
            <a:schemeClr val="accent2">
              <a:lumMod val="60000"/>
              <a:lumOff val="40000"/>
            </a:schemeClr>
          </a:solidFill>
        </p:spPr>
        <p:style>
          <a:lnRef idx="2">
            <a:schemeClr val="lt1">
              <a:hueOff val="0"/>
              <a:satOff val="0"/>
              <a:lumOff val="0"/>
              <a:alphaOff val="0"/>
            </a:schemeClr>
          </a:lnRef>
          <a:fillRef idx="1">
            <a:schemeClr val="accent3">
              <a:alpha val="50000"/>
              <a:hueOff val="2710599"/>
              <a:satOff val="100000"/>
              <a:lumOff val="-14706"/>
              <a:alphaOff val="0"/>
            </a:schemeClr>
          </a:fillRef>
          <a:effectRef idx="0">
            <a:schemeClr val="accent3">
              <a:alpha val="50000"/>
              <a:hueOff val="2710599"/>
              <a:satOff val="100000"/>
              <a:lumOff val="-14706"/>
              <a:alphaOff val="0"/>
            </a:schemeClr>
          </a:effectRef>
          <a:fontRef idx="minor">
            <a:schemeClr val="tx1"/>
          </a:fontRef>
        </p:style>
        <p:txBody>
          <a:bodyPr/>
          <a:lstStyle/>
          <a:p>
            <a:pPr algn="ctr"/>
            <a:r>
              <a:rPr lang="en-US" dirty="0">
                <a:solidFill>
                  <a:srgbClr val="002060"/>
                </a:solidFill>
              </a:rPr>
              <a:t>4</a:t>
            </a:r>
          </a:p>
        </p:txBody>
      </p:sp>
      <p:sp>
        <p:nvSpPr>
          <p:cNvPr id="14" name="Oval 13">
            <a:extLst>
              <a:ext uri="{FF2B5EF4-FFF2-40B4-BE49-F238E27FC236}">
                <a16:creationId xmlns:a16="http://schemas.microsoft.com/office/drawing/2014/main" id="{5987C2C5-F09E-4FAE-94AF-9041D9499826}"/>
              </a:ext>
            </a:extLst>
          </p:cNvPr>
          <p:cNvSpPr/>
          <p:nvPr/>
        </p:nvSpPr>
        <p:spPr>
          <a:xfrm>
            <a:off x="4903686" y="1812518"/>
            <a:ext cx="457200" cy="371104"/>
          </a:xfrm>
          <a:prstGeom prst="ellipse">
            <a:avLst/>
          </a:prstGeom>
          <a:solidFill>
            <a:schemeClr val="accent2">
              <a:lumMod val="60000"/>
              <a:lumOff val="40000"/>
            </a:schemeClr>
          </a:solidFill>
        </p:spPr>
        <p:style>
          <a:lnRef idx="2">
            <a:schemeClr val="lt1">
              <a:hueOff val="0"/>
              <a:satOff val="0"/>
              <a:lumOff val="0"/>
              <a:alphaOff val="0"/>
            </a:schemeClr>
          </a:lnRef>
          <a:fillRef idx="1">
            <a:schemeClr val="accent3">
              <a:alpha val="50000"/>
              <a:hueOff val="2710599"/>
              <a:satOff val="100000"/>
              <a:lumOff val="-14706"/>
              <a:alphaOff val="0"/>
            </a:schemeClr>
          </a:fillRef>
          <a:effectRef idx="0">
            <a:schemeClr val="accent3">
              <a:alpha val="50000"/>
              <a:hueOff val="2710599"/>
              <a:satOff val="100000"/>
              <a:lumOff val="-14706"/>
              <a:alphaOff val="0"/>
            </a:schemeClr>
          </a:effectRef>
          <a:fontRef idx="minor">
            <a:schemeClr val="tx1"/>
          </a:fontRef>
        </p:style>
        <p:txBody>
          <a:bodyPr/>
          <a:lstStyle/>
          <a:p>
            <a:pPr algn="ctr"/>
            <a:r>
              <a:rPr lang="en-US" dirty="0">
                <a:solidFill>
                  <a:srgbClr val="002060"/>
                </a:solidFill>
              </a:rPr>
              <a:t>3</a:t>
            </a:r>
          </a:p>
        </p:txBody>
      </p:sp>
      <p:sp>
        <p:nvSpPr>
          <p:cNvPr id="15" name="Oval 14">
            <a:extLst>
              <a:ext uri="{FF2B5EF4-FFF2-40B4-BE49-F238E27FC236}">
                <a16:creationId xmlns:a16="http://schemas.microsoft.com/office/drawing/2014/main" id="{7647452D-8AFC-4D77-960E-B07EE711578A}"/>
              </a:ext>
            </a:extLst>
          </p:cNvPr>
          <p:cNvSpPr/>
          <p:nvPr/>
        </p:nvSpPr>
        <p:spPr>
          <a:xfrm>
            <a:off x="1689548" y="1736201"/>
            <a:ext cx="457200" cy="457200"/>
          </a:xfrm>
          <a:prstGeom prst="ellipse">
            <a:avLst/>
          </a:prstGeom>
          <a:solidFill>
            <a:schemeClr val="accent2">
              <a:lumMod val="60000"/>
              <a:lumOff val="40000"/>
            </a:schemeClr>
          </a:solidFill>
        </p:spPr>
        <p:style>
          <a:lnRef idx="2">
            <a:schemeClr val="lt1">
              <a:hueOff val="0"/>
              <a:satOff val="0"/>
              <a:lumOff val="0"/>
              <a:alphaOff val="0"/>
            </a:schemeClr>
          </a:lnRef>
          <a:fillRef idx="1">
            <a:schemeClr val="accent3">
              <a:alpha val="50000"/>
              <a:hueOff val="2710599"/>
              <a:satOff val="100000"/>
              <a:lumOff val="-14706"/>
              <a:alphaOff val="0"/>
            </a:schemeClr>
          </a:fillRef>
          <a:effectRef idx="0">
            <a:schemeClr val="accent3">
              <a:alpha val="50000"/>
              <a:hueOff val="2710599"/>
              <a:satOff val="100000"/>
              <a:lumOff val="-14706"/>
              <a:alphaOff val="0"/>
            </a:schemeClr>
          </a:effectRef>
          <a:fontRef idx="minor">
            <a:schemeClr val="tx1"/>
          </a:fontRef>
        </p:style>
        <p:txBody>
          <a:bodyPr/>
          <a:lstStyle/>
          <a:p>
            <a:pPr algn="ctr"/>
            <a:r>
              <a:rPr lang="en-US" dirty="0">
                <a:solidFill>
                  <a:srgbClr val="002060"/>
                </a:solidFill>
              </a:rPr>
              <a:t>2</a:t>
            </a:r>
          </a:p>
        </p:txBody>
      </p:sp>
    </p:spTree>
    <p:extLst>
      <p:ext uri="{BB962C8B-B14F-4D97-AF65-F5344CB8AC3E}">
        <p14:creationId xmlns:p14="http://schemas.microsoft.com/office/powerpoint/2010/main" val="2860176588"/>
      </p:ext>
    </p:extLst>
  </p:cSld>
  <p:clrMapOvr>
    <a:masterClrMapping/>
  </p:clrMapOvr>
  <p:transition spd="slow">
    <p:push/>
  </p:transition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/>
          <p:cNvSpPr>
            <a:spLocks noGrp="1"/>
          </p:cNvSpPr>
          <p:nvPr>
            <p:ph type="body" sz="quarter" idx="4294967295"/>
          </p:nvPr>
        </p:nvSpPr>
        <p:spPr>
          <a:xfrm>
            <a:off x="0" y="401638"/>
            <a:ext cx="9021763" cy="571500"/>
          </a:xfrm>
        </p:spPr>
        <p:txBody>
          <a:bodyPr/>
          <a:lstStyle/>
          <a:p>
            <a:r>
              <a:rPr lang="en-US" dirty="0"/>
              <a:t>Wing Bank To World</a:t>
            </a:r>
          </a:p>
        </p:txBody>
      </p:sp>
      <p:sp>
        <p:nvSpPr>
          <p:cNvPr id="7" name="Oval 6"/>
          <p:cNvSpPr/>
          <p:nvPr/>
        </p:nvSpPr>
        <p:spPr>
          <a:xfrm>
            <a:off x="5206705" y="301840"/>
            <a:ext cx="457200" cy="457200"/>
          </a:xfrm>
          <a:prstGeom prst="ellipse">
            <a:avLst/>
          </a:prstGeom>
          <a:solidFill>
            <a:schemeClr val="accent2">
              <a:lumMod val="60000"/>
              <a:lumOff val="40000"/>
            </a:schemeClr>
          </a:solidFill>
        </p:spPr>
        <p:style>
          <a:lnRef idx="2">
            <a:schemeClr val="lt1">
              <a:hueOff val="0"/>
              <a:satOff val="0"/>
              <a:lumOff val="0"/>
              <a:alphaOff val="0"/>
            </a:schemeClr>
          </a:lnRef>
          <a:fillRef idx="1">
            <a:schemeClr val="accent3">
              <a:alpha val="50000"/>
              <a:hueOff val="2710599"/>
              <a:satOff val="100000"/>
              <a:lumOff val="-14706"/>
              <a:alphaOff val="0"/>
            </a:schemeClr>
          </a:fillRef>
          <a:effectRef idx="0">
            <a:schemeClr val="accent3">
              <a:alpha val="50000"/>
              <a:hueOff val="2710599"/>
              <a:satOff val="100000"/>
              <a:lumOff val="-14706"/>
              <a:alphaOff val="0"/>
            </a:schemeClr>
          </a:effectRef>
          <a:fontRef idx="minor">
            <a:schemeClr val="tx1"/>
          </a:fontRef>
        </p:style>
        <p:txBody>
          <a:bodyPr/>
          <a:lstStyle/>
          <a:p>
            <a:pPr algn="ctr"/>
            <a:r>
              <a:rPr lang="en-US" dirty="0">
                <a:solidFill>
                  <a:srgbClr val="FF0000"/>
                </a:solidFill>
              </a:rPr>
              <a:t>1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5460F576-030B-4AFF-8041-4F7C09EA90D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4341088"/>
            <a:ext cx="12025746" cy="1953289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4D3A716C-BA0B-4436-86F9-3C182DEE24E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1380585"/>
            <a:ext cx="2810267" cy="2553056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630356B7-6195-45B5-B2BD-EBE7739E198F}"/>
              </a:ext>
            </a:extLst>
          </p:cNvPr>
          <p:cNvSpPr txBox="1"/>
          <p:nvPr/>
        </p:nvSpPr>
        <p:spPr>
          <a:xfrm>
            <a:off x="6437746" y="1087452"/>
            <a:ext cx="4876800" cy="31393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Wing Bank To World is used for International Transfer, it support multiple </a:t>
            </a:r>
            <a:r>
              <a:rPr lang="en-US" dirty="0" err="1"/>
              <a:t>parnters</a:t>
            </a:r>
            <a:endParaRPr lang="en-US" dirty="0"/>
          </a:p>
          <a:p>
            <a:pPr marL="342900" indent="-342900">
              <a:buFont typeface="+mj-lt"/>
              <a:buAutoNum type="arabicPeriod"/>
            </a:pPr>
            <a:r>
              <a:rPr lang="en-US" dirty="0"/>
              <a:t>Click on Money transfer -&gt; Wing Bank to World</a:t>
            </a:r>
          </a:p>
          <a:p>
            <a:pPr marL="342900" indent="-342900">
              <a:buFont typeface="+mj-lt"/>
              <a:buAutoNum type="arabicPeriod"/>
            </a:pPr>
            <a:r>
              <a:rPr lang="en-US" dirty="0"/>
              <a:t>Select “Transfer to”, “Partner”, “Payment Currency”, “Service Type”</a:t>
            </a:r>
          </a:p>
          <a:p>
            <a:pPr marL="342900" indent="-342900">
              <a:buFont typeface="+mj-lt"/>
              <a:buAutoNum type="arabicPeriod"/>
            </a:pPr>
            <a:r>
              <a:rPr lang="en-US" dirty="0"/>
              <a:t>Click on submit and it will dynamic generate input that required from each partner (each partner has different input)</a:t>
            </a:r>
          </a:p>
          <a:p>
            <a:pPr marL="342900" indent="-342900">
              <a:buFont typeface="+mj-lt"/>
              <a:buAutoNum type="arabicPeriod"/>
            </a:pPr>
            <a:r>
              <a:rPr lang="en-US" dirty="0"/>
              <a:t>Enter required input</a:t>
            </a:r>
          </a:p>
          <a:p>
            <a:pPr marL="342900" indent="-342900">
              <a:buFont typeface="+mj-lt"/>
              <a:buAutoNum type="arabicPeriod"/>
            </a:pPr>
            <a:r>
              <a:rPr lang="en-US" dirty="0"/>
              <a:t>Click submit</a:t>
            </a:r>
          </a:p>
        </p:txBody>
      </p:sp>
    </p:spTree>
    <p:extLst>
      <p:ext uri="{BB962C8B-B14F-4D97-AF65-F5344CB8AC3E}">
        <p14:creationId xmlns:p14="http://schemas.microsoft.com/office/powerpoint/2010/main" val="3731686894"/>
      </p:ext>
    </p:extLst>
  </p:cSld>
  <p:clrMapOvr>
    <a:masterClrMapping/>
  </p:clrMapOvr>
  <p:transition spd="slow">
    <p:push/>
  </p:transition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/>
          <p:cNvSpPr>
            <a:spLocks noGrp="1"/>
          </p:cNvSpPr>
          <p:nvPr>
            <p:ph type="body" sz="quarter" idx="4294967295"/>
          </p:nvPr>
        </p:nvSpPr>
        <p:spPr>
          <a:xfrm>
            <a:off x="0" y="401638"/>
            <a:ext cx="9021763" cy="571500"/>
          </a:xfrm>
        </p:spPr>
        <p:txBody>
          <a:bodyPr/>
          <a:lstStyle/>
          <a:p>
            <a:r>
              <a:rPr lang="en-US" dirty="0"/>
              <a:t>Wing Bank to World</a:t>
            </a:r>
          </a:p>
        </p:txBody>
      </p:sp>
      <p:sp>
        <p:nvSpPr>
          <p:cNvPr id="7" name="Oval 6"/>
          <p:cNvSpPr/>
          <p:nvPr/>
        </p:nvSpPr>
        <p:spPr>
          <a:xfrm>
            <a:off x="5206705" y="301840"/>
            <a:ext cx="457200" cy="457200"/>
          </a:xfrm>
          <a:prstGeom prst="ellipse">
            <a:avLst/>
          </a:prstGeom>
          <a:solidFill>
            <a:schemeClr val="accent2">
              <a:lumMod val="60000"/>
              <a:lumOff val="40000"/>
            </a:schemeClr>
          </a:solidFill>
        </p:spPr>
        <p:style>
          <a:lnRef idx="2">
            <a:schemeClr val="lt1">
              <a:hueOff val="0"/>
              <a:satOff val="0"/>
              <a:lumOff val="0"/>
              <a:alphaOff val="0"/>
            </a:schemeClr>
          </a:lnRef>
          <a:fillRef idx="1">
            <a:schemeClr val="accent3">
              <a:alpha val="50000"/>
              <a:hueOff val="2710599"/>
              <a:satOff val="100000"/>
              <a:lumOff val="-14706"/>
              <a:alphaOff val="0"/>
            </a:schemeClr>
          </a:fillRef>
          <a:effectRef idx="0">
            <a:schemeClr val="accent3">
              <a:alpha val="50000"/>
              <a:hueOff val="2710599"/>
              <a:satOff val="100000"/>
              <a:lumOff val="-14706"/>
              <a:alphaOff val="0"/>
            </a:schemeClr>
          </a:effectRef>
          <a:fontRef idx="minor">
            <a:schemeClr val="tx1"/>
          </a:fontRef>
        </p:style>
        <p:txBody>
          <a:bodyPr/>
          <a:lstStyle/>
          <a:p>
            <a:pPr algn="ctr"/>
            <a:r>
              <a:rPr lang="en-US" dirty="0">
                <a:solidFill>
                  <a:srgbClr val="FF0000"/>
                </a:solidFill>
              </a:rPr>
              <a:t>1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3ACFCE82-DBFD-405C-B1BA-50A31FE9F32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256556"/>
            <a:ext cx="5809673" cy="5542312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30B9EE09-84D9-44D5-B4E5-4076EE7F9DB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59418" y="1256556"/>
            <a:ext cx="5098474" cy="558343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82070495"/>
      </p:ext>
    </p:extLst>
  </p:cSld>
  <p:clrMapOvr>
    <a:masterClrMapping/>
  </p:clrMapOvr>
  <p:transition spd="slow">
    <p:push/>
  </p:transition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2B319B7D-AF30-474E-8B95-870F3AF23B5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3930217"/>
            <a:ext cx="11896436" cy="2927783"/>
          </a:xfrm>
          <a:prstGeom prst="rect">
            <a:avLst/>
          </a:prstGeom>
        </p:spPr>
      </p:pic>
      <p:sp>
        <p:nvSpPr>
          <p:cNvPr id="2" name="Text Placeholder 1"/>
          <p:cNvSpPr>
            <a:spLocks noGrp="1"/>
          </p:cNvSpPr>
          <p:nvPr>
            <p:ph type="body" sz="quarter" idx="4294967295"/>
          </p:nvPr>
        </p:nvSpPr>
        <p:spPr>
          <a:xfrm>
            <a:off x="0" y="401638"/>
            <a:ext cx="9021763" cy="571500"/>
          </a:xfrm>
        </p:spPr>
        <p:txBody>
          <a:bodyPr/>
          <a:lstStyle/>
          <a:p>
            <a:r>
              <a:rPr lang="en-US" dirty="0"/>
              <a:t>Wing Bank to World Bulk</a:t>
            </a:r>
          </a:p>
        </p:txBody>
      </p:sp>
      <p:sp>
        <p:nvSpPr>
          <p:cNvPr id="7" name="Oval 6"/>
          <p:cNvSpPr/>
          <p:nvPr/>
        </p:nvSpPr>
        <p:spPr>
          <a:xfrm>
            <a:off x="5206705" y="301840"/>
            <a:ext cx="457200" cy="457200"/>
          </a:xfrm>
          <a:prstGeom prst="ellipse">
            <a:avLst/>
          </a:prstGeom>
          <a:solidFill>
            <a:schemeClr val="accent2">
              <a:lumMod val="60000"/>
              <a:lumOff val="40000"/>
            </a:schemeClr>
          </a:solidFill>
        </p:spPr>
        <p:style>
          <a:lnRef idx="2">
            <a:schemeClr val="lt1">
              <a:hueOff val="0"/>
              <a:satOff val="0"/>
              <a:lumOff val="0"/>
              <a:alphaOff val="0"/>
            </a:schemeClr>
          </a:lnRef>
          <a:fillRef idx="1">
            <a:schemeClr val="accent3">
              <a:alpha val="50000"/>
              <a:hueOff val="2710599"/>
              <a:satOff val="100000"/>
              <a:lumOff val="-14706"/>
              <a:alphaOff val="0"/>
            </a:schemeClr>
          </a:fillRef>
          <a:effectRef idx="0">
            <a:schemeClr val="accent3">
              <a:alpha val="50000"/>
              <a:hueOff val="2710599"/>
              <a:satOff val="100000"/>
              <a:lumOff val="-14706"/>
              <a:alphaOff val="0"/>
            </a:schemeClr>
          </a:effectRef>
          <a:fontRef idx="minor">
            <a:schemeClr val="tx1"/>
          </a:fontRef>
        </p:style>
        <p:txBody>
          <a:bodyPr/>
          <a:lstStyle/>
          <a:p>
            <a:pPr algn="ctr"/>
            <a:r>
              <a:rPr lang="en-US" dirty="0">
                <a:solidFill>
                  <a:srgbClr val="FF0000"/>
                </a:solidFill>
              </a:rPr>
              <a:t>1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630356B7-6195-45B5-B2BD-EBE7739E198F}"/>
              </a:ext>
            </a:extLst>
          </p:cNvPr>
          <p:cNvSpPr txBox="1"/>
          <p:nvPr/>
        </p:nvSpPr>
        <p:spPr>
          <a:xfrm>
            <a:off x="6437746" y="1087452"/>
            <a:ext cx="4876800" cy="34163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Wing Bank To World is used for International Transfer, it support multiple </a:t>
            </a:r>
            <a:r>
              <a:rPr lang="en-US" dirty="0" err="1"/>
              <a:t>parnters</a:t>
            </a:r>
            <a:endParaRPr lang="en-US" dirty="0"/>
          </a:p>
          <a:p>
            <a:pPr marL="342900" indent="-342900">
              <a:buFont typeface="+mj-lt"/>
              <a:buAutoNum type="arabicPeriod"/>
            </a:pPr>
            <a:r>
              <a:rPr lang="en-US" dirty="0"/>
              <a:t>Click on Money transfer -&gt; Wing Bank to World Bulk</a:t>
            </a:r>
          </a:p>
          <a:p>
            <a:pPr marL="342900" indent="-342900">
              <a:buFont typeface="+mj-lt"/>
              <a:buAutoNum type="arabicPeriod"/>
            </a:pPr>
            <a:r>
              <a:rPr lang="en-US" dirty="0"/>
              <a:t>Select “Transfer to”, “Partner”, “Payment Currency”, “Service Type”</a:t>
            </a:r>
          </a:p>
          <a:p>
            <a:pPr marL="342900" indent="-342900">
              <a:buFont typeface="+mj-lt"/>
              <a:buAutoNum type="arabicPeriod"/>
            </a:pPr>
            <a:r>
              <a:rPr lang="en-US" dirty="0"/>
              <a:t>Click on “Download Sample File) and it will dynamic generate input that required from each partner (each partner has different input)</a:t>
            </a:r>
          </a:p>
          <a:p>
            <a:pPr marL="342900" indent="-342900">
              <a:buFont typeface="+mj-lt"/>
              <a:buAutoNum type="arabicPeriod"/>
            </a:pPr>
            <a:r>
              <a:rPr lang="en-US" dirty="0"/>
              <a:t>After filled info, upload file</a:t>
            </a:r>
          </a:p>
          <a:p>
            <a:pPr marL="342900" indent="-342900">
              <a:buFont typeface="+mj-lt"/>
              <a:buAutoNum type="arabicPeriod"/>
            </a:pPr>
            <a:r>
              <a:rPr lang="en-US" dirty="0"/>
              <a:t>Click submit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A5345565-2E99-4DB9-BA95-BE647EED389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1276050"/>
            <a:ext cx="2829320" cy="21529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72081143"/>
      </p:ext>
    </p:extLst>
  </p:cSld>
  <p:clrMapOvr>
    <a:masterClrMapping/>
  </p:clrMapOvr>
  <p:transition spd="slow">
    <p:push/>
  </p:transition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>
            <a:extLst>
              <a:ext uri="{FF2B5EF4-FFF2-40B4-BE49-F238E27FC236}">
                <a16:creationId xmlns:a16="http://schemas.microsoft.com/office/drawing/2014/main" id="{31814A02-ACE5-43F2-85A9-8B17E3FF6D0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172268" y="700424"/>
            <a:ext cx="9019732" cy="2627388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2ED858C7-5CC0-4445-9C35-F1E0A86A061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998625"/>
            <a:ext cx="3172268" cy="4658375"/>
          </a:xfrm>
          <a:prstGeom prst="rect">
            <a:avLst/>
          </a:prstGeom>
        </p:spPr>
      </p:pic>
      <p:sp>
        <p:nvSpPr>
          <p:cNvPr id="2" name="Text Placeholder 1"/>
          <p:cNvSpPr>
            <a:spLocks noGrp="1"/>
          </p:cNvSpPr>
          <p:nvPr>
            <p:ph type="body" sz="quarter" idx="4294967295"/>
          </p:nvPr>
        </p:nvSpPr>
        <p:spPr>
          <a:xfrm>
            <a:off x="41763" y="127443"/>
            <a:ext cx="9021763" cy="571500"/>
          </a:xfrm>
        </p:spPr>
        <p:txBody>
          <a:bodyPr/>
          <a:lstStyle/>
          <a:p>
            <a:r>
              <a:rPr lang="en-US" dirty="0" err="1"/>
              <a:t>Bakong</a:t>
            </a:r>
            <a:r>
              <a:rPr lang="en-US" dirty="0"/>
              <a:t> Transfer</a:t>
            </a:r>
          </a:p>
        </p:txBody>
      </p:sp>
      <p:sp>
        <p:nvSpPr>
          <p:cNvPr id="7" name="Oval 6"/>
          <p:cNvSpPr/>
          <p:nvPr/>
        </p:nvSpPr>
        <p:spPr>
          <a:xfrm>
            <a:off x="1905000" y="3762531"/>
            <a:ext cx="457200" cy="457200"/>
          </a:xfrm>
          <a:prstGeom prst="ellipse">
            <a:avLst/>
          </a:prstGeom>
          <a:solidFill>
            <a:schemeClr val="accent2">
              <a:lumMod val="60000"/>
              <a:lumOff val="40000"/>
            </a:schemeClr>
          </a:solidFill>
        </p:spPr>
        <p:style>
          <a:lnRef idx="2">
            <a:schemeClr val="lt1">
              <a:hueOff val="0"/>
              <a:satOff val="0"/>
              <a:lumOff val="0"/>
              <a:alphaOff val="0"/>
            </a:schemeClr>
          </a:lnRef>
          <a:fillRef idx="1">
            <a:schemeClr val="accent3">
              <a:alpha val="50000"/>
              <a:hueOff val="2710599"/>
              <a:satOff val="100000"/>
              <a:lumOff val="-14706"/>
              <a:alphaOff val="0"/>
            </a:schemeClr>
          </a:fillRef>
          <a:effectRef idx="0">
            <a:schemeClr val="accent3">
              <a:alpha val="50000"/>
              <a:hueOff val="2710599"/>
              <a:satOff val="100000"/>
              <a:lumOff val="-14706"/>
              <a:alphaOff val="0"/>
            </a:schemeClr>
          </a:effectRef>
          <a:fontRef idx="minor">
            <a:schemeClr val="tx1"/>
          </a:fontRef>
        </p:style>
        <p:txBody>
          <a:bodyPr/>
          <a:lstStyle/>
          <a:p>
            <a:pPr algn="ctr"/>
            <a:r>
              <a:rPr lang="en-US" dirty="0">
                <a:solidFill>
                  <a:srgbClr val="002060"/>
                </a:solidFill>
              </a:rPr>
              <a:t>1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456D4413-D17A-4371-8DBD-316E356E1EF0}"/>
              </a:ext>
            </a:extLst>
          </p:cNvPr>
          <p:cNvSpPr txBox="1"/>
          <p:nvPr/>
        </p:nvSpPr>
        <p:spPr>
          <a:xfrm>
            <a:off x="6096000" y="3991131"/>
            <a:ext cx="5935053" cy="203132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err="1"/>
              <a:t>Bakong</a:t>
            </a:r>
            <a:r>
              <a:rPr lang="en-US" dirty="0"/>
              <a:t> transfer</a:t>
            </a:r>
          </a:p>
          <a:p>
            <a:pPr marL="342900" indent="-342900">
              <a:buFont typeface="+mj-lt"/>
              <a:buAutoNum type="arabicPeriod"/>
            </a:pPr>
            <a:r>
              <a:rPr lang="en-US" dirty="0"/>
              <a:t>Click on Money transfer -&gt; Wing Wei </a:t>
            </a:r>
            <a:r>
              <a:rPr lang="en-US" dirty="0" err="1"/>
              <a:t>luy</a:t>
            </a:r>
            <a:r>
              <a:rPr lang="en-US" dirty="0"/>
              <a:t> Bulk</a:t>
            </a:r>
          </a:p>
          <a:p>
            <a:pPr marL="342900" indent="-342900">
              <a:buFont typeface="+mj-lt"/>
              <a:buAutoNum type="arabicPeriod"/>
            </a:pPr>
            <a:r>
              <a:rPr lang="en-US" dirty="0"/>
              <a:t>Select bank</a:t>
            </a:r>
          </a:p>
          <a:p>
            <a:pPr marL="342900" indent="-342900">
              <a:buFont typeface="+mj-lt"/>
              <a:buAutoNum type="arabicPeriod"/>
            </a:pPr>
            <a:r>
              <a:rPr lang="en-US" dirty="0"/>
              <a:t>Enter required data</a:t>
            </a:r>
          </a:p>
          <a:p>
            <a:pPr marL="342900" indent="-342900">
              <a:buFont typeface="+mj-lt"/>
              <a:buAutoNum type="arabicPeriod"/>
            </a:pPr>
            <a:r>
              <a:rPr lang="en-US" dirty="0"/>
              <a:t>Click on validate</a:t>
            </a:r>
          </a:p>
          <a:p>
            <a:pPr marL="342900" indent="-342900">
              <a:buFont typeface="+mj-lt"/>
              <a:buAutoNum type="arabicPeriod"/>
            </a:pPr>
            <a:r>
              <a:rPr lang="en-US" dirty="0"/>
              <a:t> Click on submit</a:t>
            </a:r>
          </a:p>
          <a:p>
            <a:endParaRPr lang="en-US" dirty="0"/>
          </a:p>
        </p:txBody>
      </p:sp>
      <p:sp>
        <p:nvSpPr>
          <p:cNvPr id="13" name="Oval 12">
            <a:extLst>
              <a:ext uri="{FF2B5EF4-FFF2-40B4-BE49-F238E27FC236}">
                <a16:creationId xmlns:a16="http://schemas.microsoft.com/office/drawing/2014/main" id="{19429CE5-CBC8-46F4-A02F-DDE710BD1365}"/>
              </a:ext>
            </a:extLst>
          </p:cNvPr>
          <p:cNvSpPr/>
          <p:nvPr/>
        </p:nvSpPr>
        <p:spPr>
          <a:xfrm>
            <a:off x="5638800" y="2246040"/>
            <a:ext cx="457200" cy="457200"/>
          </a:xfrm>
          <a:prstGeom prst="ellipse">
            <a:avLst/>
          </a:prstGeom>
          <a:solidFill>
            <a:schemeClr val="accent2">
              <a:lumMod val="60000"/>
              <a:lumOff val="40000"/>
            </a:schemeClr>
          </a:solidFill>
        </p:spPr>
        <p:style>
          <a:lnRef idx="2">
            <a:schemeClr val="lt1">
              <a:hueOff val="0"/>
              <a:satOff val="0"/>
              <a:lumOff val="0"/>
              <a:alphaOff val="0"/>
            </a:schemeClr>
          </a:lnRef>
          <a:fillRef idx="1">
            <a:schemeClr val="accent3">
              <a:alpha val="50000"/>
              <a:hueOff val="2710599"/>
              <a:satOff val="100000"/>
              <a:lumOff val="-14706"/>
              <a:alphaOff val="0"/>
            </a:schemeClr>
          </a:fillRef>
          <a:effectRef idx="0">
            <a:schemeClr val="accent3">
              <a:alpha val="50000"/>
              <a:hueOff val="2710599"/>
              <a:satOff val="100000"/>
              <a:lumOff val="-14706"/>
              <a:alphaOff val="0"/>
            </a:schemeClr>
          </a:effectRef>
          <a:fontRef idx="minor">
            <a:schemeClr val="tx1"/>
          </a:fontRef>
        </p:style>
        <p:txBody>
          <a:bodyPr/>
          <a:lstStyle/>
          <a:p>
            <a:pPr algn="ctr"/>
            <a:r>
              <a:rPr lang="en-US" dirty="0">
                <a:solidFill>
                  <a:srgbClr val="002060"/>
                </a:solidFill>
              </a:rPr>
              <a:t>3</a:t>
            </a:r>
          </a:p>
        </p:txBody>
      </p:sp>
      <p:sp>
        <p:nvSpPr>
          <p:cNvPr id="14" name="Oval 13">
            <a:extLst>
              <a:ext uri="{FF2B5EF4-FFF2-40B4-BE49-F238E27FC236}">
                <a16:creationId xmlns:a16="http://schemas.microsoft.com/office/drawing/2014/main" id="{5987C2C5-F09E-4FAE-94AF-9041D9499826}"/>
              </a:ext>
            </a:extLst>
          </p:cNvPr>
          <p:cNvSpPr/>
          <p:nvPr/>
        </p:nvSpPr>
        <p:spPr>
          <a:xfrm>
            <a:off x="7656734" y="1492433"/>
            <a:ext cx="457200" cy="371104"/>
          </a:xfrm>
          <a:prstGeom prst="ellipse">
            <a:avLst/>
          </a:prstGeom>
          <a:solidFill>
            <a:schemeClr val="accent2">
              <a:lumMod val="60000"/>
              <a:lumOff val="40000"/>
            </a:schemeClr>
          </a:solidFill>
        </p:spPr>
        <p:style>
          <a:lnRef idx="2">
            <a:schemeClr val="lt1">
              <a:hueOff val="0"/>
              <a:satOff val="0"/>
              <a:lumOff val="0"/>
              <a:alphaOff val="0"/>
            </a:schemeClr>
          </a:lnRef>
          <a:fillRef idx="1">
            <a:schemeClr val="accent3">
              <a:alpha val="50000"/>
              <a:hueOff val="2710599"/>
              <a:satOff val="100000"/>
              <a:lumOff val="-14706"/>
              <a:alphaOff val="0"/>
            </a:schemeClr>
          </a:fillRef>
          <a:effectRef idx="0">
            <a:schemeClr val="accent3">
              <a:alpha val="50000"/>
              <a:hueOff val="2710599"/>
              <a:satOff val="100000"/>
              <a:lumOff val="-14706"/>
              <a:alphaOff val="0"/>
            </a:schemeClr>
          </a:effectRef>
          <a:fontRef idx="minor">
            <a:schemeClr val="tx1"/>
          </a:fontRef>
        </p:style>
        <p:txBody>
          <a:bodyPr/>
          <a:lstStyle/>
          <a:p>
            <a:pPr algn="ctr"/>
            <a:r>
              <a:rPr lang="en-US" dirty="0">
                <a:solidFill>
                  <a:srgbClr val="002060"/>
                </a:solidFill>
              </a:rPr>
              <a:t>2</a:t>
            </a:r>
          </a:p>
        </p:txBody>
      </p:sp>
      <p:sp>
        <p:nvSpPr>
          <p:cNvPr id="15" name="Oval 14">
            <a:extLst>
              <a:ext uri="{FF2B5EF4-FFF2-40B4-BE49-F238E27FC236}">
                <a16:creationId xmlns:a16="http://schemas.microsoft.com/office/drawing/2014/main" id="{7647452D-8AFC-4D77-960E-B07EE711578A}"/>
              </a:ext>
            </a:extLst>
          </p:cNvPr>
          <p:cNvSpPr/>
          <p:nvPr/>
        </p:nvSpPr>
        <p:spPr>
          <a:xfrm>
            <a:off x="4728701" y="2703240"/>
            <a:ext cx="457200" cy="457200"/>
          </a:xfrm>
          <a:prstGeom prst="ellipse">
            <a:avLst/>
          </a:prstGeom>
          <a:solidFill>
            <a:schemeClr val="accent2">
              <a:lumMod val="60000"/>
              <a:lumOff val="40000"/>
            </a:schemeClr>
          </a:solidFill>
        </p:spPr>
        <p:style>
          <a:lnRef idx="2">
            <a:schemeClr val="lt1">
              <a:hueOff val="0"/>
              <a:satOff val="0"/>
              <a:lumOff val="0"/>
              <a:alphaOff val="0"/>
            </a:schemeClr>
          </a:lnRef>
          <a:fillRef idx="1">
            <a:schemeClr val="accent3">
              <a:alpha val="50000"/>
              <a:hueOff val="2710599"/>
              <a:satOff val="100000"/>
              <a:lumOff val="-14706"/>
              <a:alphaOff val="0"/>
            </a:schemeClr>
          </a:fillRef>
          <a:effectRef idx="0">
            <a:schemeClr val="accent3">
              <a:alpha val="50000"/>
              <a:hueOff val="2710599"/>
              <a:satOff val="100000"/>
              <a:lumOff val="-14706"/>
              <a:alphaOff val="0"/>
            </a:schemeClr>
          </a:effectRef>
          <a:fontRef idx="minor">
            <a:schemeClr val="tx1"/>
          </a:fontRef>
        </p:style>
        <p:txBody>
          <a:bodyPr/>
          <a:lstStyle/>
          <a:p>
            <a:pPr algn="ctr"/>
            <a:r>
              <a:rPr lang="en-US" dirty="0">
                <a:solidFill>
                  <a:srgbClr val="002060"/>
                </a:solidFill>
              </a:rPr>
              <a:t>4</a:t>
            </a:r>
          </a:p>
        </p:txBody>
      </p:sp>
      <p:sp>
        <p:nvSpPr>
          <p:cNvPr id="12" name="Oval 11">
            <a:extLst>
              <a:ext uri="{FF2B5EF4-FFF2-40B4-BE49-F238E27FC236}">
                <a16:creationId xmlns:a16="http://schemas.microsoft.com/office/drawing/2014/main" id="{7961B4D5-0238-444B-9F17-99CEC5C0740A}"/>
              </a:ext>
            </a:extLst>
          </p:cNvPr>
          <p:cNvSpPr/>
          <p:nvPr/>
        </p:nvSpPr>
        <p:spPr>
          <a:xfrm>
            <a:off x="8252906" y="2881452"/>
            <a:ext cx="457200" cy="457200"/>
          </a:xfrm>
          <a:prstGeom prst="ellipse">
            <a:avLst/>
          </a:prstGeom>
          <a:solidFill>
            <a:schemeClr val="accent2">
              <a:lumMod val="60000"/>
              <a:lumOff val="40000"/>
            </a:schemeClr>
          </a:solidFill>
        </p:spPr>
        <p:style>
          <a:lnRef idx="2">
            <a:schemeClr val="lt1">
              <a:hueOff val="0"/>
              <a:satOff val="0"/>
              <a:lumOff val="0"/>
              <a:alphaOff val="0"/>
            </a:schemeClr>
          </a:lnRef>
          <a:fillRef idx="1">
            <a:schemeClr val="accent3">
              <a:alpha val="50000"/>
              <a:hueOff val="2710599"/>
              <a:satOff val="100000"/>
              <a:lumOff val="-14706"/>
              <a:alphaOff val="0"/>
            </a:schemeClr>
          </a:fillRef>
          <a:effectRef idx="0">
            <a:schemeClr val="accent3">
              <a:alpha val="50000"/>
              <a:hueOff val="2710599"/>
              <a:satOff val="100000"/>
              <a:lumOff val="-14706"/>
              <a:alphaOff val="0"/>
            </a:schemeClr>
          </a:effectRef>
          <a:fontRef idx="minor">
            <a:schemeClr val="tx1"/>
          </a:fontRef>
        </p:style>
        <p:txBody>
          <a:bodyPr/>
          <a:lstStyle/>
          <a:p>
            <a:pPr algn="ctr"/>
            <a:r>
              <a:rPr lang="en-US" dirty="0">
                <a:solidFill>
                  <a:srgbClr val="002060"/>
                </a:solidFill>
              </a:rPr>
              <a:t>4</a:t>
            </a:r>
          </a:p>
        </p:txBody>
      </p:sp>
    </p:spTree>
    <p:extLst>
      <p:ext uri="{BB962C8B-B14F-4D97-AF65-F5344CB8AC3E}">
        <p14:creationId xmlns:p14="http://schemas.microsoft.com/office/powerpoint/2010/main" val="581116688"/>
      </p:ext>
    </p:extLst>
  </p:cSld>
  <p:clrMapOvr>
    <a:masterClrMapping/>
  </p:clrMapOvr>
  <p:transition spd="slow">
    <p:push/>
  </p:transition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/>
          <p:cNvSpPr>
            <a:spLocks noGrp="1"/>
          </p:cNvSpPr>
          <p:nvPr>
            <p:ph type="body" sz="quarter" idx="4294967295"/>
          </p:nvPr>
        </p:nvSpPr>
        <p:spPr>
          <a:xfrm>
            <a:off x="0" y="401638"/>
            <a:ext cx="9021763" cy="571500"/>
          </a:xfrm>
        </p:spPr>
        <p:txBody>
          <a:bodyPr/>
          <a:lstStyle/>
          <a:p>
            <a:pPr marL="0" indent="0">
              <a:buNone/>
            </a:pPr>
            <a:r>
              <a:rPr lang="en-US" dirty="0"/>
              <a:t>Transfer Via </a:t>
            </a:r>
            <a:r>
              <a:rPr lang="en-US" dirty="0" err="1"/>
              <a:t>Bakong</a:t>
            </a:r>
            <a:r>
              <a:rPr lang="en-US" dirty="0"/>
              <a:t> (Bulk)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9DFCF1C8-73F8-4706-A11E-EE4F70FF63D1}"/>
              </a:ext>
            </a:extLst>
          </p:cNvPr>
          <p:cNvSpPr txBox="1"/>
          <p:nvPr/>
        </p:nvSpPr>
        <p:spPr>
          <a:xfrm>
            <a:off x="482600" y="1231900"/>
            <a:ext cx="5414559" cy="203132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Transfer via </a:t>
            </a:r>
            <a:r>
              <a:rPr lang="en-US" dirty="0" err="1"/>
              <a:t>Bakong</a:t>
            </a:r>
            <a:r>
              <a:rPr lang="en-US" dirty="0"/>
              <a:t> Bulk</a:t>
            </a:r>
          </a:p>
          <a:p>
            <a:pPr marL="342900" indent="-342900">
              <a:buFont typeface="+mj-lt"/>
              <a:buAutoNum type="arabicPeriod"/>
            </a:pPr>
            <a:r>
              <a:rPr lang="en-US" dirty="0"/>
              <a:t>Click on Money transfer -&gt; Transfer Via </a:t>
            </a:r>
            <a:r>
              <a:rPr lang="en-US" dirty="0" err="1"/>
              <a:t>Bakong</a:t>
            </a:r>
            <a:r>
              <a:rPr lang="en-US" dirty="0"/>
              <a:t> (Bulk</a:t>
            </a:r>
          </a:p>
          <a:p>
            <a:pPr marL="342900" indent="-342900">
              <a:buFont typeface="+mj-lt"/>
              <a:buAutoNum type="arabicPeriod"/>
            </a:pPr>
            <a:r>
              <a:rPr lang="en-US" dirty="0"/>
              <a:t>Select Bank</a:t>
            </a:r>
          </a:p>
          <a:p>
            <a:pPr marL="342900" indent="-342900">
              <a:buFont typeface="+mj-lt"/>
              <a:buAutoNum type="arabicPeriod"/>
            </a:pPr>
            <a:r>
              <a:rPr lang="en-US" dirty="0"/>
              <a:t>Choose Upload File</a:t>
            </a:r>
          </a:p>
          <a:p>
            <a:pPr marL="342900" indent="-342900">
              <a:buFont typeface="+mj-lt"/>
              <a:buAutoNum type="arabicPeriod"/>
            </a:pPr>
            <a:r>
              <a:rPr lang="en-US" dirty="0"/>
              <a:t>Click Submit</a:t>
            </a:r>
          </a:p>
          <a:p>
            <a:pPr marL="342900" indent="-342900">
              <a:buFont typeface="+mj-lt"/>
              <a:buAutoNum type="arabicPeriod"/>
            </a:pPr>
            <a:r>
              <a:rPr lang="en-US" dirty="0"/>
              <a:t> After review click submit again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802342006"/>
      </p:ext>
    </p:extLst>
  </p:cSld>
  <p:clrMapOvr>
    <a:masterClrMapping/>
  </p:clrMapOvr>
  <p:transition spd="slow">
    <p:push/>
  </p:transition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6BF1C804-B962-4B09-9E91-A169FB733A8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072936"/>
            <a:ext cx="3450978" cy="5048464"/>
          </a:xfrm>
          <a:prstGeom prst="rect">
            <a:avLst/>
          </a:prstGeom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709571E3-42F8-45E4-A90B-72BF7C62BAA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566230" y="3429000"/>
            <a:ext cx="8607524" cy="2797583"/>
          </a:xfrm>
          <a:prstGeom prst="rect">
            <a:avLst/>
          </a:prstGeom>
        </p:spPr>
      </p:pic>
      <p:sp>
        <p:nvSpPr>
          <p:cNvPr id="2" name="Text Placeholder 1"/>
          <p:cNvSpPr>
            <a:spLocks noGrp="1"/>
          </p:cNvSpPr>
          <p:nvPr>
            <p:ph type="body" sz="quarter" idx="4294967295"/>
          </p:nvPr>
        </p:nvSpPr>
        <p:spPr>
          <a:xfrm>
            <a:off x="0" y="401638"/>
            <a:ext cx="9021763" cy="571500"/>
          </a:xfrm>
        </p:spPr>
        <p:txBody>
          <a:bodyPr/>
          <a:lstStyle/>
          <a:p>
            <a:r>
              <a:rPr lang="en-US" dirty="0" err="1"/>
              <a:t>Bakong</a:t>
            </a:r>
            <a:r>
              <a:rPr lang="en-US" dirty="0"/>
              <a:t> Bulk</a:t>
            </a:r>
          </a:p>
        </p:txBody>
      </p:sp>
      <p:sp>
        <p:nvSpPr>
          <p:cNvPr id="7" name="Oval 6"/>
          <p:cNvSpPr/>
          <p:nvPr/>
        </p:nvSpPr>
        <p:spPr>
          <a:xfrm>
            <a:off x="2713037" y="4599191"/>
            <a:ext cx="457200" cy="457200"/>
          </a:xfrm>
          <a:prstGeom prst="ellipse">
            <a:avLst/>
          </a:prstGeom>
          <a:solidFill>
            <a:schemeClr val="accent2">
              <a:lumMod val="60000"/>
              <a:lumOff val="40000"/>
            </a:schemeClr>
          </a:solidFill>
        </p:spPr>
        <p:style>
          <a:lnRef idx="2">
            <a:schemeClr val="lt1">
              <a:hueOff val="0"/>
              <a:satOff val="0"/>
              <a:lumOff val="0"/>
              <a:alphaOff val="0"/>
            </a:schemeClr>
          </a:lnRef>
          <a:fillRef idx="1">
            <a:schemeClr val="accent3">
              <a:alpha val="50000"/>
              <a:hueOff val="2710599"/>
              <a:satOff val="100000"/>
              <a:lumOff val="-14706"/>
              <a:alphaOff val="0"/>
            </a:schemeClr>
          </a:fillRef>
          <a:effectRef idx="0">
            <a:schemeClr val="accent3">
              <a:alpha val="50000"/>
              <a:hueOff val="2710599"/>
              <a:satOff val="100000"/>
              <a:lumOff val="-14706"/>
              <a:alphaOff val="0"/>
            </a:schemeClr>
          </a:effectRef>
          <a:fontRef idx="minor">
            <a:schemeClr val="tx1"/>
          </a:fontRef>
        </p:style>
        <p:txBody>
          <a:bodyPr/>
          <a:lstStyle/>
          <a:p>
            <a:pPr algn="ctr"/>
            <a:r>
              <a:rPr lang="en-US" dirty="0">
                <a:solidFill>
                  <a:srgbClr val="FF0000"/>
                </a:solidFill>
              </a:rPr>
              <a:t>1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721127E8-6288-4E72-9224-F78D306A40B1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566230" y="1072936"/>
            <a:ext cx="8443136" cy="2152702"/>
          </a:xfrm>
          <a:prstGeom prst="rect">
            <a:avLst/>
          </a:prstGeom>
        </p:spPr>
      </p:pic>
      <p:sp>
        <p:nvSpPr>
          <p:cNvPr id="8" name="Oval 7">
            <a:extLst>
              <a:ext uri="{FF2B5EF4-FFF2-40B4-BE49-F238E27FC236}">
                <a16:creationId xmlns:a16="http://schemas.microsoft.com/office/drawing/2014/main" id="{CF102AF6-254B-4E8C-8A1E-8159F8ECC594}"/>
              </a:ext>
            </a:extLst>
          </p:cNvPr>
          <p:cNvSpPr/>
          <p:nvPr/>
        </p:nvSpPr>
        <p:spPr>
          <a:xfrm>
            <a:off x="8028803" y="2806551"/>
            <a:ext cx="457200" cy="457200"/>
          </a:xfrm>
          <a:prstGeom prst="ellipse">
            <a:avLst/>
          </a:prstGeom>
          <a:solidFill>
            <a:schemeClr val="accent2">
              <a:lumMod val="60000"/>
              <a:lumOff val="40000"/>
            </a:schemeClr>
          </a:solidFill>
        </p:spPr>
        <p:style>
          <a:lnRef idx="2">
            <a:schemeClr val="lt1">
              <a:hueOff val="0"/>
              <a:satOff val="0"/>
              <a:lumOff val="0"/>
              <a:alphaOff val="0"/>
            </a:schemeClr>
          </a:lnRef>
          <a:fillRef idx="1">
            <a:schemeClr val="accent3">
              <a:alpha val="50000"/>
              <a:hueOff val="2710599"/>
              <a:satOff val="100000"/>
              <a:lumOff val="-14706"/>
              <a:alphaOff val="0"/>
            </a:schemeClr>
          </a:fillRef>
          <a:effectRef idx="0">
            <a:schemeClr val="accent3">
              <a:alpha val="50000"/>
              <a:hueOff val="2710599"/>
              <a:satOff val="100000"/>
              <a:lumOff val="-14706"/>
              <a:alphaOff val="0"/>
            </a:schemeClr>
          </a:effectRef>
          <a:fontRef idx="minor">
            <a:schemeClr val="tx1"/>
          </a:fontRef>
        </p:style>
        <p:txBody>
          <a:bodyPr/>
          <a:lstStyle/>
          <a:p>
            <a:pPr algn="ctr"/>
            <a:r>
              <a:rPr lang="en-US" dirty="0">
                <a:solidFill>
                  <a:srgbClr val="FF0000"/>
                </a:solidFill>
              </a:rPr>
              <a:t>4</a:t>
            </a:r>
          </a:p>
        </p:txBody>
      </p:sp>
      <p:sp>
        <p:nvSpPr>
          <p:cNvPr id="9" name="Oval 8">
            <a:extLst>
              <a:ext uri="{FF2B5EF4-FFF2-40B4-BE49-F238E27FC236}">
                <a16:creationId xmlns:a16="http://schemas.microsoft.com/office/drawing/2014/main" id="{9E26D55F-F912-43BF-B201-812E554D1917}"/>
              </a:ext>
            </a:extLst>
          </p:cNvPr>
          <p:cNvSpPr/>
          <p:nvPr/>
        </p:nvSpPr>
        <p:spPr>
          <a:xfrm>
            <a:off x="7571603" y="2230262"/>
            <a:ext cx="457200" cy="457200"/>
          </a:xfrm>
          <a:prstGeom prst="ellipse">
            <a:avLst/>
          </a:prstGeom>
          <a:solidFill>
            <a:schemeClr val="accent2">
              <a:lumMod val="60000"/>
              <a:lumOff val="40000"/>
            </a:schemeClr>
          </a:solidFill>
        </p:spPr>
        <p:style>
          <a:lnRef idx="2">
            <a:schemeClr val="lt1">
              <a:hueOff val="0"/>
              <a:satOff val="0"/>
              <a:lumOff val="0"/>
              <a:alphaOff val="0"/>
            </a:schemeClr>
          </a:lnRef>
          <a:fillRef idx="1">
            <a:schemeClr val="accent3">
              <a:alpha val="50000"/>
              <a:hueOff val="2710599"/>
              <a:satOff val="100000"/>
              <a:lumOff val="-14706"/>
              <a:alphaOff val="0"/>
            </a:schemeClr>
          </a:fillRef>
          <a:effectRef idx="0">
            <a:schemeClr val="accent3">
              <a:alpha val="50000"/>
              <a:hueOff val="2710599"/>
              <a:satOff val="100000"/>
              <a:lumOff val="-14706"/>
              <a:alphaOff val="0"/>
            </a:schemeClr>
          </a:effectRef>
          <a:fontRef idx="minor">
            <a:schemeClr val="tx1"/>
          </a:fontRef>
        </p:style>
        <p:txBody>
          <a:bodyPr/>
          <a:lstStyle/>
          <a:p>
            <a:pPr algn="ctr"/>
            <a:r>
              <a:rPr lang="en-US" dirty="0">
                <a:solidFill>
                  <a:srgbClr val="FF0000"/>
                </a:solidFill>
              </a:rPr>
              <a:t>3</a:t>
            </a:r>
          </a:p>
        </p:txBody>
      </p:sp>
      <p:sp>
        <p:nvSpPr>
          <p:cNvPr id="10" name="Oval 9">
            <a:extLst>
              <a:ext uri="{FF2B5EF4-FFF2-40B4-BE49-F238E27FC236}">
                <a16:creationId xmlns:a16="http://schemas.microsoft.com/office/drawing/2014/main" id="{51E635C3-A512-4A9C-8427-6AB5CA3024D1}"/>
              </a:ext>
            </a:extLst>
          </p:cNvPr>
          <p:cNvSpPr/>
          <p:nvPr/>
        </p:nvSpPr>
        <p:spPr>
          <a:xfrm>
            <a:off x="7559198" y="1692087"/>
            <a:ext cx="457200" cy="457200"/>
          </a:xfrm>
          <a:prstGeom prst="ellipse">
            <a:avLst/>
          </a:prstGeom>
          <a:solidFill>
            <a:schemeClr val="accent2">
              <a:lumMod val="60000"/>
              <a:lumOff val="40000"/>
            </a:schemeClr>
          </a:solidFill>
        </p:spPr>
        <p:style>
          <a:lnRef idx="2">
            <a:schemeClr val="lt1">
              <a:hueOff val="0"/>
              <a:satOff val="0"/>
              <a:lumOff val="0"/>
              <a:alphaOff val="0"/>
            </a:schemeClr>
          </a:lnRef>
          <a:fillRef idx="1">
            <a:schemeClr val="accent3">
              <a:alpha val="50000"/>
              <a:hueOff val="2710599"/>
              <a:satOff val="100000"/>
              <a:lumOff val="-14706"/>
              <a:alphaOff val="0"/>
            </a:schemeClr>
          </a:fillRef>
          <a:effectRef idx="0">
            <a:schemeClr val="accent3">
              <a:alpha val="50000"/>
              <a:hueOff val="2710599"/>
              <a:satOff val="100000"/>
              <a:lumOff val="-14706"/>
              <a:alphaOff val="0"/>
            </a:schemeClr>
          </a:effectRef>
          <a:fontRef idx="minor">
            <a:schemeClr val="tx1"/>
          </a:fontRef>
        </p:style>
        <p:txBody>
          <a:bodyPr/>
          <a:lstStyle/>
          <a:p>
            <a:pPr algn="ctr"/>
            <a:r>
              <a:rPr lang="en-US" dirty="0">
                <a:solidFill>
                  <a:srgbClr val="FF0000"/>
                </a:solidFill>
              </a:rPr>
              <a:t>2</a:t>
            </a:r>
          </a:p>
        </p:txBody>
      </p:sp>
      <p:sp>
        <p:nvSpPr>
          <p:cNvPr id="11" name="Oval 10">
            <a:extLst>
              <a:ext uri="{FF2B5EF4-FFF2-40B4-BE49-F238E27FC236}">
                <a16:creationId xmlns:a16="http://schemas.microsoft.com/office/drawing/2014/main" id="{50603A8B-92AD-4FAC-877B-267EA8D10778}"/>
              </a:ext>
            </a:extLst>
          </p:cNvPr>
          <p:cNvSpPr/>
          <p:nvPr/>
        </p:nvSpPr>
        <p:spPr>
          <a:xfrm>
            <a:off x="8793163" y="4975440"/>
            <a:ext cx="457200" cy="457200"/>
          </a:xfrm>
          <a:prstGeom prst="ellipse">
            <a:avLst/>
          </a:prstGeom>
          <a:solidFill>
            <a:schemeClr val="accent2">
              <a:lumMod val="60000"/>
              <a:lumOff val="40000"/>
            </a:schemeClr>
          </a:solidFill>
        </p:spPr>
        <p:style>
          <a:lnRef idx="2">
            <a:schemeClr val="lt1">
              <a:hueOff val="0"/>
              <a:satOff val="0"/>
              <a:lumOff val="0"/>
              <a:alphaOff val="0"/>
            </a:schemeClr>
          </a:lnRef>
          <a:fillRef idx="1">
            <a:schemeClr val="accent3">
              <a:alpha val="50000"/>
              <a:hueOff val="2710599"/>
              <a:satOff val="100000"/>
              <a:lumOff val="-14706"/>
              <a:alphaOff val="0"/>
            </a:schemeClr>
          </a:fillRef>
          <a:effectRef idx="0">
            <a:schemeClr val="accent3">
              <a:alpha val="50000"/>
              <a:hueOff val="2710599"/>
              <a:satOff val="100000"/>
              <a:lumOff val="-14706"/>
              <a:alphaOff val="0"/>
            </a:schemeClr>
          </a:effectRef>
          <a:fontRef idx="minor">
            <a:schemeClr val="tx1"/>
          </a:fontRef>
        </p:style>
        <p:txBody>
          <a:bodyPr/>
          <a:lstStyle/>
          <a:p>
            <a:pPr algn="ctr"/>
            <a:r>
              <a:rPr lang="en-US" dirty="0">
                <a:solidFill>
                  <a:srgbClr val="FF0000"/>
                </a:solidFill>
              </a:rPr>
              <a:t>5</a:t>
            </a:r>
          </a:p>
        </p:txBody>
      </p:sp>
    </p:spTree>
    <p:extLst>
      <p:ext uri="{BB962C8B-B14F-4D97-AF65-F5344CB8AC3E}">
        <p14:creationId xmlns:p14="http://schemas.microsoft.com/office/powerpoint/2010/main" val="1827551762"/>
      </p:ext>
    </p:extLst>
  </p:cSld>
  <p:clrMapOvr>
    <a:masterClrMapping/>
  </p:clrMapOvr>
  <p:transition spd="slow">
    <p:push/>
  </p:transition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D69B67DB-9DC6-4469-9D3B-6F0F256B125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1" y="973138"/>
            <a:ext cx="2586865" cy="4576762"/>
          </a:xfrm>
          <a:prstGeom prst="rect">
            <a:avLst/>
          </a:prstGeom>
        </p:spPr>
      </p:pic>
      <p:sp>
        <p:nvSpPr>
          <p:cNvPr id="2" name="Text Placeholder 1"/>
          <p:cNvSpPr>
            <a:spLocks noGrp="1"/>
          </p:cNvSpPr>
          <p:nvPr>
            <p:ph type="body" sz="quarter" idx="4294967295"/>
          </p:nvPr>
        </p:nvSpPr>
        <p:spPr>
          <a:xfrm>
            <a:off x="0" y="401638"/>
            <a:ext cx="9021763" cy="571500"/>
          </a:xfrm>
        </p:spPr>
        <p:txBody>
          <a:bodyPr/>
          <a:lstStyle/>
          <a:p>
            <a:r>
              <a:rPr lang="en-US" dirty="0"/>
              <a:t>NCS Local Banks</a:t>
            </a:r>
          </a:p>
        </p:txBody>
      </p:sp>
      <p:sp>
        <p:nvSpPr>
          <p:cNvPr id="7" name="Oval 6"/>
          <p:cNvSpPr/>
          <p:nvPr/>
        </p:nvSpPr>
        <p:spPr>
          <a:xfrm>
            <a:off x="1622997" y="4635500"/>
            <a:ext cx="457200" cy="457200"/>
          </a:xfrm>
          <a:prstGeom prst="ellipse">
            <a:avLst/>
          </a:prstGeom>
          <a:solidFill>
            <a:schemeClr val="accent2">
              <a:lumMod val="60000"/>
              <a:lumOff val="40000"/>
            </a:schemeClr>
          </a:solidFill>
        </p:spPr>
        <p:style>
          <a:lnRef idx="2">
            <a:schemeClr val="lt1">
              <a:hueOff val="0"/>
              <a:satOff val="0"/>
              <a:lumOff val="0"/>
              <a:alphaOff val="0"/>
            </a:schemeClr>
          </a:lnRef>
          <a:fillRef idx="1">
            <a:schemeClr val="accent3">
              <a:alpha val="50000"/>
              <a:hueOff val="2710599"/>
              <a:satOff val="100000"/>
              <a:lumOff val="-14706"/>
              <a:alphaOff val="0"/>
            </a:schemeClr>
          </a:fillRef>
          <a:effectRef idx="0">
            <a:schemeClr val="accent3">
              <a:alpha val="50000"/>
              <a:hueOff val="2710599"/>
              <a:satOff val="100000"/>
              <a:lumOff val="-14706"/>
              <a:alphaOff val="0"/>
            </a:schemeClr>
          </a:effectRef>
          <a:fontRef idx="minor">
            <a:schemeClr val="tx1"/>
          </a:fontRef>
        </p:style>
        <p:txBody>
          <a:bodyPr/>
          <a:lstStyle/>
          <a:p>
            <a:pPr algn="ctr"/>
            <a:r>
              <a:rPr lang="en-US" dirty="0">
                <a:solidFill>
                  <a:srgbClr val="FF0000"/>
                </a:solidFill>
              </a:rPr>
              <a:t>1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3C1D553C-1838-4AF4-A4BE-FB0C2150A41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586864" y="973138"/>
            <a:ext cx="9569398" cy="4119562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497F2A05-58C7-4EB7-8485-6B2959A06A80}"/>
              </a:ext>
            </a:extLst>
          </p:cNvPr>
          <p:cNvSpPr txBox="1"/>
          <p:nvPr/>
        </p:nvSpPr>
        <p:spPr>
          <a:xfrm>
            <a:off x="7162800" y="1784191"/>
            <a:ext cx="4518673" cy="120032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err="1"/>
              <a:t>Ncs</a:t>
            </a:r>
            <a:r>
              <a:rPr lang="en-US" dirty="0"/>
              <a:t> Local Banks</a:t>
            </a:r>
          </a:p>
          <a:p>
            <a:pPr marL="342900" indent="-342900">
              <a:buFont typeface="+mj-lt"/>
              <a:buAutoNum type="arabicPeriod"/>
            </a:pPr>
            <a:r>
              <a:rPr lang="en-US" dirty="0"/>
              <a:t>Click on Money transfer -&gt; </a:t>
            </a:r>
            <a:r>
              <a:rPr lang="en-US" dirty="0" err="1"/>
              <a:t>Ncs</a:t>
            </a:r>
            <a:r>
              <a:rPr lang="en-US" dirty="0"/>
              <a:t> Local Banks</a:t>
            </a:r>
          </a:p>
          <a:p>
            <a:pPr marL="342900" indent="-342900">
              <a:buFont typeface="+mj-lt"/>
              <a:buAutoNum type="arabicPeriod"/>
            </a:pPr>
            <a:r>
              <a:rPr lang="en-US" dirty="0"/>
              <a:t>Enter required data</a:t>
            </a:r>
          </a:p>
          <a:p>
            <a:pPr marL="342900" indent="-342900">
              <a:buFont typeface="+mj-lt"/>
              <a:buAutoNum type="arabicPeriod"/>
            </a:pPr>
            <a:r>
              <a:rPr lang="en-US" dirty="0"/>
              <a:t>Click on submit</a:t>
            </a:r>
          </a:p>
        </p:txBody>
      </p:sp>
      <p:sp>
        <p:nvSpPr>
          <p:cNvPr id="8" name="Oval 7">
            <a:extLst>
              <a:ext uri="{FF2B5EF4-FFF2-40B4-BE49-F238E27FC236}">
                <a16:creationId xmlns:a16="http://schemas.microsoft.com/office/drawing/2014/main" id="{66677C59-06F0-41C8-A26A-5BC9F82F503A}"/>
              </a:ext>
            </a:extLst>
          </p:cNvPr>
          <p:cNvSpPr/>
          <p:nvPr/>
        </p:nvSpPr>
        <p:spPr>
          <a:xfrm>
            <a:off x="6767650" y="3032919"/>
            <a:ext cx="457200" cy="457200"/>
          </a:xfrm>
          <a:prstGeom prst="ellipse">
            <a:avLst/>
          </a:prstGeom>
          <a:solidFill>
            <a:schemeClr val="accent2">
              <a:lumMod val="60000"/>
              <a:lumOff val="40000"/>
            </a:schemeClr>
          </a:solidFill>
        </p:spPr>
        <p:style>
          <a:lnRef idx="2">
            <a:schemeClr val="lt1">
              <a:hueOff val="0"/>
              <a:satOff val="0"/>
              <a:lumOff val="0"/>
              <a:alphaOff val="0"/>
            </a:schemeClr>
          </a:lnRef>
          <a:fillRef idx="1">
            <a:schemeClr val="accent3">
              <a:alpha val="50000"/>
              <a:hueOff val="2710599"/>
              <a:satOff val="100000"/>
              <a:lumOff val="-14706"/>
              <a:alphaOff val="0"/>
            </a:schemeClr>
          </a:fillRef>
          <a:effectRef idx="0">
            <a:schemeClr val="accent3">
              <a:alpha val="50000"/>
              <a:hueOff val="2710599"/>
              <a:satOff val="100000"/>
              <a:lumOff val="-14706"/>
              <a:alphaOff val="0"/>
            </a:schemeClr>
          </a:effectRef>
          <a:fontRef idx="minor">
            <a:schemeClr val="tx1"/>
          </a:fontRef>
        </p:style>
        <p:txBody>
          <a:bodyPr/>
          <a:lstStyle/>
          <a:p>
            <a:pPr algn="ctr"/>
            <a:r>
              <a:rPr lang="en-US" dirty="0">
                <a:solidFill>
                  <a:srgbClr val="FF0000"/>
                </a:solidFill>
              </a:rPr>
              <a:t>2</a:t>
            </a:r>
          </a:p>
        </p:txBody>
      </p:sp>
      <p:sp>
        <p:nvSpPr>
          <p:cNvPr id="9" name="Oval 8">
            <a:extLst>
              <a:ext uri="{FF2B5EF4-FFF2-40B4-BE49-F238E27FC236}">
                <a16:creationId xmlns:a16="http://schemas.microsoft.com/office/drawing/2014/main" id="{D32F9DAE-353E-4017-9802-437363BA12C0}"/>
              </a:ext>
            </a:extLst>
          </p:cNvPr>
          <p:cNvSpPr/>
          <p:nvPr/>
        </p:nvSpPr>
        <p:spPr>
          <a:xfrm>
            <a:off x="8079213" y="4635500"/>
            <a:ext cx="457200" cy="457200"/>
          </a:xfrm>
          <a:prstGeom prst="ellipse">
            <a:avLst/>
          </a:prstGeom>
          <a:solidFill>
            <a:schemeClr val="accent2">
              <a:lumMod val="60000"/>
              <a:lumOff val="40000"/>
            </a:schemeClr>
          </a:solidFill>
        </p:spPr>
        <p:style>
          <a:lnRef idx="2">
            <a:schemeClr val="lt1">
              <a:hueOff val="0"/>
              <a:satOff val="0"/>
              <a:lumOff val="0"/>
              <a:alphaOff val="0"/>
            </a:schemeClr>
          </a:lnRef>
          <a:fillRef idx="1">
            <a:schemeClr val="accent3">
              <a:alpha val="50000"/>
              <a:hueOff val="2710599"/>
              <a:satOff val="100000"/>
              <a:lumOff val="-14706"/>
              <a:alphaOff val="0"/>
            </a:schemeClr>
          </a:fillRef>
          <a:effectRef idx="0">
            <a:schemeClr val="accent3">
              <a:alpha val="50000"/>
              <a:hueOff val="2710599"/>
              <a:satOff val="100000"/>
              <a:lumOff val="-14706"/>
              <a:alphaOff val="0"/>
            </a:schemeClr>
          </a:effectRef>
          <a:fontRef idx="minor">
            <a:schemeClr val="tx1"/>
          </a:fontRef>
        </p:style>
        <p:txBody>
          <a:bodyPr/>
          <a:lstStyle/>
          <a:p>
            <a:pPr algn="ctr"/>
            <a:r>
              <a:rPr lang="en-US" dirty="0">
                <a:solidFill>
                  <a:srgbClr val="FF0000"/>
                </a:solidFill>
              </a:rPr>
              <a:t>3</a:t>
            </a:r>
          </a:p>
        </p:txBody>
      </p:sp>
    </p:spTree>
    <p:extLst>
      <p:ext uri="{BB962C8B-B14F-4D97-AF65-F5344CB8AC3E}">
        <p14:creationId xmlns:p14="http://schemas.microsoft.com/office/powerpoint/2010/main" val="1154820177"/>
      </p:ext>
    </p:extLst>
  </p:cSld>
  <p:clrMapOvr>
    <a:masterClrMapping/>
  </p:clrMapOvr>
  <p:transition spd="slow">
    <p:push/>
  </p:transition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/>
          <p:cNvSpPr>
            <a:spLocks noGrp="1"/>
          </p:cNvSpPr>
          <p:nvPr>
            <p:ph type="body" sz="quarter" idx="4294967295"/>
          </p:nvPr>
        </p:nvSpPr>
        <p:spPr>
          <a:xfrm>
            <a:off x="0" y="401638"/>
            <a:ext cx="9021763" cy="571500"/>
          </a:xfrm>
        </p:spPr>
        <p:txBody>
          <a:bodyPr/>
          <a:lstStyle/>
          <a:p>
            <a:r>
              <a:rPr lang="en-US" dirty="0"/>
              <a:t>NCS Local Bank Bulk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9D3FA71E-AE61-4C90-AD2F-FAD7B915FECC}"/>
              </a:ext>
            </a:extLst>
          </p:cNvPr>
          <p:cNvSpPr txBox="1"/>
          <p:nvPr/>
        </p:nvSpPr>
        <p:spPr>
          <a:xfrm>
            <a:off x="698500" y="1308100"/>
            <a:ext cx="4887877" cy="147732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err="1"/>
              <a:t>Ncs</a:t>
            </a:r>
            <a:r>
              <a:rPr lang="en-US" dirty="0"/>
              <a:t> Local Bank Bulk</a:t>
            </a:r>
          </a:p>
          <a:p>
            <a:pPr marL="342900" indent="-342900">
              <a:buFont typeface="+mj-lt"/>
              <a:buAutoNum type="arabicPeriod"/>
            </a:pPr>
            <a:r>
              <a:rPr lang="en-US" dirty="0"/>
              <a:t>Click on Money transfer -&gt; </a:t>
            </a:r>
            <a:r>
              <a:rPr lang="en-US" dirty="0" err="1"/>
              <a:t>Ncs</a:t>
            </a:r>
            <a:r>
              <a:rPr lang="en-US" dirty="0"/>
              <a:t> Local Bank Bulk</a:t>
            </a:r>
          </a:p>
          <a:p>
            <a:pPr marL="342900" indent="-342900">
              <a:buFont typeface="+mj-lt"/>
              <a:buAutoNum type="arabicPeriod"/>
            </a:pPr>
            <a:r>
              <a:rPr lang="en-US" dirty="0"/>
              <a:t>Choose Upload File</a:t>
            </a:r>
          </a:p>
          <a:p>
            <a:pPr marL="342900" indent="-342900">
              <a:buFont typeface="+mj-lt"/>
              <a:buAutoNum type="arabicPeriod"/>
            </a:pPr>
            <a:r>
              <a:rPr lang="en-US" dirty="0"/>
              <a:t>Click Submit</a:t>
            </a:r>
          </a:p>
          <a:p>
            <a:pPr marL="342900" indent="-342900">
              <a:buFont typeface="+mj-lt"/>
              <a:buAutoNum type="arabicPeriod"/>
            </a:pPr>
            <a:r>
              <a:rPr lang="en-US" dirty="0"/>
              <a:t> After review click submit again</a:t>
            </a:r>
          </a:p>
        </p:txBody>
      </p:sp>
    </p:spTree>
    <p:extLst>
      <p:ext uri="{BB962C8B-B14F-4D97-AF65-F5344CB8AC3E}">
        <p14:creationId xmlns:p14="http://schemas.microsoft.com/office/powerpoint/2010/main" val="823055452"/>
      </p:ext>
    </p:extLst>
  </p:cSld>
  <p:clrMapOvr>
    <a:masterClrMapping/>
  </p:clrMapOvr>
  <p:transition spd="slow">
    <p:push/>
  </p:transition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/>
          <p:cNvSpPr>
            <a:spLocks noGrp="1"/>
          </p:cNvSpPr>
          <p:nvPr>
            <p:ph type="body" sz="quarter" idx="4294967295"/>
          </p:nvPr>
        </p:nvSpPr>
        <p:spPr>
          <a:xfrm>
            <a:off x="0" y="401638"/>
            <a:ext cx="9021763" cy="571500"/>
          </a:xfrm>
        </p:spPr>
        <p:txBody>
          <a:bodyPr/>
          <a:lstStyle/>
          <a:p>
            <a:r>
              <a:rPr lang="en-US" dirty="0"/>
              <a:t>NCS Bulk Upload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5B9A5356-2F87-41E9-AA9A-5CA5E658D95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32858" y="1225390"/>
            <a:ext cx="9519442" cy="1972059"/>
          </a:xfrm>
          <a:prstGeom prst="rect">
            <a:avLst/>
          </a:prstGeom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C8D46B8D-8981-46C9-B3BF-7A239ADEEC8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1072936"/>
            <a:ext cx="2532858" cy="4496199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DFF4DD6C-050A-4D15-B3B3-A44358CAE1F9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532858" y="3197449"/>
            <a:ext cx="9542087" cy="2937442"/>
          </a:xfrm>
          <a:prstGeom prst="rect">
            <a:avLst/>
          </a:prstGeom>
        </p:spPr>
      </p:pic>
      <p:sp>
        <p:nvSpPr>
          <p:cNvPr id="8" name="Oval 7">
            <a:extLst>
              <a:ext uri="{FF2B5EF4-FFF2-40B4-BE49-F238E27FC236}">
                <a16:creationId xmlns:a16="http://schemas.microsoft.com/office/drawing/2014/main" id="{75613316-C133-48F8-861C-31A94B04C4E6}"/>
              </a:ext>
            </a:extLst>
          </p:cNvPr>
          <p:cNvSpPr/>
          <p:nvPr/>
        </p:nvSpPr>
        <p:spPr>
          <a:xfrm>
            <a:off x="1714205" y="5050849"/>
            <a:ext cx="457200" cy="457200"/>
          </a:xfrm>
          <a:prstGeom prst="ellipse">
            <a:avLst/>
          </a:prstGeom>
          <a:solidFill>
            <a:schemeClr val="accent2">
              <a:lumMod val="60000"/>
              <a:lumOff val="40000"/>
            </a:schemeClr>
          </a:solidFill>
        </p:spPr>
        <p:style>
          <a:lnRef idx="2">
            <a:schemeClr val="lt1">
              <a:hueOff val="0"/>
              <a:satOff val="0"/>
              <a:lumOff val="0"/>
              <a:alphaOff val="0"/>
            </a:schemeClr>
          </a:lnRef>
          <a:fillRef idx="1">
            <a:schemeClr val="accent3">
              <a:alpha val="50000"/>
              <a:hueOff val="2710599"/>
              <a:satOff val="100000"/>
              <a:lumOff val="-14706"/>
              <a:alphaOff val="0"/>
            </a:schemeClr>
          </a:fillRef>
          <a:effectRef idx="0">
            <a:schemeClr val="accent3">
              <a:alpha val="50000"/>
              <a:hueOff val="2710599"/>
              <a:satOff val="100000"/>
              <a:lumOff val="-14706"/>
              <a:alphaOff val="0"/>
            </a:schemeClr>
          </a:effectRef>
          <a:fontRef idx="minor">
            <a:schemeClr val="tx1"/>
          </a:fontRef>
        </p:style>
        <p:txBody>
          <a:bodyPr/>
          <a:lstStyle/>
          <a:p>
            <a:pPr algn="ctr"/>
            <a:r>
              <a:rPr lang="en-US" dirty="0">
                <a:solidFill>
                  <a:srgbClr val="FF0000"/>
                </a:solidFill>
              </a:rPr>
              <a:t>1</a:t>
            </a:r>
          </a:p>
        </p:txBody>
      </p:sp>
      <p:sp>
        <p:nvSpPr>
          <p:cNvPr id="9" name="Oval 8">
            <a:extLst>
              <a:ext uri="{FF2B5EF4-FFF2-40B4-BE49-F238E27FC236}">
                <a16:creationId xmlns:a16="http://schemas.microsoft.com/office/drawing/2014/main" id="{B1913779-862A-4AD5-B394-09BB7752C55A}"/>
              </a:ext>
            </a:extLst>
          </p:cNvPr>
          <p:cNvSpPr/>
          <p:nvPr/>
        </p:nvSpPr>
        <p:spPr>
          <a:xfrm>
            <a:off x="6846701" y="1982819"/>
            <a:ext cx="457200" cy="457200"/>
          </a:xfrm>
          <a:prstGeom prst="ellipse">
            <a:avLst/>
          </a:prstGeom>
          <a:solidFill>
            <a:schemeClr val="accent2">
              <a:lumMod val="60000"/>
              <a:lumOff val="40000"/>
            </a:schemeClr>
          </a:solidFill>
        </p:spPr>
        <p:style>
          <a:lnRef idx="2">
            <a:schemeClr val="lt1">
              <a:hueOff val="0"/>
              <a:satOff val="0"/>
              <a:lumOff val="0"/>
              <a:alphaOff val="0"/>
            </a:schemeClr>
          </a:lnRef>
          <a:fillRef idx="1">
            <a:schemeClr val="accent3">
              <a:alpha val="50000"/>
              <a:hueOff val="2710599"/>
              <a:satOff val="100000"/>
              <a:lumOff val="-14706"/>
              <a:alphaOff val="0"/>
            </a:schemeClr>
          </a:fillRef>
          <a:effectRef idx="0">
            <a:schemeClr val="accent3">
              <a:alpha val="50000"/>
              <a:hueOff val="2710599"/>
              <a:satOff val="100000"/>
              <a:lumOff val="-14706"/>
              <a:alphaOff val="0"/>
            </a:schemeClr>
          </a:effectRef>
          <a:fontRef idx="minor">
            <a:schemeClr val="tx1"/>
          </a:fontRef>
        </p:style>
        <p:txBody>
          <a:bodyPr/>
          <a:lstStyle/>
          <a:p>
            <a:pPr algn="ctr"/>
            <a:r>
              <a:rPr lang="en-US" dirty="0">
                <a:solidFill>
                  <a:srgbClr val="FF0000"/>
                </a:solidFill>
              </a:rPr>
              <a:t>2</a:t>
            </a:r>
          </a:p>
        </p:txBody>
      </p:sp>
      <p:sp>
        <p:nvSpPr>
          <p:cNvPr id="10" name="Oval 9">
            <a:extLst>
              <a:ext uri="{FF2B5EF4-FFF2-40B4-BE49-F238E27FC236}">
                <a16:creationId xmlns:a16="http://schemas.microsoft.com/office/drawing/2014/main" id="{41C56697-A052-4928-AF43-6E6E866042E4}"/>
              </a:ext>
            </a:extLst>
          </p:cNvPr>
          <p:cNvSpPr/>
          <p:nvPr/>
        </p:nvSpPr>
        <p:spPr>
          <a:xfrm>
            <a:off x="7556205" y="2740249"/>
            <a:ext cx="457200" cy="457200"/>
          </a:xfrm>
          <a:prstGeom prst="ellipse">
            <a:avLst/>
          </a:prstGeom>
          <a:solidFill>
            <a:schemeClr val="accent2">
              <a:lumMod val="60000"/>
              <a:lumOff val="40000"/>
            </a:schemeClr>
          </a:solidFill>
        </p:spPr>
        <p:style>
          <a:lnRef idx="2">
            <a:schemeClr val="lt1">
              <a:hueOff val="0"/>
              <a:satOff val="0"/>
              <a:lumOff val="0"/>
              <a:alphaOff val="0"/>
            </a:schemeClr>
          </a:lnRef>
          <a:fillRef idx="1">
            <a:schemeClr val="accent3">
              <a:alpha val="50000"/>
              <a:hueOff val="2710599"/>
              <a:satOff val="100000"/>
              <a:lumOff val="-14706"/>
              <a:alphaOff val="0"/>
            </a:schemeClr>
          </a:fillRef>
          <a:effectRef idx="0">
            <a:schemeClr val="accent3">
              <a:alpha val="50000"/>
              <a:hueOff val="2710599"/>
              <a:satOff val="100000"/>
              <a:lumOff val="-14706"/>
              <a:alphaOff val="0"/>
            </a:schemeClr>
          </a:effectRef>
          <a:fontRef idx="minor">
            <a:schemeClr val="tx1"/>
          </a:fontRef>
        </p:style>
        <p:txBody>
          <a:bodyPr/>
          <a:lstStyle/>
          <a:p>
            <a:pPr algn="ctr"/>
            <a:r>
              <a:rPr lang="en-US" dirty="0">
                <a:solidFill>
                  <a:srgbClr val="FF0000"/>
                </a:solidFill>
              </a:rPr>
              <a:t>3</a:t>
            </a:r>
          </a:p>
        </p:txBody>
      </p:sp>
      <p:sp>
        <p:nvSpPr>
          <p:cNvPr id="11" name="Oval 10">
            <a:extLst>
              <a:ext uri="{FF2B5EF4-FFF2-40B4-BE49-F238E27FC236}">
                <a16:creationId xmlns:a16="http://schemas.microsoft.com/office/drawing/2014/main" id="{96EFA306-A238-4FA4-ACC2-84F68CE15549}"/>
              </a:ext>
            </a:extLst>
          </p:cNvPr>
          <p:cNvSpPr/>
          <p:nvPr/>
        </p:nvSpPr>
        <p:spPr>
          <a:xfrm>
            <a:off x="8229305" y="4823040"/>
            <a:ext cx="457200" cy="457200"/>
          </a:xfrm>
          <a:prstGeom prst="ellipse">
            <a:avLst/>
          </a:prstGeom>
          <a:solidFill>
            <a:schemeClr val="accent2">
              <a:lumMod val="60000"/>
              <a:lumOff val="40000"/>
            </a:schemeClr>
          </a:solidFill>
        </p:spPr>
        <p:style>
          <a:lnRef idx="2">
            <a:schemeClr val="lt1">
              <a:hueOff val="0"/>
              <a:satOff val="0"/>
              <a:lumOff val="0"/>
              <a:alphaOff val="0"/>
            </a:schemeClr>
          </a:lnRef>
          <a:fillRef idx="1">
            <a:schemeClr val="accent3">
              <a:alpha val="50000"/>
              <a:hueOff val="2710599"/>
              <a:satOff val="100000"/>
              <a:lumOff val="-14706"/>
              <a:alphaOff val="0"/>
            </a:schemeClr>
          </a:fillRef>
          <a:effectRef idx="0">
            <a:schemeClr val="accent3">
              <a:alpha val="50000"/>
              <a:hueOff val="2710599"/>
              <a:satOff val="100000"/>
              <a:lumOff val="-14706"/>
              <a:alphaOff val="0"/>
            </a:schemeClr>
          </a:effectRef>
          <a:fontRef idx="minor">
            <a:schemeClr val="tx1"/>
          </a:fontRef>
        </p:style>
        <p:txBody>
          <a:bodyPr/>
          <a:lstStyle/>
          <a:p>
            <a:pPr algn="ctr"/>
            <a:r>
              <a:rPr lang="en-US" dirty="0">
                <a:solidFill>
                  <a:srgbClr val="FF0000"/>
                </a:solidFill>
              </a:rPr>
              <a:t>4</a:t>
            </a:r>
          </a:p>
        </p:txBody>
      </p:sp>
    </p:spTree>
    <p:extLst>
      <p:ext uri="{BB962C8B-B14F-4D97-AF65-F5344CB8AC3E}">
        <p14:creationId xmlns:p14="http://schemas.microsoft.com/office/powerpoint/2010/main" val="1599077266"/>
      </p:ext>
    </p:extLst>
  </p:cSld>
  <p:clrMapOvr>
    <a:masterClrMapping/>
  </p:clrMapOvr>
  <p:transition spd="slow">
    <p:push/>
  </p:transition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BA51AA09-CE1A-45B0-80B4-551FB87B78B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143083"/>
            <a:ext cx="3210373" cy="2305372"/>
          </a:xfrm>
          <a:prstGeom prst="rect">
            <a:avLst/>
          </a:prstGeom>
        </p:spPr>
      </p:pic>
      <p:sp>
        <p:nvSpPr>
          <p:cNvPr id="2" name="Text Placeholder 1"/>
          <p:cNvSpPr>
            <a:spLocks noGrp="1"/>
          </p:cNvSpPr>
          <p:nvPr>
            <p:ph type="body" sz="quarter" idx="4294967295"/>
          </p:nvPr>
        </p:nvSpPr>
        <p:spPr>
          <a:xfrm>
            <a:off x="0" y="401638"/>
            <a:ext cx="9021763" cy="571500"/>
          </a:xfrm>
        </p:spPr>
        <p:txBody>
          <a:bodyPr/>
          <a:lstStyle/>
          <a:p>
            <a:r>
              <a:rPr lang="en-US" dirty="0" err="1"/>
              <a:t>BillPayment</a:t>
            </a:r>
            <a:endParaRPr lang="en-US" dirty="0"/>
          </a:p>
        </p:txBody>
      </p:sp>
      <p:sp>
        <p:nvSpPr>
          <p:cNvPr id="7" name="Oval 6"/>
          <p:cNvSpPr/>
          <p:nvPr/>
        </p:nvSpPr>
        <p:spPr>
          <a:xfrm>
            <a:off x="1790405" y="1528374"/>
            <a:ext cx="457200" cy="457200"/>
          </a:xfrm>
          <a:prstGeom prst="ellipse">
            <a:avLst/>
          </a:prstGeom>
          <a:solidFill>
            <a:schemeClr val="accent2">
              <a:lumMod val="60000"/>
              <a:lumOff val="40000"/>
            </a:schemeClr>
          </a:solidFill>
        </p:spPr>
        <p:style>
          <a:lnRef idx="2">
            <a:schemeClr val="lt1">
              <a:hueOff val="0"/>
              <a:satOff val="0"/>
              <a:lumOff val="0"/>
              <a:alphaOff val="0"/>
            </a:schemeClr>
          </a:lnRef>
          <a:fillRef idx="1">
            <a:schemeClr val="accent3">
              <a:alpha val="50000"/>
              <a:hueOff val="2710599"/>
              <a:satOff val="100000"/>
              <a:lumOff val="-14706"/>
              <a:alphaOff val="0"/>
            </a:schemeClr>
          </a:fillRef>
          <a:effectRef idx="0">
            <a:schemeClr val="accent3">
              <a:alpha val="50000"/>
              <a:hueOff val="2710599"/>
              <a:satOff val="100000"/>
              <a:lumOff val="-14706"/>
              <a:alphaOff val="0"/>
            </a:schemeClr>
          </a:effectRef>
          <a:fontRef idx="minor">
            <a:schemeClr val="tx1"/>
          </a:fontRef>
        </p:style>
        <p:txBody>
          <a:bodyPr/>
          <a:lstStyle/>
          <a:p>
            <a:pPr algn="ctr"/>
            <a:r>
              <a:rPr lang="en-US" dirty="0">
                <a:solidFill>
                  <a:srgbClr val="FF0000"/>
                </a:solidFill>
              </a:rPr>
              <a:t>1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97FD1521-FFC2-45AB-BAFE-223850658D2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210374" y="1143083"/>
            <a:ext cx="8915018" cy="1943017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F22385D0-2FFB-4869-B04A-8EA6FA00A496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0" y="3448455"/>
            <a:ext cx="7163800" cy="2143424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7AA691F5-C7B3-45DE-B1BC-772C8FADFDAC}"/>
              </a:ext>
            </a:extLst>
          </p:cNvPr>
          <p:cNvSpPr txBox="1"/>
          <p:nvPr/>
        </p:nvSpPr>
        <p:spPr>
          <a:xfrm>
            <a:off x="7667883" y="3797300"/>
            <a:ext cx="3864904" cy="147732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Bill Payment</a:t>
            </a:r>
          </a:p>
          <a:p>
            <a:pPr marL="342900" indent="-342900">
              <a:buFont typeface="+mj-lt"/>
              <a:buAutoNum type="arabicPeriod"/>
            </a:pPr>
            <a:r>
              <a:rPr lang="en-US" dirty="0"/>
              <a:t>Click on Bill Payment-&gt; Bill Payment</a:t>
            </a:r>
          </a:p>
          <a:p>
            <a:pPr marL="342900" indent="-342900">
              <a:buFont typeface="+mj-lt"/>
              <a:buAutoNum type="arabicPeriod"/>
            </a:pPr>
            <a:r>
              <a:rPr lang="en-US" dirty="0"/>
              <a:t>Enter required data</a:t>
            </a:r>
          </a:p>
          <a:p>
            <a:pPr marL="342900" indent="-342900">
              <a:buFont typeface="+mj-lt"/>
              <a:buAutoNum type="arabicPeriod"/>
            </a:pPr>
            <a:r>
              <a:rPr lang="en-US" dirty="0"/>
              <a:t>Click on submit</a:t>
            </a:r>
          </a:p>
          <a:p>
            <a:pPr marL="342900" indent="-342900">
              <a:buFont typeface="+mj-lt"/>
              <a:buAutoNum type="arabicPeriod"/>
            </a:pPr>
            <a:r>
              <a:rPr lang="en-US" dirty="0"/>
              <a:t> Click Confirm</a:t>
            </a:r>
          </a:p>
        </p:txBody>
      </p:sp>
      <p:sp>
        <p:nvSpPr>
          <p:cNvPr id="8" name="Oval 7">
            <a:extLst>
              <a:ext uri="{FF2B5EF4-FFF2-40B4-BE49-F238E27FC236}">
                <a16:creationId xmlns:a16="http://schemas.microsoft.com/office/drawing/2014/main" id="{BAB3F8BF-A9D3-4A81-B53E-3827C1D27D0E}"/>
              </a:ext>
            </a:extLst>
          </p:cNvPr>
          <p:cNvSpPr/>
          <p:nvPr/>
        </p:nvSpPr>
        <p:spPr>
          <a:xfrm>
            <a:off x="9021468" y="1583372"/>
            <a:ext cx="457200" cy="457200"/>
          </a:xfrm>
          <a:prstGeom prst="ellipse">
            <a:avLst/>
          </a:prstGeom>
          <a:solidFill>
            <a:schemeClr val="accent2">
              <a:lumMod val="60000"/>
              <a:lumOff val="40000"/>
            </a:schemeClr>
          </a:solidFill>
        </p:spPr>
        <p:style>
          <a:lnRef idx="2">
            <a:schemeClr val="lt1">
              <a:hueOff val="0"/>
              <a:satOff val="0"/>
              <a:lumOff val="0"/>
              <a:alphaOff val="0"/>
            </a:schemeClr>
          </a:lnRef>
          <a:fillRef idx="1">
            <a:schemeClr val="accent3">
              <a:alpha val="50000"/>
              <a:hueOff val="2710599"/>
              <a:satOff val="100000"/>
              <a:lumOff val="-14706"/>
              <a:alphaOff val="0"/>
            </a:schemeClr>
          </a:fillRef>
          <a:effectRef idx="0">
            <a:schemeClr val="accent3">
              <a:alpha val="50000"/>
              <a:hueOff val="2710599"/>
              <a:satOff val="100000"/>
              <a:lumOff val="-14706"/>
              <a:alphaOff val="0"/>
            </a:schemeClr>
          </a:effectRef>
          <a:fontRef idx="minor">
            <a:schemeClr val="tx1"/>
          </a:fontRef>
        </p:style>
        <p:txBody>
          <a:bodyPr/>
          <a:lstStyle/>
          <a:p>
            <a:pPr algn="ctr"/>
            <a:r>
              <a:rPr lang="en-US" dirty="0">
                <a:solidFill>
                  <a:srgbClr val="FF0000"/>
                </a:solidFill>
              </a:rPr>
              <a:t>2</a:t>
            </a:r>
          </a:p>
        </p:txBody>
      </p:sp>
      <p:sp>
        <p:nvSpPr>
          <p:cNvPr id="9" name="Oval 8">
            <a:extLst>
              <a:ext uri="{FF2B5EF4-FFF2-40B4-BE49-F238E27FC236}">
                <a16:creationId xmlns:a16="http://schemas.microsoft.com/office/drawing/2014/main" id="{6D8DE384-A0FB-4219-9010-35E042134E39}"/>
              </a:ext>
            </a:extLst>
          </p:cNvPr>
          <p:cNvSpPr/>
          <p:nvPr/>
        </p:nvSpPr>
        <p:spPr>
          <a:xfrm>
            <a:off x="8216605" y="2628900"/>
            <a:ext cx="457200" cy="457200"/>
          </a:xfrm>
          <a:prstGeom prst="ellipse">
            <a:avLst/>
          </a:prstGeom>
          <a:solidFill>
            <a:schemeClr val="accent2">
              <a:lumMod val="60000"/>
              <a:lumOff val="40000"/>
            </a:schemeClr>
          </a:solidFill>
        </p:spPr>
        <p:style>
          <a:lnRef idx="2">
            <a:schemeClr val="lt1">
              <a:hueOff val="0"/>
              <a:satOff val="0"/>
              <a:lumOff val="0"/>
              <a:alphaOff val="0"/>
            </a:schemeClr>
          </a:lnRef>
          <a:fillRef idx="1">
            <a:schemeClr val="accent3">
              <a:alpha val="50000"/>
              <a:hueOff val="2710599"/>
              <a:satOff val="100000"/>
              <a:lumOff val="-14706"/>
              <a:alphaOff val="0"/>
            </a:schemeClr>
          </a:fillRef>
          <a:effectRef idx="0">
            <a:schemeClr val="accent3">
              <a:alpha val="50000"/>
              <a:hueOff val="2710599"/>
              <a:satOff val="100000"/>
              <a:lumOff val="-14706"/>
              <a:alphaOff val="0"/>
            </a:schemeClr>
          </a:effectRef>
          <a:fontRef idx="minor">
            <a:schemeClr val="tx1"/>
          </a:fontRef>
        </p:style>
        <p:txBody>
          <a:bodyPr/>
          <a:lstStyle/>
          <a:p>
            <a:pPr algn="ctr"/>
            <a:r>
              <a:rPr lang="en-US" dirty="0">
                <a:solidFill>
                  <a:srgbClr val="FF0000"/>
                </a:solidFill>
              </a:rPr>
              <a:t>3</a:t>
            </a:r>
          </a:p>
        </p:txBody>
      </p:sp>
      <p:sp>
        <p:nvSpPr>
          <p:cNvPr id="10" name="Oval 9">
            <a:extLst>
              <a:ext uri="{FF2B5EF4-FFF2-40B4-BE49-F238E27FC236}">
                <a16:creationId xmlns:a16="http://schemas.microsoft.com/office/drawing/2014/main" id="{2E356805-98C0-4E9B-9D52-C392C0F28889}"/>
              </a:ext>
            </a:extLst>
          </p:cNvPr>
          <p:cNvSpPr/>
          <p:nvPr/>
        </p:nvSpPr>
        <p:spPr>
          <a:xfrm>
            <a:off x="4698705" y="5046028"/>
            <a:ext cx="457200" cy="457200"/>
          </a:xfrm>
          <a:prstGeom prst="ellipse">
            <a:avLst/>
          </a:prstGeom>
          <a:solidFill>
            <a:schemeClr val="accent2">
              <a:lumMod val="60000"/>
              <a:lumOff val="40000"/>
            </a:schemeClr>
          </a:solidFill>
        </p:spPr>
        <p:style>
          <a:lnRef idx="2">
            <a:schemeClr val="lt1">
              <a:hueOff val="0"/>
              <a:satOff val="0"/>
              <a:lumOff val="0"/>
              <a:alphaOff val="0"/>
            </a:schemeClr>
          </a:lnRef>
          <a:fillRef idx="1">
            <a:schemeClr val="accent3">
              <a:alpha val="50000"/>
              <a:hueOff val="2710599"/>
              <a:satOff val="100000"/>
              <a:lumOff val="-14706"/>
              <a:alphaOff val="0"/>
            </a:schemeClr>
          </a:fillRef>
          <a:effectRef idx="0">
            <a:schemeClr val="accent3">
              <a:alpha val="50000"/>
              <a:hueOff val="2710599"/>
              <a:satOff val="100000"/>
              <a:lumOff val="-14706"/>
              <a:alphaOff val="0"/>
            </a:schemeClr>
          </a:effectRef>
          <a:fontRef idx="minor">
            <a:schemeClr val="tx1"/>
          </a:fontRef>
        </p:style>
        <p:txBody>
          <a:bodyPr/>
          <a:lstStyle/>
          <a:p>
            <a:pPr algn="ctr"/>
            <a:r>
              <a:rPr lang="en-US" dirty="0">
                <a:solidFill>
                  <a:srgbClr val="FF0000"/>
                </a:solidFill>
              </a:rPr>
              <a:t>4</a:t>
            </a:r>
          </a:p>
        </p:txBody>
      </p:sp>
    </p:spTree>
    <p:extLst>
      <p:ext uri="{BB962C8B-B14F-4D97-AF65-F5344CB8AC3E}">
        <p14:creationId xmlns:p14="http://schemas.microsoft.com/office/powerpoint/2010/main" val="3915042095"/>
      </p:ext>
    </p:extLst>
  </p:cSld>
  <p:clrMapOvr>
    <a:masterClrMapping/>
  </p:clrMapOvr>
  <p:transition spd="slow">
    <p:push/>
  </p:transition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/>
          <p:cNvSpPr>
            <a:spLocks noGrp="1"/>
          </p:cNvSpPr>
          <p:nvPr>
            <p:ph type="body" sz="quarter" idx="4294967295"/>
          </p:nvPr>
        </p:nvSpPr>
        <p:spPr>
          <a:xfrm>
            <a:off x="0" y="401638"/>
            <a:ext cx="9021763" cy="571500"/>
          </a:xfrm>
        </p:spPr>
        <p:txBody>
          <a:bodyPr/>
          <a:lstStyle/>
          <a:p>
            <a:r>
              <a:rPr lang="en-US" dirty="0" err="1"/>
              <a:t>BillPayment</a:t>
            </a:r>
            <a:r>
              <a:rPr lang="en-US" dirty="0"/>
              <a:t> Bulk</a:t>
            </a:r>
          </a:p>
        </p:txBody>
      </p:sp>
      <p:sp>
        <p:nvSpPr>
          <p:cNvPr id="7" name="Oval 6"/>
          <p:cNvSpPr/>
          <p:nvPr/>
        </p:nvSpPr>
        <p:spPr>
          <a:xfrm>
            <a:off x="5206705" y="301840"/>
            <a:ext cx="457200" cy="457200"/>
          </a:xfrm>
          <a:prstGeom prst="ellipse">
            <a:avLst/>
          </a:prstGeom>
          <a:solidFill>
            <a:schemeClr val="accent2">
              <a:lumMod val="60000"/>
              <a:lumOff val="40000"/>
            </a:schemeClr>
          </a:solidFill>
        </p:spPr>
        <p:style>
          <a:lnRef idx="2">
            <a:schemeClr val="lt1">
              <a:hueOff val="0"/>
              <a:satOff val="0"/>
              <a:lumOff val="0"/>
              <a:alphaOff val="0"/>
            </a:schemeClr>
          </a:lnRef>
          <a:fillRef idx="1">
            <a:schemeClr val="accent3">
              <a:alpha val="50000"/>
              <a:hueOff val="2710599"/>
              <a:satOff val="100000"/>
              <a:lumOff val="-14706"/>
              <a:alphaOff val="0"/>
            </a:schemeClr>
          </a:fillRef>
          <a:effectRef idx="0">
            <a:schemeClr val="accent3">
              <a:alpha val="50000"/>
              <a:hueOff val="2710599"/>
              <a:satOff val="100000"/>
              <a:lumOff val="-14706"/>
              <a:alphaOff val="0"/>
            </a:schemeClr>
          </a:effectRef>
          <a:fontRef idx="minor">
            <a:schemeClr val="tx1"/>
          </a:fontRef>
        </p:style>
        <p:txBody>
          <a:bodyPr/>
          <a:lstStyle/>
          <a:p>
            <a:pPr algn="ctr"/>
            <a:r>
              <a:rPr lang="en-US" dirty="0">
                <a:solidFill>
                  <a:srgbClr val="FF0000"/>
                </a:solidFill>
              </a:rPr>
              <a:t>1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FB4B24A9-2221-4474-8820-EBDB459C55B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48478" y="1473200"/>
            <a:ext cx="8650483" cy="1991160"/>
          </a:xfrm>
          <a:prstGeom prst="rect">
            <a:avLst/>
          </a:prstGeom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9BF0974F-606C-4E1B-84D5-20B76EC2055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1299189"/>
            <a:ext cx="3248478" cy="2381582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C34B04CA-BC46-47D2-959E-F91325658C9A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0" y="3720599"/>
            <a:ext cx="7466022" cy="2835561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E1328CA4-1823-4FF0-A8B7-9B2092782148}"/>
              </a:ext>
            </a:extLst>
          </p:cNvPr>
          <p:cNvSpPr txBox="1"/>
          <p:nvPr/>
        </p:nvSpPr>
        <p:spPr>
          <a:xfrm>
            <a:off x="7573719" y="3810000"/>
            <a:ext cx="4478581" cy="203132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Bill Payment Bulk</a:t>
            </a:r>
          </a:p>
          <a:p>
            <a:pPr marL="342900" indent="-342900">
              <a:buFont typeface="+mj-lt"/>
              <a:buAutoNum type="arabicPeriod"/>
            </a:pPr>
            <a:r>
              <a:rPr lang="en-US" dirty="0"/>
              <a:t>Click on Money transfer -&gt; Wing Wei </a:t>
            </a:r>
            <a:r>
              <a:rPr lang="en-US" dirty="0" err="1"/>
              <a:t>luy</a:t>
            </a:r>
            <a:r>
              <a:rPr lang="en-US" dirty="0"/>
              <a:t> Bulk</a:t>
            </a:r>
          </a:p>
          <a:p>
            <a:pPr marL="342900" indent="-342900">
              <a:buFont typeface="+mj-lt"/>
              <a:buAutoNum type="arabicPeriod"/>
            </a:pPr>
            <a:r>
              <a:rPr lang="en-US" dirty="0"/>
              <a:t> Enter Biller Code</a:t>
            </a:r>
          </a:p>
          <a:p>
            <a:pPr marL="342900" indent="-342900">
              <a:buFont typeface="+mj-lt"/>
              <a:buAutoNum type="arabicPeriod"/>
            </a:pPr>
            <a:r>
              <a:rPr lang="en-US" dirty="0"/>
              <a:t>Choose Upload File</a:t>
            </a:r>
          </a:p>
          <a:p>
            <a:pPr marL="342900" indent="-342900">
              <a:buFont typeface="+mj-lt"/>
              <a:buAutoNum type="arabicPeriod"/>
            </a:pPr>
            <a:r>
              <a:rPr lang="en-US" dirty="0"/>
              <a:t>Click Submit</a:t>
            </a:r>
          </a:p>
          <a:p>
            <a:pPr marL="342900" indent="-342900">
              <a:buFont typeface="+mj-lt"/>
              <a:buAutoNum type="arabicPeriod"/>
            </a:pPr>
            <a:r>
              <a:rPr lang="en-US" dirty="0"/>
              <a:t> After review click submit again</a:t>
            </a:r>
          </a:p>
        </p:txBody>
      </p:sp>
    </p:spTree>
    <p:extLst>
      <p:ext uri="{BB962C8B-B14F-4D97-AF65-F5344CB8AC3E}">
        <p14:creationId xmlns:p14="http://schemas.microsoft.com/office/powerpoint/2010/main" val="2164389934"/>
      </p:ext>
    </p:extLst>
  </p:cSld>
  <p:clrMapOvr>
    <a:masterClrMapping/>
  </p:clrMapOvr>
  <p:transition spd="slow">
    <p:push/>
  </p:transition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/>
          <p:cNvSpPr>
            <a:spLocks noGrp="1"/>
          </p:cNvSpPr>
          <p:nvPr>
            <p:ph type="body" sz="quarter" idx="4294967295"/>
          </p:nvPr>
        </p:nvSpPr>
        <p:spPr>
          <a:xfrm>
            <a:off x="0" y="401638"/>
            <a:ext cx="9021763" cy="571500"/>
          </a:xfrm>
        </p:spPr>
        <p:txBody>
          <a:bodyPr/>
          <a:lstStyle/>
          <a:p>
            <a:r>
              <a:rPr lang="en-US" dirty="0"/>
              <a:t>Gift Card</a:t>
            </a:r>
          </a:p>
        </p:txBody>
      </p:sp>
      <p:sp>
        <p:nvSpPr>
          <p:cNvPr id="7" name="Oval 6"/>
          <p:cNvSpPr/>
          <p:nvPr/>
        </p:nvSpPr>
        <p:spPr>
          <a:xfrm>
            <a:off x="5206705" y="301840"/>
            <a:ext cx="457200" cy="457200"/>
          </a:xfrm>
          <a:prstGeom prst="ellipse">
            <a:avLst/>
          </a:prstGeom>
          <a:solidFill>
            <a:schemeClr val="accent2">
              <a:lumMod val="60000"/>
              <a:lumOff val="40000"/>
            </a:schemeClr>
          </a:solidFill>
        </p:spPr>
        <p:style>
          <a:lnRef idx="2">
            <a:schemeClr val="lt1">
              <a:hueOff val="0"/>
              <a:satOff val="0"/>
              <a:lumOff val="0"/>
              <a:alphaOff val="0"/>
            </a:schemeClr>
          </a:lnRef>
          <a:fillRef idx="1">
            <a:schemeClr val="accent3">
              <a:alpha val="50000"/>
              <a:hueOff val="2710599"/>
              <a:satOff val="100000"/>
              <a:lumOff val="-14706"/>
              <a:alphaOff val="0"/>
            </a:schemeClr>
          </a:fillRef>
          <a:effectRef idx="0">
            <a:schemeClr val="accent3">
              <a:alpha val="50000"/>
              <a:hueOff val="2710599"/>
              <a:satOff val="100000"/>
              <a:lumOff val="-14706"/>
              <a:alphaOff val="0"/>
            </a:schemeClr>
          </a:effectRef>
          <a:fontRef idx="minor">
            <a:schemeClr val="tx1"/>
          </a:fontRef>
        </p:style>
        <p:txBody>
          <a:bodyPr/>
          <a:lstStyle/>
          <a:p>
            <a:pPr algn="ctr"/>
            <a:r>
              <a:rPr lang="en-US" dirty="0">
                <a:solidFill>
                  <a:srgbClr val="FF0000"/>
                </a:solidFill>
              </a:rPr>
              <a:t>1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6605FACF-E854-46AA-B32E-AA7E1F3E3C5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575182"/>
            <a:ext cx="3200847" cy="1019317"/>
          </a:xfrm>
          <a:prstGeom prst="rect">
            <a:avLst/>
          </a:prstGeom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8AFDF0D9-689E-400B-AF38-B8C1A8DE33A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3429000"/>
            <a:ext cx="12100312" cy="3522484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43D98797-C270-4A62-A334-15240DD6C3CE}"/>
              </a:ext>
            </a:extLst>
          </p:cNvPr>
          <p:cNvSpPr txBox="1"/>
          <p:nvPr/>
        </p:nvSpPr>
        <p:spPr>
          <a:xfrm>
            <a:off x="5797069" y="1072936"/>
            <a:ext cx="5051444" cy="224676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dirty="0"/>
              <a:t>The Gift Card feature allows partners to create cards that can be given to customers, which can then be used to purchase fuel at partner stations</a:t>
            </a:r>
          </a:p>
          <a:p>
            <a:endParaRPr lang="en-US" sz="1400" dirty="0"/>
          </a:p>
          <a:p>
            <a:pPr marL="342900" indent="-342900">
              <a:buFont typeface="+mj-lt"/>
              <a:buAutoNum type="arabicPeriod"/>
            </a:pPr>
            <a:r>
              <a:rPr lang="en-US" sz="1400" dirty="0"/>
              <a:t>Click on Gift Card Management-&gt; Gift Card</a:t>
            </a:r>
          </a:p>
          <a:p>
            <a:pPr marL="342900" indent="-342900">
              <a:buFont typeface="+mj-lt"/>
              <a:buAutoNum type="arabicPeriod"/>
            </a:pPr>
            <a:r>
              <a:rPr lang="en-US" sz="1400" dirty="0"/>
              <a:t>Click On New Gift Card</a:t>
            </a:r>
          </a:p>
          <a:p>
            <a:pPr marL="342900" indent="-342900">
              <a:buFont typeface="+mj-lt"/>
              <a:buAutoNum type="arabicPeriod"/>
            </a:pPr>
            <a:r>
              <a:rPr lang="en-US" sz="1400" dirty="0"/>
              <a:t>Enter required data</a:t>
            </a:r>
          </a:p>
          <a:p>
            <a:pPr marL="342900" indent="-342900">
              <a:buFont typeface="+mj-lt"/>
              <a:buAutoNum type="arabicPeriod"/>
            </a:pPr>
            <a:r>
              <a:rPr lang="en-US" sz="1400" dirty="0"/>
              <a:t>Click on submit</a:t>
            </a:r>
          </a:p>
          <a:p>
            <a:pPr marL="342900" indent="-342900">
              <a:buFont typeface="+mj-lt"/>
              <a:buAutoNum type="arabicPeriod"/>
            </a:pPr>
            <a:r>
              <a:rPr lang="en-US" sz="1400" dirty="0"/>
              <a:t>Click Confirm</a:t>
            </a:r>
          </a:p>
          <a:p>
            <a:pPr marL="342900" indent="-342900">
              <a:buFont typeface="+mj-lt"/>
              <a:buAutoNum type="arabicPeriod"/>
            </a:pPr>
            <a:endParaRPr lang="en-US" sz="1400" dirty="0"/>
          </a:p>
        </p:txBody>
      </p:sp>
    </p:spTree>
    <p:extLst>
      <p:ext uri="{BB962C8B-B14F-4D97-AF65-F5344CB8AC3E}">
        <p14:creationId xmlns:p14="http://schemas.microsoft.com/office/powerpoint/2010/main" val="1013822088"/>
      </p:ext>
    </p:extLst>
  </p:cSld>
  <p:clrMapOvr>
    <a:masterClrMapping/>
  </p:clrMapOvr>
  <p:transition spd="slow">
    <p:push/>
  </p:transition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/>
          <p:cNvSpPr>
            <a:spLocks noGrp="1"/>
          </p:cNvSpPr>
          <p:nvPr>
            <p:ph type="body" sz="quarter" idx="4294967295"/>
          </p:nvPr>
        </p:nvSpPr>
        <p:spPr>
          <a:xfrm>
            <a:off x="0" y="401638"/>
            <a:ext cx="9021763" cy="571500"/>
          </a:xfrm>
        </p:spPr>
        <p:txBody>
          <a:bodyPr/>
          <a:lstStyle/>
          <a:p>
            <a:r>
              <a:rPr lang="en-US" dirty="0"/>
              <a:t>Gift Card</a:t>
            </a:r>
          </a:p>
        </p:txBody>
      </p:sp>
      <p:sp>
        <p:nvSpPr>
          <p:cNvPr id="7" name="Oval 6"/>
          <p:cNvSpPr/>
          <p:nvPr/>
        </p:nvSpPr>
        <p:spPr>
          <a:xfrm>
            <a:off x="5206705" y="301840"/>
            <a:ext cx="457200" cy="457200"/>
          </a:xfrm>
          <a:prstGeom prst="ellipse">
            <a:avLst/>
          </a:prstGeom>
          <a:solidFill>
            <a:schemeClr val="accent2">
              <a:lumMod val="60000"/>
              <a:lumOff val="40000"/>
            </a:schemeClr>
          </a:solidFill>
        </p:spPr>
        <p:style>
          <a:lnRef idx="2">
            <a:schemeClr val="lt1">
              <a:hueOff val="0"/>
              <a:satOff val="0"/>
              <a:lumOff val="0"/>
              <a:alphaOff val="0"/>
            </a:schemeClr>
          </a:lnRef>
          <a:fillRef idx="1">
            <a:schemeClr val="accent3">
              <a:alpha val="50000"/>
              <a:hueOff val="2710599"/>
              <a:satOff val="100000"/>
              <a:lumOff val="-14706"/>
              <a:alphaOff val="0"/>
            </a:schemeClr>
          </a:fillRef>
          <a:effectRef idx="0">
            <a:schemeClr val="accent3">
              <a:alpha val="50000"/>
              <a:hueOff val="2710599"/>
              <a:satOff val="100000"/>
              <a:lumOff val="-14706"/>
              <a:alphaOff val="0"/>
            </a:schemeClr>
          </a:effectRef>
          <a:fontRef idx="minor">
            <a:schemeClr val="tx1"/>
          </a:fontRef>
        </p:style>
        <p:txBody>
          <a:bodyPr/>
          <a:lstStyle/>
          <a:p>
            <a:pPr algn="ctr"/>
            <a:r>
              <a:rPr lang="en-US" dirty="0">
                <a:solidFill>
                  <a:srgbClr val="FF0000"/>
                </a:solidFill>
              </a:rPr>
              <a:t>1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CA37AA10-6710-455A-9458-0ECA7655EAD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868" y="973138"/>
            <a:ext cx="6386810" cy="2863763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481E7284-B785-4B60-896B-30CA9B915130}"/>
              </a:ext>
            </a:extLst>
          </p:cNvPr>
          <p:cNvSpPr txBox="1"/>
          <p:nvPr/>
        </p:nvSpPr>
        <p:spPr>
          <a:xfrm>
            <a:off x="6556287" y="1072936"/>
            <a:ext cx="4575846" cy="224676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b="1" dirty="0"/>
              <a:t>Applicable for</a:t>
            </a:r>
            <a:r>
              <a:rPr lang="en-US" sz="1400" dirty="0"/>
              <a:t>:</a:t>
            </a:r>
          </a:p>
          <a:p>
            <a:pPr lvl="1"/>
            <a:r>
              <a:rPr lang="en-US" sz="1400" dirty="0"/>
              <a:t>General Customer: For individual customers.</a:t>
            </a:r>
          </a:p>
          <a:p>
            <a:pPr lvl="1"/>
            <a:r>
              <a:rPr lang="en-US" sz="1400" dirty="0"/>
              <a:t>Partner: For companies.</a:t>
            </a:r>
          </a:p>
          <a:p>
            <a:r>
              <a:rPr lang="en-US" sz="1400" b="1" dirty="0"/>
              <a:t>Card Type</a:t>
            </a:r>
            <a:r>
              <a:rPr lang="en-US" sz="1400" dirty="0"/>
              <a:t>:</a:t>
            </a:r>
          </a:p>
          <a:p>
            <a:pPr lvl="1"/>
            <a:r>
              <a:rPr lang="en-US" sz="1400" dirty="0"/>
              <a:t>Powered by Wing Bank: For general customers. The physical card will be labeled with </a:t>
            </a:r>
            <a:r>
              <a:rPr lang="en-US" sz="1400" i="1" dirty="0"/>
              <a:t>“Powered by Wing Bank”</a:t>
            </a:r>
            <a:r>
              <a:rPr lang="en-US" sz="1400" dirty="0"/>
              <a:t>.</a:t>
            </a:r>
          </a:p>
          <a:p>
            <a:pPr lvl="1"/>
            <a:r>
              <a:rPr lang="en-US" sz="1400" dirty="0"/>
              <a:t>Normal: Will not have the label. Used when a gas station creates a card for another bank</a:t>
            </a:r>
          </a:p>
          <a:p>
            <a:endParaRPr lang="en-US" sz="1400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0D0F7D41-BBCE-4A90-8E91-55089FCEFD8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2868" y="3836901"/>
            <a:ext cx="6386810" cy="156919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83990098"/>
      </p:ext>
    </p:extLst>
  </p:cSld>
  <p:clrMapOvr>
    <a:masterClrMapping/>
  </p:clrMapOvr>
  <p:transition spd="slow">
    <p:push/>
  </p:transition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>
            <a:extLst>
              <a:ext uri="{FF2B5EF4-FFF2-40B4-BE49-F238E27FC236}">
                <a16:creationId xmlns:a16="http://schemas.microsoft.com/office/drawing/2014/main" id="{BB97A049-2BC0-4525-B027-BB24AA13751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0921" y="1138408"/>
            <a:ext cx="2179106" cy="2697582"/>
          </a:xfrm>
          <a:prstGeom prst="rect">
            <a:avLst/>
          </a:prstGeom>
        </p:spPr>
      </p:pic>
      <p:sp>
        <p:nvSpPr>
          <p:cNvPr id="2" name="Text Placeholder 1"/>
          <p:cNvSpPr>
            <a:spLocks noGrp="1"/>
          </p:cNvSpPr>
          <p:nvPr>
            <p:ph type="body" sz="quarter" idx="4294967295"/>
          </p:nvPr>
        </p:nvSpPr>
        <p:spPr>
          <a:xfrm>
            <a:off x="0" y="401638"/>
            <a:ext cx="9021763" cy="571500"/>
          </a:xfrm>
        </p:spPr>
        <p:txBody>
          <a:bodyPr/>
          <a:lstStyle/>
          <a:p>
            <a:r>
              <a:rPr lang="en-US" dirty="0"/>
              <a:t>Fleet card Management</a:t>
            </a:r>
          </a:p>
        </p:txBody>
      </p:sp>
      <p:sp>
        <p:nvSpPr>
          <p:cNvPr id="7" name="Oval 6"/>
          <p:cNvSpPr/>
          <p:nvPr/>
        </p:nvSpPr>
        <p:spPr>
          <a:xfrm>
            <a:off x="1502923" y="1474858"/>
            <a:ext cx="457200" cy="457200"/>
          </a:xfrm>
          <a:prstGeom prst="ellipse">
            <a:avLst/>
          </a:prstGeom>
          <a:solidFill>
            <a:schemeClr val="accent2">
              <a:lumMod val="60000"/>
              <a:lumOff val="40000"/>
            </a:schemeClr>
          </a:solidFill>
        </p:spPr>
        <p:style>
          <a:lnRef idx="2">
            <a:schemeClr val="lt1">
              <a:hueOff val="0"/>
              <a:satOff val="0"/>
              <a:lumOff val="0"/>
              <a:alphaOff val="0"/>
            </a:schemeClr>
          </a:lnRef>
          <a:fillRef idx="1">
            <a:schemeClr val="accent3">
              <a:alpha val="50000"/>
              <a:hueOff val="2710599"/>
              <a:satOff val="100000"/>
              <a:lumOff val="-14706"/>
              <a:alphaOff val="0"/>
            </a:schemeClr>
          </a:fillRef>
          <a:effectRef idx="0">
            <a:schemeClr val="accent3">
              <a:alpha val="50000"/>
              <a:hueOff val="2710599"/>
              <a:satOff val="100000"/>
              <a:lumOff val="-14706"/>
              <a:alphaOff val="0"/>
            </a:schemeClr>
          </a:effectRef>
          <a:fontRef idx="minor">
            <a:schemeClr val="tx1"/>
          </a:fontRef>
        </p:style>
        <p:txBody>
          <a:bodyPr/>
          <a:lstStyle/>
          <a:p>
            <a:pPr algn="ctr"/>
            <a:r>
              <a:rPr lang="en-US" dirty="0">
                <a:solidFill>
                  <a:srgbClr val="FF0000"/>
                </a:solidFill>
              </a:rPr>
              <a:t>1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57A9BD67-0846-4273-A1A7-0D361297F6B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330027" y="995726"/>
            <a:ext cx="5890337" cy="2762857"/>
          </a:xfrm>
          <a:prstGeom prst="rect">
            <a:avLst/>
          </a:prstGeom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1E19AABE-DF0A-431C-A4F8-B99490971D62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50921" y="3858578"/>
            <a:ext cx="6173708" cy="2697582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AD04CDE0-F3A8-4E0B-B781-D571511A9440}"/>
              </a:ext>
            </a:extLst>
          </p:cNvPr>
          <p:cNvSpPr txBox="1"/>
          <p:nvPr/>
        </p:nvSpPr>
        <p:spPr>
          <a:xfrm>
            <a:off x="6305955" y="4110816"/>
            <a:ext cx="5431615" cy="147732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Fleet card management</a:t>
            </a:r>
          </a:p>
          <a:p>
            <a:pPr marL="342900" indent="-342900">
              <a:buFont typeface="+mj-lt"/>
              <a:buAutoNum type="arabicPeriod"/>
            </a:pPr>
            <a:r>
              <a:rPr lang="en-US" dirty="0"/>
              <a:t>Click on Fleet card management -&gt; Card Registration</a:t>
            </a:r>
          </a:p>
          <a:p>
            <a:pPr marL="342900" indent="-342900">
              <a:buFont typeface="+mj-lt"/>
              <a:buAutoNum type="arabicPeriod"/>
            </a:pPr>
            <a:r>
              <a:rPr lang="en-US" dirty="0"/>
              <a:t>Enter required data</a:t>
            </a:r>
          </a:p>
          <a:p>
            <a:pPr marL="342900" indent="-342900">
              <a:buFont typeface="+mj-lt"/>
              <a:buAutoNum type="arabicPeriod"/>
            </a:pPr>
            <a:r>
              <a:rPr lang="en-US" dirty="0"/>
              <a:t>Click on submit</a:t>
            </a:r>
          </a:p>
          <a:p>
            <a:endParaRPr lang="en-US" dirty="0"/>
          </a:p>
        </p:txBody>
      </p:sp>
      <p:sp>
        <p:nvSpPr>
          <p:cNvPr id="8" name="Oval 7">
            <a:extLst>
              <a:ext uri="{FF2B5EF4-FFF2-40B4-BE49-F238E27FC236}">
                <a16:creationId xmlns:a16="http://schemas.microsoft.com/office/drawing/2014/main" id="{70145E60-680D-4183-9519-330A6AB21228}"/>
              </a:ext>
            </a:extLst>
          </p:cNvPr>
          <p:cNvSpPr/>
          <p:nvPr/>
        </p:nvSpPr>
        <p:spPr>
          <a:xfrm>
            <a:off x="4751519" y="1820159"/>
            <a:ext cx="457200" cy="457200"/>
          </a:xfrm>
          <a:prstGeom prst="ellipse">
            <a:avLst/>
          </a:prstGeom>
          <a:solidFill>
            <a:schemeClr val="accent2">
              <a:lumMod val="60000"/>
              <a:lumOff val="40000"/>
            </a:schemeClr>
          </a:solidFill>
        </p:spPr>
        <p:style>
          <a:lnRef idx="2">
            <a:schemeClr val="lt1">
              <a:hueOff val="0"/>
              <a:satOff val="0"/>
              <a:lumOff val="0"/>
              <a:alphaOff val="0"/>
            </a:schemeClr>
          </a:lnRef>
          <a:fillRef idx="1">
            <a:schemeClr val="accent3">
              <a:alpha val="50000"/>
              <a:hueOff val="2710599"/>
              <a:satOff val="100000"/>
              <a:lumOff val="-14706"/>
              <a:alphaOff val="0"/>
            </a:schemeClr>
          </a:fillRef>
          <a:effectRef idx="0">
            <a:schemeClr val="accent3">
              <a:alpha val="50000"/>
              <a:hueOff val="2710599"/>
              <a:satOff val="100000"/>
              <a:lumOff val="-14706"/>
              <a:alphaOff val="0"/>
            </a:schemeClr>
          </a:effectRef>
          <a:fontRef idx="minor">
            <a:schemeClr val="tx1"/>
          </a:fontRef>
        </p:style>
        <p:txBody>
          <a:bodyPr/>
          <a:lstStyle/>
          <a:p>
            <a:pPr algn="ctr"/>
            <a:r>
              <a:rPr lang="en-US" dirty="0">
                <a:solidFill>
                  <a:srgbClr val="FF0000"/>
                </a:solidFill>
              </a:rPr>
              <a:t>2</a:t>
            </a:r>
          </a:p>
        </p:txBody>
      </p:sp>
      <p:sp>
        <p:nvSpPr>
          <p:cNvPr id="9" name="Oval 8">
            <a:extLst>
              <a:ext uri="{FF2B5EF4-FFF2-40B4-BE49-F238E27FC236}">
                <a16:creationId xmlns:a16="http://schemas.microsoft.com/office/drawing/2014/main" id="{FB62E620-D933-4B3E-A387-22603CE59B85}"/>
              </a:ext>
            </a:extLst>
          </p:cNvPr>
          <p:cNvSpPr/>
          <p:nvPr/>
        </p:nvSpPr>
        <p:spPr>
          <a:xfrm>
            <a:off x="3608814" y="6098960"/>
            <a:ext cx="457200" cy="457200"/>
          </a:xfrm>
          <a:prstGeom prst="ellipse">
            <a:avLst/>
          </a:prstGeom>
          <a:solidFill>
            <a:schemeClr val="accent2">
              <a:lumMod val="60000"/>
              <a:lumOff val="40000"/>
            </a:schemeClr>
          </a:solidFill>
        </p:spPr>
        <p:style>
          <a:lnRef idx="2">
            <a:schemeClr val="lt1">
              <a:hueOff val="0"/>
              <a:satOff val="0"/>
              <a:lumOff val="0"/>
              <a:alphaOff val="0"/>
            </a:schemeClr>
          </a:lnRef>
          <a:fillRef idx="1">
            <a:schemeClr val="accent3">
              <a:alpha val="50000"/>
              <a:hueOff val="2710599"/>
              <a:satOff val="100000"/>
              <a:lumOff val="-14706"/>
              <a:alphaOff val="0"/>
            </a:schemeClr>
          </a:fillRef>
          <a:effectRef idx="0">
            <a:schemeClr val="accent3">
              <a:alpha val="50000"/>
              <a:hueOff val="2710599"/>
              <a:satOff val="100000"/>
              <a:lumOff val="-14706"/>
              <a:alphaOff val="0"/>
            </a:schemeClr>
          </a:effectRef>
          <a:fontRef idx="minor">
            <a:schemeClr val="tx1"/>
          </a:fontRef>
        </p:style>
        <p:txBody>
          <a:bodyPr/>
          <a:lstStyle/>
          <a:p>
            <a:pPr algn="ctr"/>
            <a:r>
              <a:rPr lang="en-US" dirty="0">
                <a:solidFill>
                  <a:srgbClr val="FF0000"/>
                </a:solidFill>
              </a:rPr>
              <a:t>1</a:t>
            </a:r>
          </a:p>
        </p:txBody>
      </p:sp>
    </p:spTree>
    <p:extLst>
      <p:ext uri="{BB962C8B-B14F-4D97-AF65-F5344CB8AC3E}">
        <p14:creationId xmlns:p14="http://schemas.microsoft.com/office/powerpoint/2010/main" val="1686167356"/>
      </p:ext>
    </p:extLst>
  </p:cSld>
  <p:clrMapOvr>
    <a:masterClrMapping/>
  </p:clrMapOvr>
  <p:transition spd="slow">
    <p:push/>
  </p:transition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F388DC59-E19F-4BD0-8FC3-246A849AD34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54004" y="2006353"/>
            <a:ext cx="2553056" cy="2152950"/>
          </a:xfrm>
          <a:prstGeom prst="rect">
            <a:avLst/>
          </a:prstGeom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67CC0D01-3001-4A10-8E06-02B23C3373C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989178" y="2006353"/>
            <a:ext cx="9202822" cy="4851647"/>
          </a:xfrm>
          <a:prstGeom prst="rect">
            <a:avLst/>
          </a:prstGeom>
        </p:spPr>
      </p:pic>
      <p:sp>
        <p:nvSpPr>
          <p:cNvPr id="2" name="Text Placeholder 1"/>
          <p:cNvSpPr>
            <a:spLocks noGrp="1"/>
          </p:cNvSpPr>
          <p:nvPr>
            <p:ph type="body" sz="quarter" idx="4294967295"/>
          </p:nvPr>
        </p:nvSpPr>
        <p:spPr>
          <a:xfrm>
            <a:off x="0" y="401638"/>
            <a:ext cx="9021763" cy="571500"/>
          </a:xfrm>
        </p:spPr>
        <p:txBody>
          <a:bodyPr/>
          <a:lstStyle/>
          <a:p>
            <a:r>
              <a:rPr lang="en-US" dirty="0"/>
              <a:t>Settlement</a:t>
            </a:r>
          </a:p>
        </p:txBody>
      </p:sp>
      <p:sp>
        <p:nvSpPr>
          <p:cNvPr id="7" name="Oval 6"/>
          <p:cNvSpPr/>
          <p:nvPr/>
        </p:nvSpPr>
        <p:spPr>
          <a:xfrm>
            <a:off x="2090643" y="2006353"/>
            <a:ext cx="457200" cy="457200"/>
          </a:xfrm>
          <a:prstGeom prst="ellipse">
            <a:avLst/>
          </a:prstGeom>
          <a:solidFill>
            <a:schemeClr val="accent2">
              <a:lumMod val="60000"/>
              <a:lumOff val="40000"/>
            </a:schemeClr>
          </a:solidFill>
        </p:spPr>
        <p:style>
          <a:lnRef idx="2">
            <a:schemeClr val="lt1">
              <a:hueOff val="0"/>
              <a:satOff val="0"/>
              <a:lumOff val="0"/>
              <a:alphaOff val="0"/>
            </a:schemeClr>
          </a:lnRef>
          <a:fillRef idx="1">
            <a:schemeClr val="accent3">
              <a:alpha val="50000"/>
              <a:hueOff val="2710599"/>
              <a:satOff val="100000"/>
              <a:lumOff val="-14706"/>
              <a:alphaOff val="0"/>
            </a:schemeClr>
          </a:fillRef>
          <a:effectRef idx="0">
            <a:schemeClr val="accent3">
              <a:alpha val="50000"/>
              <a:hueOff val="2710599"/>
              <a:satOff val="100000"/>
              <a:lumOff val="-14706"/>
              <a:alphaOff val="0"/>
            </a:schemeClr>
          </a:effectRef>
          <a:fontRef idx="minor">
            <a:schemeClr val="tx1"/>
          </a:fontRef>
        </p:style>
        <p:txBody>
          <a:bodyPr/>
          <a:lstStyle/>
          <a:p>
            <a:pPr algn="ctr"/>
            <a:r>
              <a:rPr lang="en-US" dirty="0">
                <a:solidFill>
                  <a:srgbClr val="FF0000"/>
                </a:solidFill>
              </a:rPr>
              <a:t>1</a:t>
            </a:r>
          </a:p>
        </p:txBody>
      </p:sp>
      <p:sp>
        <p:nvSpPr>
          <p:cNvPr id="6" name="Oval 5">
            <a:extLst>
              <a:ext uri="{FF2B5EF4-FFF2-40B4-BE49-F238E27FC236}">
                <a16:creationId xmlns:a16="http://schemas.microsoft.com/office/drawing/2014/main" id="{86CCC6FF-0BCD-4EEA-8043-0456E74EA322}"/>
              </a:ext>
            </a:extLst>
          </p:cNvPr>
          <p:cNvSpPr/>
          <p:nvPr/>
        </p:nvSpPr>
        <p:spPr>
          <a:xfrm>
            <a:off x="4053681" y="2354062"/>
            <a:ext cx="457200" cy="457200"/>
          </a:xfrm>
          <a:prstGeom prst="ellipse">
            <a:avLst/>
          </a:prstGeom>
          <a:solidFill>
            <a:schemeClr val="accent2">
              <a:lumMod val="60000"/>
              <a:lumOff val="40000"/>
            </a:schemeClr>
          </a:solidFill>
        </p:spPr>
        <p:style>
          <a:lnRef idx="2">
            <a:schemeClr val="lt1">
              <a:hueOff val="0"/>
              <a:satOff val="0"/>
              <a:lumOff val="0"/>
              <a:alphaOff val="0"/>
            </a:schemeClr>
          </a:lnRef>
          <a:fillRef idx="1">
            <a:schemeClr val="accent3">
              <a:alpha val="50000"/>
              <a:hueOff val="2710599"/>
              <a:satOff val="100000"/>
              <a:lumOff val="-14706"/>
              <a:alphaOff val="0"/>
            </a:schemeClr>
          </a:fillRef>
          <a:effectRef idx="0">
            <a:schemeClr val="accent3">
              <a:alpha val="50000"/>
              <a:hueOff val="2710599"/>
              <a:satOff val="100000"/>
              <a:lumOff val="-14706"/>
              <a:alphaOff val="0"/>
            </a:schemeClr>
          </a:effectRef>
          <a:fontRef idx="minor">
            <a:schemeClr val="tx1"/>
          </a:fontRef>
        </p:style>
        <p:txBody>
          <a:bodyPr/>
          <a:lstStyle/>
          <a:p>
            <a:pPr algn="ctr"/>
            <a:r>
              <a:rPr lang="en-US" dirty="0">
                <a:solidFill>
                  <a:srgbClr val="FF0000"/>
                </a:solidFill>
              </a:rPr>
              <a:t>2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05746315-BB01-490B-A220-3EFDCABD30A4}"/>
              </a:ext>
            </a:extLst>
          </p:cNvPr>
          <p:cNvSpPr txBox="1"/>
          <p:nvPr/>
        </p:nvSpPr>
        <p:spPr>
          <a:xfrm>
            <a:off x="6656301" y="722347"/>
            <a:ext cx="3813386" cy="1815882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r>
              <a:rPr lang="en-US" sz="1400" dirty="0"/>
              <a:t>Settlement is used for transferring cash to their own Bank</a:t>
            </a:r>
          </a:p>
          <a:p>
            <a:endParaRPr lang="en-US" sz="1400" dirty="0"/>
          </a:p>
          <a:p>
            <a:pPr marL="342900" indent="-342900">
              <a:buFont typeface="+mj-lt"/>
              <a:buAutoNum type="arabicPeriod"/>
            </a:pPr>
            <a:r>
              <a:rPr lang="en-US" sz="1400" dirty="0"/>
              <a:t>Click on Gift Settlement Request</a:t>
            </a:r>
          </a:p>
          <a:p>
            <a:pPr marL="342900" indent="-342900">
              <a:buFont typeface="+mj-lt"/>
              <a:buAutoNum type="arabicPeriod"/>
            </a:pPr>
            <a:r>
              <a:rPr lang="en-US" sz="1400" dirty="0"/>
              <a:t>Click On New Request</a:t>
            </a:r>
          </a:p>
          <a:p>
            <a:pPr marL="342900" indent="-342900">
              <a:buFont typeface="+mj-lt"/>
              <a:buAutoNum type="arabicPeriod"/>
            </a:pPr>
            <a:r>
              <a:rPr lang="en-US" sz="1400" dirty="0"/>
              <a:t>Enter required data</a:t>
            </a:r>
          </a:p>
          <a:p>
            <a:pPr marL="342900" indent="-342900">
              <a:buFont typeface="+mj-lt"/>
              <a:buAutoNum type="arabicPeriod"/>
            </a:pPr>
            <a:r>
              <a:rPr lang="en-US" sz="1400" dirty="0"/>
              <a:t>Click on submit</a:t>
            </a:r>
          </a:p>
          <a:p>
            <a:endParaRPr lang="en-US" sz="1400" dirty="0"/>
          </a:p>
        </p:txBody>
      </p:sp>
    </p:spTree>
    <p:extLst>
      <p:ext uri="{BB962C8B-B14F-4D97-AF65-F5344CB8AC3E}">
        <p14:creationId xmlns:p14="http://schemas.microsoft.com/office/powerpoint/2010/main" val="1052040934"/>
      </p:ext>
    </p:extLst>
  </p:cSld>
  <p:clrMapOvr>
    <a:masterClrMapping/>
  </p:clrMapOvr>
  <p:transition spd="slow">
    <p:push/>
  </p:transition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152FF410-329B-4941-8D1D-D75DAF61E3E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858838"/>
            <a:ext cx="12192000" cy="6081222"/>
          </a:xfrm>
          <a:prstGeom prst="rect">
            <a:avLst/>
          </a:prstGeom>
        </p:spPr>
      </p:pic>
      <p:sp>
        <p:nvSpPr>
          <p:cNvPr id="2" name="Text Placeholder 1"/>
          <p:cNvSpPr>
            <a:spLocks noGrp="1"/>
          </p:cNvSpPr>
          <p:nvPr>
            <p:ph type="body" sz="quarter" idx="4294967295"/>
          </p:nvPr>
        </p:nvSpPr>
        <p:spPr>
          <a:xfrm>
            <a:off x="0" y="401638"/>
            <a:ext cx="9021763" cy="571500"/>
          </a:xfrm>
        </p:spPr>
        <p:txBody>
          <a:bodyPr/>
          <a:lstStyle/>
          <a:p>
            <a:r>
              <a:rPr lang="en-US" dirty="0"/>
              <a:t>Settlement</a:t>
            </a:r>
          </a:p>
          <a:p>
            <a:pPr marL="0" indent="0">
              <a:buNone/>
            </a:pPr>
            <a:endParaRPr lang="en-US" dirty="0"/>
          </a:p>
        </p:txBody>
      </p:sp>
      <p:sp>
        <p:nvSpPr>
          <p:cNvPr id="7" name="Oval 6"/>
          <p:cNvSpPr/>
          <p:nvPr/>
        </p:nvSpPr>
        <p:spPr>
          <a:xfrm>
            <a:off x="6715908" y="6227762"/>
            <a:ext cx="457200" cy="457200"/>
          </a:xfrm>
          <a:prstGeom prst="ellipse">
            <a:avLst/>
          </a:prstGeom>
          <a:solidFill>
            <a:schemeClr val="accent2">
              <a:lumMod val="60000"/>
              <a:lumOff val="40000"/>
            </a:schemeClr>
          </a:solidFill>
        </p:spPr>
        <p:style>
          <a:lnRef idx="2">
            <a:schemeClr val="lt1">
              <a:hueOff val="0"/>
              <a:satOff val="0"/>
              <a:lumOff val="0"/>
              <a:alphaOff val="0"/>
            </a:schemeClr>
          </a:lnRef>
          <a:fillRef idx="1">
            <a:schemeClr val="accent3">
              <a:alpha val="50000"/>
              <a:hueOff val="2710599"/>
              <a:satOff val="100000"/>
              <a:lumOff val="-14706"/>
              <a:alphaOff val="0"/>
            </a:schemeClr>
          </a:fillRef>
          <a:effectRef idx="0">
            <a:schemeClr val="accent3">
              <a:alpha val="50000"/>
              <a:hueOff val="2710599"/>
              <a:satOff val="100000"/>
              <a:lumOff val="-14706"/>
              <a:alphaOff val="0"/>
            </a:schemeClr>
          </a:effectRef>
          <a:fontRef idx="minor">
            <a:schemeClr val="tx1"/>
          </a:fontRef>
        </p:style>
        <p:txBody>
          <a:bodyPr/>
          <a:lstStyle/>
          <a:p>
            <a:pPr algn="ctr"/>
            <a:r>
              <a:rPr lang="en-US" dirty="0">
                <a:solidFill>
                  <a:srgbClr val="FF0000"/>
                </a:solidFill>
              </a:rPr>
              <a:t>4</a:t>
            </a:r>
          </a:p>
        </p:txBody>
      </p:sp>
      <p:sp>
        <p:nvSpPr>
          <p:cNvPr id="5" name="Oval 4">
            <a:extLst>
              <a:ext uri="{FF2B5EF4-FFF2-40B4-BE49-F238E27FC236}">
                <a16:creationId xmlns:a16="http://schemas.microsoft.com/office/drawing/2014/main" id="{C75909C6-67E6-43C2-BE08-8ECCE82A0AE7}"/>
              </a:ext>
            </a:extLst>
          </p:cNvPr>
          <p:cNvSpPr/>
          <p:nvPr/>
        </p:nvSpPr>
        <p:spPr>
          <a:xfrm>
            <a:off x="5936152" y="1967960"/>
            <a:ext cx="457200" cy="457200"/>
          </a:xfrm>
          <a:prstGeom prst="ellipse">
            <a:avLst/>
          </a:prstGeom>
          <a:solidFill>
            <a:schemeClr val="accent2">
              <a:lumMod val="60000"/>
              <a:lumOff val="40000"/>
            </a:schemeClr>
          </a:solidFill>
        </p:spPr>
        <p:style>
          <a:lnRef idx="2">
            <a:schemeClr val="lt1">
              <a:hueOff val="0"/>
              <a:satOff val="0"/>
              <a:lumOff val="0"/>
              <a:alphaOff val="0"/>
            </a:schemeClr>
          </a:lnRef>
          <a:fillRef idx="1">
            <a:schemeClr val="accent3">
              <a:alpha val="50000"/>
              <a:hueOff val="2710599"/>
              <a:satOff val="100000"/>
              <a:lumOff val="-14706"/>
              <a:alphaOff val="0"/>
            </a:schemeClr>
          </a:fillRef>
          <a:effectRef idx="0">
            <a:schemeClr val="accent3">
              <a:alpha val="50000"/>
              <a:hueOff val="2710599"/>
              <a:satOff val="100000"/>
              <a:lumOff val="-14706"/>
              <a:alphaOff val="0"/>
            </a:schemeClr>
          </a:effectRef>
          <a:fontRef idx="minor">
            <a:schemeClr val="tx1"/>
          </a:fontRef>
        </p:style>
        <p:txBody>
          <a:bodyPr/>
          <a:lstStyle/>
          <a:p>
            <a:pPr algn="ctr"/>
            <a:r>
              <a:rPr lang="en-US" dirty="0">
                <a:solidFill>
                  <a:srgbClr val="FF0000"/>
                </a:solidFill>
              </a:rPr>
              <a:t>3</a:t>
            </a:r>
          </a:p>
        </p:txBody>
      </p:sp>
    </p:spTree>
    <p:extLst>
      <p:ext uri="{BB962C8B-B14F-4D97-AF65-F5344CB8AC3E}">
        <p14:creationId xmlns:p14="http://schemas.microsoft.com/office/powerpoint/2010/main" val="1777956377"/>
      </p:ext>
    </p:extLst>
  </p:cSld>
  <p:clrMapOvr>
    <a:masterClrMapping/>
  </p:clrMapOvr>
  <p:transition spd="slow">
    <p:push/>
  </p:transition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D1EAAE29-DB81-4457-9725-F17A0FF1802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271843"/>
            <a:ext cx="3172268" cy="1009791"/>
          </a:xfrm>
          <a:prstGeom prst="rect">
            <a:avLst/>
          </a:prstGeom>
        </p:spPr>
      </p:pic>
      <p:sp>
        <p:nvSpPr>
          <p:cNvPr id="2" name="Text Placeholder 1"/>
          <p:cNvSpPr>
            <a:spLocks noGrp="1"/>
          </p:cNvSpPr>
          <p:nvPr>
            <p:ph type="body" sz="quarter" idx="4294967295"/>
          </p:nvPr>
        </p:nvSpPr>
        <p:spPr>
          <a:xfrm>
            <a:off x="0" y="401638"/>
            <a:ext cx="9021763" cy="571500"/>
          </a:xfrm>
        </p:spPr>
        <p:txBody>
          <a:bodyPr/>
          <a:lstStyle/>
          <a:p>
            <a:r>
              <a:rPr lang="en-US" dirty="0"/>
              <a:t>Report</a:t>
            </a:r>
          </a:p>
        </p:txBody>
      </p:sp>
      <p:sp>
        <p:nvSpPr>
          <p:cNvPr id="7" name="Oval 6"/>
          <p:cNvSpPr/>
          <p:nvPr/>
        </p:nvSpPr>
        <p:spPr>
          <a:xfrm>
            <a:off x="2234905" y="1388269"/>
            <a:ext cx="457200" cy="457200"/>
          </a:xfrm>
          <a:prstGeom prst="ellipse">
            <a:avLst/>
          </a:prstGeom>
          <a:solidFill>
            <a:schemeClr val="accent2">
              <a:lumMod val="60000"/>
              <a:lumOff val="40000"/>
            </a:schemeClr>
          </a:solidFill>
        </p:spPr>
        <p:style>
          <a:lnRef idx="2">
            <a:schemeClr val="lt1">
              <a:hueOff val="0"/>
              <a:satOff val="0"/>
              <a:lumOff val="0"/>
              <a:alphaOff val="0"/>
            </a:schemeClr>
          </a:lnRef>
          <a:fillRef idx="1">
            <a:schemeClr val="accent3">
              <a:alpha val="50000"/>
              <a:hueOff val="2710599"/>
              <a:satOff val="100000"/>
              <a:lumOff val="-14706"/>
              <a:alphaOff val="0"/>
            </a:schemeClr>
          </a:fillRef>
          <a:effectRef idx="0">
            <a:schemeClr val="accent3">
              <a:alpha val="50000"/>
              <a:hueOff val="2710599"/>
              <a:satOff val="100000"/>
              <a:lumOff val="-14706"/>
              <a:alphaOff val="0"/>
            </a:schemeClr>
          </a:effectRef>
          <a:fontRef idx="minor">
            <a:schemeClr val="tx1"/>
          </a:fontRef>
        </p:style>
        <p:txBody>
          <a:bodyPr/>
          <a:lstStyle/>
          <a:p>
            <a:pPr algn="ctr"/>
            <a:r>
              <a:rPr lang="en-US" dirty="0">
                <a:solidFill>
                  <a:srgbClr val="FF0000"/>
                </a:solidFill>
              </a:rPr>
              <a:t>1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B7127FE3-1B76-4344-829F-D21E8BC2D12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2717800"/>
            <a:ext cx="11463142" cy="4053144"/>
          </a:xfrm>
          <a:prstGeom prst="rect">
            <a:avLst/>
          </a:prstGeom>
        </p:spPr>
      </p:pic>
      <p:sp>
        <p:nvSpPr>
          <p:cNvPr id="9" name="Oval 8">
            <a:extLst>
              <a:ext uri="{FF2B5EF4-FFF2-40B4-BE49-F238E27FC236}">
                <a16:creationId xmlns:a16="http://schemas.microsoft.com/office/drawing/2014/main" id="{89F6D596-4803-4FF2-824C-062ECAF57D83}"/>
              </a:ext>
            </a:extLst>
          </p:cNvPr>
          <p:cNvSpPr/>
          <p:nvPr/>
        </p:nvSpPr>
        <p:spPr>
          <a:xfrm>
            <a:off x="4622505" y="4287172"/>
            <a:ext cx="457200" cy="457200"/>
          </a:xfrm>
          <a:prstGeom prst="ellipse">
            <a:avLst/>
          </a:prstGeom>
          <a:solidFill>
            <a:schemeClr val="accent2">
              <a:lumMod val="60000"/>
              <a:lumOff val="40000"/>
            </a:schemeClr>
          </a:solidFill>
        </p:spPr>
        <p:style>
          <a:lnRef idx="2">
            <a:schemeClr val="lt1">
              <a:hueOff val="0"/>
              <a:satOff val="0"/>
              <a:lumOff val="0"/>
              <a:alphaOff val="0"/>
            </a:schemeClr>
          </a:lnRef>
          <a:fillRef idx="1">
            <a:schemeClr val="accent3">
              <a:alpha val="50000"/>
              <a:hueOff val="2710599"/>
              <a:satOff val="100000"/>
              <a:lumOff val="-14706"/>
              <a:alphaOff val="0"/>
            </a:schemeClr>
          </a:fillRef>
          <a:effectRef idx="0">
            <a:schemeClr val="accent3">
              <a:alpha val="50000"/>
              <a:hueOff val="2710599"/>
              <a:satOff val="100000"/>
              <a:lumOff val="-14706"/>
              <a:alphaOff val="0"/>
            </a:schemeClr>
          </a:effectRef>
          <a:fontRef idx="minor">
            <a:schemeClr val="tx1"/>
          </a:fontRef>
        </p:style>
        <p:txBody>
          <a:bodyPr/>
          <a:lstStyle/>
          <a:p>
            <a:pPr algn="ctr"/>
            <a:r>
              <a:rPr lang="en-US" dirty="0">
                <a:solidFill>
                  <a:srgbClr val="FF0000"/>
                </a:solidFill>
              </a:rPr>
              <a:t>2</a:t>
            </a:r>
          </a:p>
        </p:txBody>
      </p:sp>
      <p:sp>
        <p:nvSpPr>
          <p:cNvPr id="10" name="Oval 9">
            <a:extLst>
              <a:ext uri="{FF2B5EF4-FFF2-40B4-BE49-F238E27FC236}">
                <a16:creationId xmlns:a16="http://schemas.microsoft.com/office/drawing/2014/main" id="{BB42A5DB-F4DD-4328-B75C-492D3879615C}"/>
              </a:ext>
            </a:extLst>
          </p:cNvPr>
          <p:cNvSpPr/>
          <p:nvPr/>
        </p:nvSpPr>
        <p:spPr>
          <a:xfrm>
            <a:off x="6476705" y="4886540"/>
            <a:ext cx="457200" cy="457200"/>
          </a:xfrm>
          <a:prstGeom prst="ellipse">
            <a:avLst/>
          </a:prstGeom>
          <a:solidFill>
            <a:schemeClr val="accent2">
              <a:lumMod val="60000"/>
              <a:lumOff val="40000"/>
            </a:schemeClr>
          </a:solidFill>
        </p:spPr>
        <p:style>
          <a:lnRef idx="2">
            <a:schemeClr val="lt1">
              <a:hueOff val="0"/>
              <a:satOff val="0"/>
              <a:lumOff val="0"/>
              <a:alphaOff val="0"/>
            </a:schemeClr>
          </a:lnRef>
          <a:fillRef idx="1">
            <a:schemeClr val="accent3">
              <a:alpha val="50000"/>
              <a:hueOff val="2710599"/>
              <a:satOff val="100000"/>
              <a:lumOff val="-14706"/>
              <a:alphaOff val="0"/>
            </a:schemeClr>
          </a:fillRef>
          <a:effectRef idx="0">
            <a:schemeClr val="accent3">
              <a:alpha val="50000"/>
              <a:hueOff val="2710599"/>
              <a:satOff val="100000"/>
              <a:lumOff val="-14706"/>
              <a:alphaOff val="0"/>
            </a:schemeClr>
          </a:effectRef>
          <a:fontRef idx="minor">
            <a:schemeClr val="tx1"/>
          </a:fontRef>
        </p:style>
        <p:txBody>
          <a:bodyPr/>
          <a:lstStyle/>
          <a:p>
            <a:pPr algn="ctr"/>
            <a:r>
              <a:rPr lang="en-US" dirty="0">
                <a:solidFill>
                  <a:srgbClr val="FF0000"/>
                </a:solidFill>
              </a:rPr>
              <a:t>3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6F732EA8-7E8D-4217-B130-644DF9065E7D}"/>
              </a:ext>
            </a:extLst>
          </p:cNvPr>
          <p:cNvSpPr txBox="1"/>
          <p:nvPr/>
        </p:nvSpPr>
        <p:spPr>
          <a:xfrm>
            <a:off x="5219700" y="1388269"/>
            <a:ext cx="4743414" cy="175432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Report</a:t>
            </a:r>
          </a:p>
          <a:p>
            <a:pPr marL="342900" indent="-342900">
              <a:buFont typeface="+mj-lt"/>
              <a:buAutoNum type="arabicPeriod"/>
            </a:pPr>
            <a:r>
              <a:rPr lang="en-US" dirty="0"/>
              <a:t>Click on Reports -&gt; Reconciliation Report</a:t>
            </a:r>
          </a:p>
          <a:p>
            <a:pPr marL="342900" indent="-342900">
              <a:buFont typeface="+mj-lt"/>
              <a:buAutoNum type="arabicPeriod"/>
            </a:pPr>
            <a:r>
              <a:rPr lang="en-US" dirty="0"/>
              <a:t>Select Date Range&amp; Report Type</a:t>
            </a:r>
          </a:p>
          <a:p>
            <a:pPr marL="342900" indent="-342900">
              <a:buFont typeface="+mj-lt"/>
              <a:buAutoNum type="arabicPeriod"/>
            </a:pPr>
            <a:r>
              <a:rPr lang="en-US" dirty="0"/>
              <a:t>Click Generate</a:t>
            </a:r>
          </a:p>
          <a:p>
            <a:pPr marL="342900" indent="-342900">
              <a:buFont typeface="+mj-lt"/>
              <a:buAutoNum type="arabicPeriod"/>
            </a:pPr>
            <a:r>
              <a:rPr lang="en-US" dirty="0"/>
              <a:t> You can view or Download by clicking export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25369221"/>
      </p:ext>
    </p:extLst>
  </p:cSld>
  <p:clrMapOvr>
    <a:masterClrMapping/>
  </p:clrMapOvr>
  <p:transition spd="slow">
    <p:push/>
  </p:transition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D5EB7586-A6D8-47DD-AF24-5F1EBDA53EA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302062"/>
            <a:ext cx="12192000" cy="4863475"/>
          </a:xfrm>
          <a:prstGeom prst="rect">
            <a:avLst/>
          </a:prstGeom>
        </p:spPr>
      </p:pic>
      <p:sp>
        <p:nvSpPr>
          <p:cNvPr id="2" name="Text Placeholder 1"/>
          <p:cNvSpPr>
            <a:spLocks noGrp="1"/>
          </p:cNvSpPr>
          <p:nvPr>
            <p:ph type="body" sz="quarter" idx="4294967295"/>
          </p:nvPr>
        </p:nvSpPr>
        <p:spPr>
          <a:xfrm>
            <a:off x="0" y="401638"/>
            <a:ext cx="9021763" cy="571500"/>
          </a:xfrm>
        </p:spPr>
        <p:txBody>
          <a:bodyPr/>
          <a:lstStyle/>
          <a:p>
            <a:r>
              <a:rPr lang="en-US" dirty="0"/>
              <a:t>Report</a:t>
            </a:r>
          </a:p>
        </p:txBody>
      </p:sp>
      <p:sp>
        <p:nvSpPr>
          <p:cNvPr id="7" name="Oval 6"/>
          <p:cNvSpPr/>
          <p:nvPr/>
        </p:nvSpPr>
        <p:spPr>
          <a:xfrm>
            <a:off x="11124905" y="2181440"/>
            <a:ext cx="457200" cy="457200"/>
          </a:xfrm>
          <a:prstGeom prst="ellipse">
            <a:avLst/>
          </a:prstGeom>
          <a:solidFill>
            <a:schemeClr val="accent2">
              <a:lumMod val="60000"/>
              <a:lumOff val="40000"/>
            </a:schemeClr>
          </a:solidFill>
        </p:spPr>
        <p:style>
          <a:lnRef idx="2">
            <a:schemeClr val="lt1">
              <a:hueOff val="0"/>
              <a:satOff val="0"/>
              <a:lumOff val="0"/>
              <a:alphaOff val="0"/>
            </a:schemeClr>
          </a:lnRef>
          <a:fillRef idx="1">
            <a:schemeClr val="accent3">
              <a:alpha val="50000"/>
              <a:hueOff val="2710599"/>
              <a:satOff val="100000"/>
              <a:lumOff val="-14706"/>
              <a:alphaOff val="0"/>
            </a:schemeClr>
          </a:fillRef>
          <a:effectRef idx="0">
            <a:schemeClr val="accent3">
              <a:alpha val="50000"/>
              <a:hueOff val="2710599"/>
              <a:satOff val="100000"/>
              <a:lumOff val="-14706"/>
              <a:alphaOff val="0"/>
            </a:schemeClr>
          </a:effectRef>
          <a:fontRef idx="minor">
            <a:schemeClr val="tx1"/>
          </a:fontRef>
        </p:style>
        <p:txBody>
          <a:bodyPr/>
          <a:lstStyle/>
          <a:p>
            <a:pPr algn="ctr"/>
            <a:r>
              <a:rPr lang="en-US" dirty="0">
                <a:solidFill>
                  <a:srgbClr val="FF0000"/>
                </a:solidFill>
              </a:rPr>
              <a:t>4</a:t>
            </a:r>
          </a:p>
        </p:txBody>
      </p:sp>
    </p:spTree>
    <p:extLst>
      <p:ext uri="{BB962C8B-B14F-4D97-AF65-F5344CB8AC3E}">
        <p14:creationId xmlns:p14="http://schemas.microsoft.com/office/powerpoint/2010/main" val="1746726706"/>
      </p:ext>
    </p:extLst>
  </p:cSld>
  <p:clrMapOvr>
    <a:masterClrMapping/>
  </p:clrMapOvr>
  <p:transition spd="slow">
    <p:push/>
  </p:transition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BEC38918-CF01-52C2-956C-FDDA26DEC429}"/>
              </a:ext>
            </a:extLst>
          </p:cNvPr>
          <p:cNvSpPr txBox="1"/>
          <p:nvPr/>
        </p:nvSpPr>
        <p:spPr>
          <a:xfrm>
            <a:off x="3733800" y="3505200"/>
            <a:ext cx="4724401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 defTabSz="228600"/>
            <a:r>
              <a:rPr lang="km-KH" sz="4800" b="1">
                <a:solidFill>
                  <a:prstClr val="white"/>
                </a:solidFill>
                <a:latin typeface="Noto Sans Khmer" panose="020B0606030804020204" pitchFamily="34" charset="0"/>
                <a:ea typeface="Noto Sans Khmer" panose="020B0606030804020204" pitchFamily="34" charset="0"/>
                <a:cs typeface="Noto Sans Khmer" panose="020B0606030804020204" pitchFamily="34" charset="0"/>
              </a:rPr>
              <a:t>សូមអរគុណ!</a:t>
            </a:r>
            <a:endParaRPr lang="ru-RU" sz="4800" b="1">
              <a:solidFill>
                <a:prstClr val="white"/>
              </a:solidFill>
              <a:latin typeface="Noto Sans Khmer" panose="020B0606030804020204" pitchFamily="34" charset="0"/>
              <a:ea typeface="Noto Sans Khmer" panose="020B0606030804020204" pitchFamily="34" charset="0"/>
              <a:cs typeface="Noto Sans Khmer" panose="020B0606030804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205280313"/>
      </p:ext>
    </p:extLst>
  </p:cSld>
  <p:clrMapOvr>
    <a:masterClrMapping/>
  </p:clrMapOvr>
  <p:transition spd="slow">
    <p:push/>
  </p:transition>
</p:sld>
</file>

<file path=ppt/theme/theme1.xml><?xml version="1.0" encoding="utf-8"?>
<a:theme xmlns:a="http://schemas.openxmlformats.org/drawingml/2006/main" name="Office Theme">
  <a:themeElements>
    <a:clrScheme name="Office Them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Them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2013 - 2022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_rels/item4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4.xml"/></Relationships>
</file>

<file path=customXml/item1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/>
</p:properties>
</file>

<file path=customXml/item2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83E21CB46E638B458CDC53C3B63F94B2" ma:contentTypeVersion="10" ma:contentTypeDescription="Create a new document." ma:contentTypeScope="" ma:versionID="d136e6598a558fbfbdec2461f703de92">
  <xsd:schema xmlns:xsd="http://www.w3.org/2001/XMLSchema" xmlns:xs="http://www.w3.org/2001/XMLSchema" xmlns:p="http://schemas.microsoft.com/office/2006/metadata/properties" xmlns:ns3="fced0924-e4b7-43de-a074-ab4ccf64b977" xmlns:ns4="e8f97d50-a92b-4105-956e-ecbee724905c" targetNamespace="http://schemas.microsoft.com/office/2006/metadata/properties" ma:root="true" ma:fieldsID="00b34bba8e45254744727969fbf39272" ns3:_="" ns4:_="">
    <xsd:import namespace="fced0924-e4b7-43de-a074-ab4ccf64b977"/>
    <xsd:import namespace="e8f97d50-a92b-4105-956e-ecbee724905c"/>
    <xsd:element name="properties">
      <xsd:complexType>
        <xsd:sequence>
          <xsd:element name="documentManagement">
            <xsd:complexType>
              <xsd:all>
                <xsd:element ref="ns3:SharedWithUsers" minOccurs="0"/>
                <xsd:element ref="ns3:SharedWithDetails" minOccurs="0"/>
                <xsd:element ref="ns3:SharingHintHash" minOccurs="0"/>
                <xsd:element ref="ns4:MediaServiceMetadata" minOccurs="0"/>
                <xsd:element ref="ns4:MediaServiceFastMetadata" minOccurs="0"/>
                <xsd:element ref="ns4:MediaServiceDateTaken" minOccurs="0"/>
                <xsd:element ref="ns4:MediaServiceAutoTags" minOccurs="0"/>
                <xsd:element ref="ns4:MediaLengthInSeconds" minOccurs="0"/>
                <xsd:element ref="ns4:MediaServiceAutoKeyPoints" minOccurs="0"/>
                <xsd:element ref="ns4:MediaServiceKeyPoint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fced0924-e4b7-43de-a074-ab4ccf64b977" elementFormDefault="qualified">
    <xsd:import namespace="http://schemas.microsoft.com/office/2006/documentManagement/types"/>
    <xsd:import namespace="http://schemas.microsoft.com/office/infopath/2007/PartnerControls"/>
    <xsd:element name="SharedWithUsers" ma:index="8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9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  <xsd:element name="SharingHintHash" ma:index="10" nillable="true" ma:displayName="Sharing Hint Hash" ma:hidden="true" ma:internalName="SharingHintHash" ma:readOnly="true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e8f97d50-a92b-4105-956e-ecbee724905c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11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12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DateTaken" ma:index="13" nillable="true" ma:displayName="MediaServiceDateTaken" ma:hidden="true" ma:internalName="MediaServiceDateTaken" ma:readOnly="true">
      <xsd:simpleType>
        <xsd:restriction base="dms:Text"/>
      </xsd:simpleType>
    </xsd:element>
    <xsd:element name="MediaServiceAutoTags" ma:index="14" nillable="true" ma:displayName="Tags" ma:internalName="MediaServiceAutoTags" ma:readOnly="true">
      <xsd:simpleType>
        <xsd:restriction base="dms:Text"/>
      </xsd:simpleType>
    </xsd:element>
    <xsd:element name="MediaLengthInSeconds" ma:index="15" nillable="true" ma:displayName="MediaLengthInSeconds" ma:hidden="true" ma:internalName="MediaLengthInSeconds" ma:readOnly="true">
      <xsd:simpleType>
        <xsd:restriction base="dms:Unknown"/>
      </xsd:simpleType>
    </xsd:element>
    <xsd:element name="MediaServiceAutoKeyPoints" ma:index="16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7" nillable="true" ma:displayName="KeyPoints" ma:internalName="MediaServiceKeyPoints" ma:readOnly="true">
      <xsd:simpleType>
        <xsd:restriction base="dms:Note">
          <xsd:maxLength value="255"/>
        </xsd:restriction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3.xml><?xml version="1.0" encoding="utf-8"?>
<GTBClassification>
  <attrValue xml:space="preserve">Public</attrValue>
  <customPropName>Wing Bank Classification</customPropName>
  <timestamp>10/4/2023 11:08:30 AM</timestamp>
  <userName>WINGMONEY\sotheavy.nhoung</userName>
  <computerName>B0022-SOTHEAVY.WINGMONEY.COM</computerName>
  <guid>{563a060a-d588-49dc-8fbd-2f8a6d419902}</guid>
</GTBClassification>
</file>

<file path=customXml/item4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Props1.xml><?xml version="1.0" encoding="utf-8"?>
<ds:datastoreItem xmlns:ds="http://schemas.openxmlformats.org/officeDocument/2006/customXml" ds:itemID="{66C259E6-C56E-4EF6-8871-A61202039610}">
  <ds:schemaRefs>
    <ds:schemaRef ds:uri="e8f97d50-a92b-4105-956e-ecbee724905c"/>
    <ds:schemaRef ds:uri="fced0924-e4b7-43de-a074-ab4ccf64b977"/>
    <ds:schemaRef ds:uri="http://purl.org/dc/dcmitype/"/>
    <ds:schemaRef ds:uri="http://purl.org/dc/elements/1.1/"/>
    <ds:schemaRef ds:uri="http://purl.org/dc/terms/"/>
    <ds:schemaRef ds:uri="http://schemas.microsoft.com/office/2006/documentManagement/types"/>
    <ds:schemaRef ds:uri="http://schemas.microsoft.com/office/2006/metadata/properties"/>
    <ds:schemaRef ds:uri="http://schemas.microsoft.com/office/infopath/2007/PartnerControls"/>
    <ds:schemaRef ds:uri="http://schemas.openxmlformats.org/package/2006/metadata/core-properties"/>
    <ds:schemaRef ds:uri="http://www.w3.org/XML/1998/namespace"/>
  </ds:schemaRefs>
</ds:datastoreItem>
</file>

<file path=customXml/itemProps2.xml><?xml version="1.0" encoding="utf-8"?>
<ds:datastoreItem xmlns:ds="http://schemas.openxmlformats.org/officeDocument/2006/customXml" ds:itemID="{817C20B8-30DF-4A29-897A-5EB5BA902EF6}">
  <ds:schemaRefs>
    <ds:schemaRef ds:uri="e8f97d50-a92b-4105-956e-ecbee724905c"/>
    <ds:schemaRef ds:uri="fced0924-e4b7-43de-a074-ab4ccf64b977"/>
    <ds:schemaRef ds:uri="http://purl.org/dc/elements/1.1/"/>
    <ds:schemaRef ds:uri="http://purl.org/dc/terms/"/>
    <ds:schemaRef ds:uri="http://schemas.microsoft.com/internal/obd"/>
    <ds:schemaRef ds:uri="http://schemas.microsoft.com/office/2006/documentManagement/types"/>
    <ds:schemaRef ds:uri="http://schemas.microsoft.com/office/2006/metadata/contentType"/>
    <ds:schemaRef ds:uri="http://schemas.microsoft.com/office/2006/metadata/properties"/>
    <ds:schemaRef ds:uri="http://schemas.microsoft.com/office/2006/metadata/properties/metaAttributes"/>
    <ds:schemaRef ds:uri="http://schemas.microsoft.com/office/infopath/2007/PartnerControls"/>
    <ds:schemaRef ds:uri="http://schemas.openxmlformats.org/package/2006/metadata/core-properties"/>
    <ds:schemaRef ds:uri="http://www.w3.org/2001/XMLSchema"/>
  </ds:schemaRefs>
</ds:datastoreItem>
</file>

<file path=customXml/itemProps3.xml><?xml version="1.0" encoding="utf-8"?>
<ds:datastoreItem xmlns:ds="http://schemas.openxmlformats.org/officeDocument/2006/customXml" ds:itemID="{98E31F85-EFE4-4446-BD34-FB5E014D6DD4}">
  <ds:schemaRefs/>
</ds:datastoreItem>
</file>

<file path=customXml/itemProps4.xml><?xml version="1.0" encoding="utf-8"?>
<ds:datastoreItem xmlns:ds="http://schemas.openxmlformats.org/officeDocument/2006/customXml" ds:itemID="{DE4C23C2-5E43-4A8C-A87D-10AA7A01234E}">
  <ds:schemaRefs>
    <ds:schemaRef ds:uri="http://schemas.microsoft.com/sharepoint/v3/contenttype/forms"/>
  </ds:schemaRefs>
</ds:datastoreItem>
</file>

<file path=docMetadata/LabelInfo.xml><?xml version="1.0" encoding="utf-8"?>
<clbl:labelList xmlns:clbl="http://schemas.microsoft.com/office/2020/mipLabelMetadata">
  <clbl:label id="{1d566f3b-d975-4c00-ba0d-2d0bbb10b20c}" enabled="0" method="" siteId="{1d566f3b-d975-4c00-ba0d-2d0bbb10b20c}" removed="1"/>
</clbl:labelList>
</file>

<file path=docProps/app.xml><?xml version="1.0" encoding="utf-8"?>
<Properties xmlns="http://schemas.openxmlformats.org/officeDocument/2006/extended-properties" xmlns:vt="http://schemas.openxmlformats.org/officeDocument/2006/docPropsVTypes">
  <Template>Appendix 2 - UI TTR</Template>
  <TotalTime>1171</TotalTime>
  <Words>1135</Words>
  <Application>Microsoft Office PowerPoint</Application>
  <PresentationFormat>Widescreen</PresentationFormat>
  <Paragraphs>290</Paragraphs>
  <Slides>40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40</vt:i4>
      </vt:variant>
    </vt:vector>
  </HeadingPairs>
  <TitlesOfParts>
    <vt:vector size="46" baseType="lpstr">
      <vt:lpstr>Arial</vt:lpstr>
      <vt:lpstr>Calibri</vt:lpstr>
      <vt:lpstr>Calibri Light</vt:lpstr>
      <vt:lpstr>CoreSansCR-65Bold</vt:lpstr>
      <vt:lpstr>Noto Sans Khmer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Longnich Poh</dc:creator>
  <cp:keywords>ClassificationData:&lt;Wing Bank Classification:Public&gt;</cp:keywords>
  <cp:lastModifiedBy>Long Pheap</cp:lastModifiedBy>
  <cp:revision>55</cp:revision>
  <dcterms:created xsi:type="dcterms:W3CDTF">2022-06-29T02:03:28Z</dcterms:created>
  <dcterms:modified xsi:type="dcterms:W3CDTF">2025-08-29T04:30:10Z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0x01010083E21CB46E638B458CDC53C3B63F94B2</vt:lpwstr>
  </property>
  <property fmtid="{D5CDD505-2E9C-101B-9397-08002B2CF9AE}" pid="3" name="Wing Bank Classification">
    <vt:lpwstr>Public</vt:lpwstr>
  </property>
  <property fmtid="{D5CDD505-2E9C-101B-9397-08002B2CF9AE}" pid="4" name="ClassifiedBy">
    <vt:lpwstr>WINGMONEY\sotheavy.nhoung</vt:lpwstr>
  </property>
  <property fmtid="{D5CDD505-2E9C-101B-9397-08002B2CF9AE}" pid="5" name="ClassificationHost">
    <vt:lpwstr>B0022-SOTHEAVY.WINGMONEY.COM</vt:lpwstr>
  </property>
  <property fmtid="{D5CDD505-2E9C-101B-9397-08002B2CF9AE}" pid="6" name="ClassificationDate">
    <vt:lpwstr>10/4/2023 11:08:30 AM</vt:lpwstr>
  </property>
  <property fmtid="{D5CDD505-2E9C-101B-9397-08002B2CF9AE}" pid="7" name="ClassificationGUID">
    <vt:lpwstr>{563a060a-d588-49dc-8fbd-2f8a6d419902}</vt:lpwstr>
  </property>
</Properties>
</file>